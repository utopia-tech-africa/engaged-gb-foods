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048" r:id="rId12"/>
    <p:sldId id="266" r:id="rId13"/>
    <p:sldId id="267" r:id="rId14"/>
    <p:sldId id="268" r:id="rId15"/>
    <p:sldId id="1043" r:id="rId16"/>
    <p:sldId id="1044" r:id="rId17"/>
    <p:sldId id="1045" r:id="rId18"/>
    <p:sldId id="2049" r:id="rId19"/>
    <p:sldId id="2050" r:id="rId20"/>
    <p:sldId id="2051" r:id="rId21"/>
    <p:sldId id="2052" r:id="rId22"/>
    <p:sldId id="269" r:id="rId23"/>
    <p:sldId id="270" r:id="rId24"/>
    <p:sldId id="271" r:id="rId25"/>
    <p:sldId id="272" r:id="rId26"/>
    <p:sldId id="295" r:id="rId27"/>
    <p:sldId id="296" r:id="rId28"/>
    <p:sldId id="297"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1046" r:id="rId52"/>
    <p:sldId id="1047" r:id="rId53"/>
    <p:sldId id="2053" r:id="rId54"/>
    <p:sldId id="2054" r:id="rId55"/>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14"/>
    <p:restoredTop sz="94675"/>
  </p:normalViewPr>
  <p:slideViewPr>
    <p:cSldViewPr snapToGrid="0">
      <p:cViewPr varScale="1">
        <p:scale>
          <a:sx n="86" d="100"/>
          <a:sy n="86" d="100"/>
        </p:scale>
        <p:origin x="18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a:p>
            <a:r>
              <a:t>Product photograph: https://www.gino.com.gh/ asset https://gbprodginoghcdnstorage.azureedge.net/files/2024/05/Gino_tomato_mix_packshot.png . Packaging shown for brand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a:p>
            <a:r>
              <a:t>Photo: https://rafimex.com/</a:t>
            </a:r>
          </a:p>
          <a:p>
            <a:r>
              <a:t>Reference logistics photograph. Does not depict BTL Africa personnel or this GBfoods assignment.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operating approach for GBfoods Market Segregation and Sorting. Added at the user’s request on 29 September 2026. Agree training standards, depot readiness and acceptance criteria with GBfoods before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Staffing structure: user instruction, 29 September 2026. Distributor allocations and role holders remain subject to the approved depot register. Brand colours: GBfoods Basic Elements manual, https://www.thegbfoodservice.fi/media/mediafiles/Manual_GBfoods_BASIC_ELEMENTS.pdf (RGB 254,80,0 and 94,94,94).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Staffing structure: user instruction, 29 September 2026. Distributor allocations and role holders remain subject to the approved depot register. Brand colours: GBfoods Basic Elements manual, https://www.thegbfoodservice.fi/media/mediafiles/Manual_GBfoods_BASIC_ELEMENTS.pdf (RGB 254,80,0 and 94,94,94).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Staffing structure: user instruction, 29 September 2026. Distributor allocations and role holders remain subject to the approved depot register. Brand colours: GBfoods Basic Elements manual, https://www.thegbfoodservice.fi/media/mediafiles/Manual_GBfoods_BASIC_ELEMENTS.pdf (RGB 254,80,0 and 94,94,94).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Staffing structure: user instruction, 29 September 2026. Distributor allocations and role holders remain subject to the approved depot register. Brand colours: GBfoods Basic Elements manual, https://www.thegbfoodservice.fi/media/mediafiles/Manual_GBfoods_BASIC_ELEMENTS.pdf (RGB 254,80,0 and 94,94,94).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Staffing structure: user instruction, 29 September 2026. Distributor allocations and role holders remain subject to the approved depot register. Brand colours: GBfoods Basic Elements manual, https://www.thegbfoodservice.fi/media/mediafiles/Manual_GBfoods_BASIC_ELEMENTS.pdf (RGB 254,80,0 and 94,94,94).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Staffing structure: user instruction, 29 September 2026. Distributor allocations and role holders remain subject to the approved depot register. Brand colours: GBfoods Basic Elements manual, https://www.thegbfoodservice.fi/media/mediafiles/Manual_GBfoods_BASIC_ELEMENTS.pdf (RGB 254,80,0 and 94,94,94).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operating approach for GBfoods Market Segregation and Sorting. Added at the user’s request on 29 September 2026. Agree training standards, depot readiness and acceptance criteria with GBfoods before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operating approach for GBfoods Market Segregation and Sorting. Added at the user’s request on 29 September 2026. Agree training standards, depot readiness and acceptance criteria with GBfoods before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operating approach for GBfoods Market Segregation and Sorting. Added at the user’s request on 29 September 2026. Agree training standards, depot readiness and acceptance criteria with GBfoods before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operating approach for GBfoods Market Segregation and Sorting. Added at the user’s request on 29 September 2026. Agree training standards, depot readiness and acceptance criteria with GBfoods before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a:p>
            <a:r>
              <a:t>Illustrative route: city depot on Day 1, next ready depot on the outbound corridor on Day 2, further confirmed depot on Day 3. Actual sites require the depot register. Aim for no more than two hours local travel per normal day. Longer routes need a local base or approved travel allocation.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UI/UX concept with sample data. After staff ID and PIN authentication, show assigned role, team and depot. Request camera and location permission at check-in with a short explanation. Photo captured on the device, then preview and retake before submission. GPS accuracy and agreed depot radius govern location exceptions. No facial recognition assumed. GPS failure or outside-radius check-ins require an exception reason and supervisor review. Photo submission and successful check-in lead to the visit home. Offline check-in retains time and evidence, visibly pending sync. Check-out uses the same evidence 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UI/UX concept. Product, batch, count unit, quantity and condition form a single record under the active visit. Use approved case-to-unit conversion factors. Capture expiry and pack size as required by SKU. Evidence includes pack, readable batch/expiry, defect and wider stock position when required. Never pre-classify stock as saleable without authorised GBfoods disposition. The example shows offline mode with a required defect photo missing. Save draft remains available, submit is disabled until required evidence is complete and uploads have synced. An upload queue offers retry and per-image progress without losing entries. The supervisor can accept the field record or return it with a comment. Corrections retain who changed what and when.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client dashboard. Figures do not represent actual operations. Default read-only client permissions allow filters, evidence viewing and export. Authorised GBfoods quality reviewers receive the decision control inside the record detail. It offers retain hold, request information or record approved disposition, with mandatory reason and confirmation. Field review acceptance is distinct from GBfoods release authority. Every decision records user, role and timestamp. Offline records enter the dashboard only after sync. Show per-depot last sync and exclude unsynced counts from reported totals. Status labels accompany colour. Client roles cannot silently edit submitted quantities.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a:p>
            <a:r>
              <a:t>Photo: https://www.newsilkroadnetwork.com/news/ghanas-interest-in-the-new-silk-road-freight-consult-shares-its-growing-interactions-with-china</a:t>
            </a:r>
          </a:p>
          <a:p>
            <a:r>
              <a:t>Reference logistics photograph. Does not depict BTL Africa personnel or this GBfoods assignment.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a:p>
            <a:r>
              <a:t>Full itinerary: 07:00–07:30 briefing; 07:30–08:00 travel; 08:00–08:30 induction/count; three two-hour sorting blocks; 15:30–16:15 final reconciliation; 16:15–16:45 return; 16:45–17:00 upload. Daily progress forecast at 14:00. Unfinished stock must have a signed secured handover.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a:p>
            <a:r>
              <a:t>Do not open, puncture, press or taste suspect packs. Repacking is limited to approved intact units and secondary packaging. No disposal, donation, sale or off-site transfer without written GBfoods instruction.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a:p>
            <a:r>
              <a:t>Dashboard fields: depots planned/completed, units inspected, quantities held/recoverable/released, team-days consumed, unresolved variances, incident status, forecast completion and approved costs. Capture works offline and retains signed source records. The client dashboard updates whenever records synchronise.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a:p>
            <a:r>
              <a:t>Photo: https://rafimex.com/</a:t>
            </a:r>
          </a:p>
          <a:p>
            <a:r>
              <a:t>Reference logistics photograph. Does not depict BTL Africa personnel or this GBfoods assignment.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a:p>
            <a:r>
              <a:t>Closing categories must be mutually exclusive: unexamined, conforming pending release, recoverable pending approval, held/rejected and released stock physically on site. Repacking does not alter unit quantity. Any damage or loss during handling requires a recorded incident and explicit reconciliation.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operating approach for GBfoods Market Segregation and Sorting. Added at the user’s request on 29 September 2026. Agree training standards, depot readiness and acceptance criteria with GBfoods before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Staffing structure: user instruction, 29 September 2026. Distributor allocations and role holders remain subject to the approved depot register. Brand colours: GBfoods Basic Elements manual, https://www.thegbfoodservice.fi/media/mediafiles/Manual_GBfoods_BASIC_ELEMENTS.pdf (RGB 254,80,0 and 94,94,94).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Staffing structure: user instruction, 29 September 2026. Distributor allocations and role holders remain subject to the approved depot register. Brand colours: GBfoods Basic Elements manual, https://www.thegbfoodservice.fi/media/mediafiles/Manual_GBfoods_BASIC_ELEMENTS.pdf (RGB 254,80,0 and 94,94,94).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Staffing structure: user instruction, 29 September 2026. Distributor allocations and role holders remain subject to the approved depot register. Brand colours: GBfoods Basic Elements manual, https://www.thegbfoodservice.fi/media/mediafiles/Manual_GBfoods_BASIC_ELEMENTS.pdf (RGB 254,80,0 and 94,94,94).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Content: GBfoods invitation supplied by client and GBfoods Market Segregation Proposal dated 28 September 2026. Staffing, timing and rates are proposed assumptions, subject to approval.</a:t>
            </a:r>
          </a:p>
          <a:p>
            <a:r>
              <a:t>Additional standard team-day: GHS 1,600 crew + 900 transport + 600 subsistence = 3,100 direct, or 3,410 including 10% fee, before tax, lodging, materials and additional supervision. Field supervision sits within each eight-person crew. No separate area-supervisor cost remains. Central travel and platform costs excluded pending scope and route approval. Two pilot team-days included in 60. Drivers excluded from eight-person crew. Final rates, terms and taxes require confirmation.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Staffing structure: user instruction, 29 September 2026. Distributor allocations and role holders remain subject to the approved depot register. Brand colours: GBfoods Basic Elements manual, https://www.thegbfoodservice.fi/media/mediafiles/Manual_GBfoods_BASIC_ELEMENTS.pdf (RGB 254,80,0 and 94,94,94).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operating approach for GBfoods Market Segregation and Sorting. Added at the user’s request on 29 September 2026. Agree training standards, depot readiness and acceptance criteria with GBfoods before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proposition. Delivery scope and timing remain subject to the approved depot register, recce readiness, trained personnel, pilot acceptance and commercial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5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972D0DB-2380-4345-9EF8-76FAB6990E7C}"/>
              </a:ext>
            </a:extLst>
          </p:cNvPr>
          <p:cNvSpPr>
            <a:spLocks noGrp="1"/>
          </p:cNvSpPr>
          <p:nvPr/>
        </p:nvSpPr>
        <p:spPr>
          <a:xfrm>
            <a:off x="609600" y="476250"/>
            <a:ext cx="5715000" cy="476250"/>
          </a:xfrm>
          <a:prstGeom prst="rect">
            <a:avLst/>
          </a:prstGeom>
          <a:noFill/>
          <a:ln w="0">
            <a:noFill/>
          </a:ln>
        </p:spPr>
        <p:txBody>
          <a:bodyPr>
            <a:noAutofit/>
          </a:bodyPr>
          <a:lstStyle/>
          <a:p>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GBfoods</a:t>
            </a:r>
          </a:p>
        </p:txBody>
      </p:sp>
      <p:sp>
        <p:nvSpPr>
          <p:cNvPr id="2" name="Rectangle 1">
            <a:extLst>
              <a:ext uri="{FF2B5EF4-FFF2-40B4-BE49-F238E27FC236}">
                <a16:creationId xmlns:a16="http://schemas.microsoft.com/office/drawing/2014/main" id="{440E5219-A6BD-4877-97AD-C8E92C93DC39}"/>
              </a:ext>
            </a:extLst>
          </p:cNvPr>
          <p:cNvSpPr>
            <a:spLocks noGrp="1"/>
          </p:cNvSpPr>
          <p:nvPr/>
        </p:nvSpPr>
        <p:spPr>
          <a:xfrm>
            <a:off x="609600" y="1619250"/>
            <a:ext cx="10953750" cy="1762125"/>
          </a:xfrm>
          <a:prstGeom prst="rect">
            <a:avLst/>
          </a:prstGeom>
          <a:noFill/>
          <a:ln w="0">
            <a:noFill/>
          </a:ln>
        </p:spPr>
        <p:txBody>
          <a:bodyPr>
            <a:noAutofit/>
          </a:bodyPr>
          <a:lstStyle/>
          <a:p>
            <a:pPr>
              <a:defRPr sz="5400" b="1">
                <a:solidFill>
                  <a:srgbClr val="FFFFFF"/>
                </a:solidFill>
                <a:latin typeface="DejaVu Sans"/>
                <a:ea typeface="DejaVu Sans"/>
                <a:cs typeface="DejaVu Sans"/>
              </a:defRPr>
            </a:pPr>
            <a:r>
              <a:rPr sz="5400" b="1" dirty="0">
                <a:solidFill>
                  <a:srgbClr val="FFFFFF"/>
                </a:solidFill>
                <a:latin typeface="DejaVu Sans"/>
                <a:ea typeface="DejaVu Sans"/>
                <a:cs typeface="DejaVu Sans"/>
              </a:rPr>
              <a:t>Market segregation</a:t>
            </a:r>
          </a:p>
          <a:p>
            <a:pPr>
              <a:defRPr sz="5400" b="1">
                <a:solidFill>
                  <a:srgbClr val="FFFFFF"/>
                </a:solidFill>
                <a:latin typeface="DejaVu Sans"/>
                <a:ea typeface="DejaVu Sans"/>
                <a:cs typeface="DejaVu Sans"/>
              </a:defRPr>
            </a:pPr>
            <a:r>
              <a:rPr sz="5400" b="1" dirty="0">
                <a:solidFill>
                  <a:srgbClr val="FFFFFF"/>
                </a:solidFill>
                <a:latin typeface="DejaVu Sans"/>
                <a:ea typeface="DejaVu Sans"/>
                <a:cs typeface="DejaVu Sans"/>
              </a:rPr>
              <a:t>and sorting</a:t>
            </a:r>
          </a:p>
        </p:txBody>
      </p:sp>
      <p:sp>
        <p:nvSpPr>
          <p:cNvPr id="3" name="Rectangle 2">
            <a:extLst>
              <a:ext uri="{FF2B5EF4-FFF2-40B4-BE49-F238E27FC236}">
                <a16:creationId xmlns:a16="http://schemas.microsoft.com/office/drawing/2014/main" id="{A98C4DEB-06EF-4564-9736-DDBF8F29D8B1}"/>
              </a:ext>
            </a:extLst>
          </p:cNvPr>
          <p:cNvSpPr>
            <a:spLocks noGrp="1"/>
          </p:cNvSpPr>
          <p:nvPr/>
        </p:nvSpPr>
        <p:spPr>
          <a:xfrm>
            <a:off x="609600" y="3524250"/>
            <a:ext cx="9906000" cy="552450"/>
          </a:xfrm>
          <a:prstGeom prst="rect">
            <a:avLst/>
          </a:prstGeom>
          <a:noFill/>
          <a:ln w="0">
            <a:noFill/>
          </a:ln>
        </p:spPr>
        <p:txBody>
          <a:bodyPr>
            <a:noAutofit/>
          </a:bodyPr>
          <a:lstStyle/>
          <a:p>
            <a:pPr>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A nationwide proposal for GBfoods</a:t>
            </a:r>
          </a:p>
        </p:txBody>
      </p:sp>
      <p:sp>
        <p:nvSpPr>
          <p:cNvPr id="4" name="Rectangle 3">
            <a:extLst>
              <a:ext uri="{FF2B5EF4-FFF2-40B4-BE49-F238E27FC236}">
                <a16:creationId xmlns:a16="http://schemas.microsoft.com/office/drawing/2014/main" id="{2DAAFAA6-C684-4812-96D7-661340134396}"/>
              </a:ext>
            </a:extLst>
          </p:cNvPr>
          <p:cNvSpPr>
            <a:spLocks noGrp="1"/>
          </p:cNvSpPr>
          <p:nvPr/>
        </p:nvSpPr>
        <p:spPr>
          <a:xfrm>
            <a:off x="609600" y="5953125"/>
            <a:ext cx="10287000" cy="333375"/>
          </a:xfrm>
          <a:prstGeom prst="rect">
            <a:avLst/>
          </a:prstGeom>
          <a:noFill/>
          <a:ln w="0">
            <a:noFill/>
          </a:ln>
        </p:spPr>
        <p:txBody>
          <a:bodyPr>
            <a:noAutofit/>
          </a:bodyPr>
          <a:lstStyle/>
          <a:p>
            <a:pPr>
              <a:defRPr sz="1500" b="0">
                <a:solidFill>
                  <a:srgbClr val="FFFFFF"/>
                </a:solidFill>
                <a:latin typeface="DejaVu Sans"/>
                <a:ea typeface="DejaVu Sans"/>
                <a:cs typeface="DejaVu Sans"/>
              </a:defRPr>
            </a:pPr>
            <a:r>
              <a:rPr sz="1500" b="0">
                <a:solidFill>
                  <a:srgbClr val="FFFFFF"/>
                </a:solidFill>
                <a:latin typeface="DejaVu Sans"/>
                <a:ea typeface="DejaVu Sans"/>
                <a:cs typeface="DejaVu Sans"/>
              </a:rPr>
              <a:t>BTL AFRICA     September 2026</a:t>
            </a:r>
          </a:p>
        </p:txBody>
      </p:sp>
    </p:spTree>
    <p:extLst>
      <p:ext uri="{BB962C8B-B14F-4D97-AF65-F5344CB8AC3E}">
        <p14:creationId xmlns:p14="http://schemas.microsoft.com/office/powerpoint/2010/main" val="397983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5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3939BF-B3CD-4997-AD52-EE694A2AB4A7}"/>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02</a:t>
            </a:r>
          </a:p>
        </p:txBody>
      </p:sp>
      <p:sp>
        <p:nvSpPr>
          <p:cNvPr id="2" name="Rectangle 1">
            <a:extLst>
              <a:ext uri="{FF2B5EF4-FFF2-40B4-BE49-F238E27FC236}">
                <a16:creationId xmlns:a16="http://schemas.microsoft.com/office/drawing/2014/main" id="{B2E1466C-EBD9-4886-8277-B97A9F67C3A2}"/>
              </a:ext>
            </a:extLst>
          </p:cNvPr>
          <p:cNvSpPr>
            <a:spLocks noGrp="1"/>
          </p:cNvSpPr>
          <p:nvPr/>
        </p:nvSpPr>
        <p:spPr>
          <a:xfrm>
            <a:off x="609600" y="790575"/>
            <a:ext cx="4762500" cy="895350"/>
          </a:xfrm>
          <a:prstGeom prst="rect">
            <a:avLst/>
          </a:prstGeom>
          <a:noFill/>
          <a:ln w="0">
            <a:noFill/>
          </a:ln>
        </p:spPr>
        <p:txBody>
          <a:bodyPr lIns="0" tIns="0" rIns="0" bIns="0">
            <a:noAutofit/>
          </a:bodyPr>
          <a:lstStyle/>
          <a:p>
            <a:pPr>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01</a:t>
            </a:r>
          </a:p>
        </p:txBody>
      </p:sp>
      <p:sp>
        <p:nvSpPr>
          <p:cNvPr id="3" name="Rectangle 2">
            <a:extLst>
              <a:ext uri="{FF2B5EF4-FFF2-40B4-BE49-F238E27FC236}">
                <a16:creationId xmlns:a16="http://schemas.microsoft.com/office/drawing/2014/main" id="{F7279550-AA4D-4B2A-AEF2-D1AB3E7F9F9F}"/>
              </a:ext>
            </a:extLst>
          </p:cNvPr>
          <p:cNvSpPr>
            <a:spLocks noGrp="1"/>
          </p:cNvSpPr>
          <p:nvPr/>
        </p:nvSpPr>
        <p:spPr>
          <a:xfrm>
            <a:off x="609600" y="2390775"/>
            <a:ext cx="10763250" cy="1200150"/>
          </a:xfrm>
          <a:prstGeom prst="rect">
            <a:avLst/>
          </a:prstGeom>
          <a:noFill/>
          <a:ln w="0">
            <a:noFill/>
          </a:ln>
        </p:spPr>
        <p:txBody>
          <a:bodyPr lIns="0" tIns="0" rIns="0" bIns="0">
            <a:noAutofit/>
          </a:bodyPr>
          <a:lstStyle/>
          <a:p>
            <a:pPr>
              <a:defRPr sz="4950" b="1">
                <a:solidFill>
                  <a:srgbClr val="FFFFFF"/>
                </a:solidFill>
                <a:latin typeface="DejaVu Sans"/>
                <a:ea typeface="DejaVu Sans"/>
                <a:cs typeface="DejaVu Sans"/>
              </a:defRPr>
            </a:pPr>
            <a:r>
              <a:rPr sz="4950" b="1">
                <a:solidFill>
                  <a:srgbClr val="FFFFFF"/>
                </a:solidFill>
                <a:latin typeface="DejaVu Sans"/>
                <a:ea typeface="DejaVu Sans"/>
                <a:cs typeface="DejaVu Sans"/>
              </a:rPr>
              <a:t>The opportunity</a:t>
            </a:r>
          </a:p>
        </p:txBody>
      </p:sp>
      <p:sp>
        <p:nvSpPr>
          <p:cNvPr id="4" name="Rectangle 3">
            <a:extLst>
              <a:ext uri="{FF2B5EF4-FFF2-40B4-BE49-F238E27FC236}">
                <a16:creationId xmlns:a16="http://schemas.microsoft.com/office/drawing/2014/main" id="{F9D78654-76F1-448A-A1D8-D0EC5DC35E61}"/>
              </a:ext>
            </a:extLst>
          </p:cNvPr>
          <p:cNvSpPr>
            <a:spLocks noGrp="1"/>
          </p:cNvSpPr>
          <p:nvPr/>
        </p:nvSpPr>
        <p:spPr>
          <a:xfrm>
            <a:off x="609600" y="4267200"/>
            <a:ext cx="9620250" cy="1295400"/>
          </a:xfrm>
          <a:prstGeom prst="rect">
            <a:avLst/>
          </a:prstGeom>
          <a:noFill/>
          <a:ln w="0">
            <a:noFill/>
          </a:ln>
        </p:spPr>
        <p:txBody>
          <a:bodyPr lIns="0" tIns="0" rIns="0" bIns="0">
            <a:noAutofit/>
          </a:bodyPr>
          <a:lstStyle/>
          <a:p>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Our understanding of the assignment and the stock-control outcome we will deliver.</a:t>
            </a:r>
          </a:p>
        </p:txBody>
      </p:sp>
    </p:spTree>
    <p:extLst>
      <p:ext uri="{BB962C8B-B14F-4D97-AF65-F5344CB8AC3E}">
        <p14:creationId xmlns:p14="http://schemas.microsoft.com/office/powerpoint/2010/main" val="1416424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496EFF-D56A-4CDE-B9BB-1F25DFA140DD}"/>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The assignment</a:t>
            </a:r>
          </a:p>
        </p:txBody>
      </p:sp>
      <p:sp>
        <p:nvSpPr>
          <p:cNvPr id="2" name="Rectangle 1">
            <a:extLst>
              <a:ext uri="{FF2B5EF4-FFF2-40B4-BE49-F238E27FC236}">
                <a16:creationId xmlns:a16="http://schemas.microsoft.com/office/drawing/2014/main" id="{8DD704AD-29C8-4473-915D-9B20E27E3E22}"/>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INTRODUCTION</a:t>
            </a:r>
          </a:p>
        </p:txBody>
      </p:sp>
      <p:sp>
        <p:nvSpPr>
          <p:cNvPr id="3" name="Rectangle 2">
            <a:extLst>
              <a:ext uri="{FF2B5EF4-FFF2-40B4-BE49-F238E27FC236}">
                <a16:creationId xmlns:a16="http://schemas.microsoft.com/office/drawing/2014/main" id="{4D9098FE-5E38-4D2A-A7C1-41E124F37999}"/>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03</a:t>
            </a:r>
          </a:p>
        </p:txBody>
      </p:sp>
      <p:pic>
        <p:nvPicPr>
          <p:cNvPr id="12" name="Picture 11"/>
          <p:cNvPicPr>
            <a:picLocks noChangeAspect="1"/>
          </p:cNvPicPr>
          <p:nvPr/>
        </p:nvPicPr>
        <p:blipFill>
          <a:blip r:embed="rId3"/>
          <a:stretch/>
        </p:blipFill>
        <p:spPr>
          <a:xfrm>
            <a:off x="8823502" y="1676400"/>
            <a:ext cx="2593622" cy="4238625"/>
          </a:xfrm>
          <a:prstGeom prst="rect">
            <a:avLst/>
          </a:prstGeom>
        </p:spPr>
      </p:pic>
      <p:sp>
        <p:nvSpPr>
          <p:cNvPr id="5" name="Rectangle 4">
            <a:extLst>
              <a:ext uri="{FF2B5EF4-FFF2-40B4-BE49-F238E27FC236}">
                <a16:creationId xmlns:a16="http://schemas.microsoft.com/office/drawing/2014/main" id="{B5677B85-D3A0-4B88-9B24-358F3AE0FA44}"/>
              </a:ext>
            </a:extLst>
          </p:cNvPr>
          <p:cNvSpPr>
            <a:spLocks noGrp="1"/>
          </p:cNvSpPr>
          <p:nvPr/>
        </p:nvSpPr>
        <p:spPr>
          <a:xfrm>
            <a:off x="609600" y="1857375"/>
            <a:ext cx="3333750" cy="1219200"/>
          </a:xfrm>
          <a:prstGeom prst="rect">
            <a:avLst/>
          </a:prstGeom>
          <a:noFill/>
          <a:ln w="0">
            <a:noFill/>
          </a:ln>
        </p:spPr>
        <p:txBody>
          <a:bodyPr lIns="0" tIns="0" rIns="0" bIns="0">
            <a:noAutofit/>
          </a:bodyPr>
          <a:lstStyle/>
          <a:p>
            <a:pPr>
              <a:defRPr sz="8250" b="1">
                <a:solidFill>
                  <a:srgbClr val="FE5000"/>
                </a:solidFill>
                <a:latin typeface="DejaVu Sans"/>
                <a:ea typeface="DejaVu Sans"/>
                <a:cs typeface="DejaVu Sans"/>
              </a:defRPr>
            </a:pPr>
            <a:r>
              <a:rPr sz="8250" b="1">
                <a:solidFill>
                  <a:srgbClr val="FE5000"/>
                </a:solidFill>
                <a:latin typeface="DejaVu Sans"/>
                <a:ea typeface="DejaVu Sans"/>
                <a:cs typeface="DejaVu Sans"/>
              </a:rPr>
              <a:t>50+</a:t>
            </a:r>
          </a:p>
        </p:txBody>
      </p:sp>
      <p:sp>
        <p:nvSpPr>
          <p:cNvPr id="6" name="Rectangle 5">
            <a:extLst>
              <a:ext uri="{FF2B5EF4-FFF2-40B4-BE49-F238E27FC236}">
                <a16:creationId xmlns:a16="http://schemas.microsoft.com/office/drawing/2014/main" id="{7B9A797B-0D3F-4ED9-8B25-FEA5AC86FA59}"/>
              </a:ext>
            </a:extLst>
          </p:cNvPr>
          <p:cNvSpPr>
            <a:spLocks noGrp="1"/>
          </p:cNvSpPr>
          <p:nvPr/>
        </p:nvSpPr>
        <p:spPr>
          <a:xfrm>
            <a:off x="609600" y="3209925"/>
            <a:ext cx="7143750" cy="571500"/>
          </a:xfrm>
          <a:prstGeom prst="rect">
            <a:avLst/>
          </a:prstGeom>
          <a:noFill/>
          <a:ln w="0">
            <a:noFill/>
          </a:ln>
        </p:spPr>
        <p:txBody>
          <a:bodyPr lIns="0" tIns="0" rIns="0" bIns="0">
            <a:noAutofit/>
          </a:bodyPr>
          <a:lstStyle/>
          <a:p>
            <a:pPr>
              <a:defRPr sz="2550" b="1">
                <a:solidFill>
                  <a:srgbClr val="303030"/>
                </a:solidFill>
                <a:latin typeface="DejaVu Sans"/>
                <a:ea typeface="DejaVu Sans"/>
                <a:cs typeface="DejaVu Sans"/>
              </a:defRPr>
            </a:pPr>
            <a:r>
              <a:rPr sz="2550" b="1">
                <a:solidFill>
                  <a:srgbClr val="303030"/>
                </a:solidFill>
                <a:latin typeface="DejaVu Sans"/>
                <a:ea typeface="DejaVu Sans"/>
                <a:cs typeface="DejaVu Sans"/>
              </a:rPr>
              <a:t>distributor locations across Ghana</a:t>
            </a:r>
          </a:p>
        </p:txBody>
      </p:sp>
      <p:sp>
        <p:nvSpPr>
          <p:cNvPr id="7" name="Rectangle 6">
            <a:extLst>
              <a:ext uri="{FF2B5EF4-FFF2-40B4-BE49-F238E27FC236}">
                <a16:creationId xmlns:a16="http://schemas.microsoft.com/office/drawing/2014/main" id="{D7E908D6-0E5A-4A2D-AB2D-4219E578128A}"/>
              </a:ext>
            </a:extLst>
          </p:cNvPr>
          <p:cNvSpPr>
            <a:spLocks noGrp="1"/>
          </p:cNvSpPr>
          <p:nvPr/>
        </p:nvSpPr>
        <p:spPr>
          <a:xfrm>
            <a:off x="609600" y="4143375"/>
            <a:ext cx="7524750" cy="914400"/>
          </a:xfrm>
          <a:prstGeom prst="rect">
            <a:avLst/>
          </a:prstGeom>
          <a:noFill/>
          <a:ln w="0">
            <a:noFill/>
          </a:ln>
        </p:spPr>
        <p:txBody>
          <a:bodyPr lIns="0" tIns="0" rIns="0" bIns="0">
            <a:noAutofit/>
          </a:bodyPr>
          <a:lstStyle/>
          <a:p>
            <a:pPr>
              <a:defRPr sz="2100" b="0">
                <a:solidFill>
                  <a:srgbClr val="303030"/>
                </a:solidFill>
                <a:latin typeface="DejaVu Sans"/>
                <a:ea typeface="DejaVu Sans"/>
                <a:cs typeface="DejaVu Sans"/>
              </a:defRPr>
            </a:pPr>
            <a:r>
              <a:rPr sz="2100" b="0">
                <a:solidFill>
                  <a:srgbClr val="303030"/>
                </a:solidFill>
                <a:latin typeface="DejaVu Sans"/>
                <a:ea typeface="DejaVu Sans"/>
                <a:cs typeface="DejaVu Sans"/>
              </a:rPr>
              <a:t>All designated GBfoods SKUs</a:t>
            </a:r>
          </a:p>
          <a:p>
            <a:pPr>
              <a:defRPr sz="2100" b="0">
                <a:solidFill>
                  <a:srgbClr val="303030"/>
                </a:solidFill>
                <a:latin typeface="DejaVu Sans"/>
                <a:ea typeface="DejaVu Sans"/>
                <a:cs typeface="DejaVu Sans"/>
              </a:defRPr>
            </a:pPr>
            <a:r>
              <a:rPr sz="2100" b="0">
                <a:solidFill>
                  <a:srgbClr val="303030"/>
                </a:solidFill>
                <a:latin typeface="DejaVu Sans"/>
                <a:ea typeface="DejaVu Sans"/>
                <a:cs typeface="DejaVu Sans"/>
              </a:rPr>
              <a:t>Priority focus on Gino and Pomo Tomato Mix</a:t>
            </a:r>
          </a:p>
        </p:txBody>
      </p:sp>
      <p:sp>
        <p:nvSpPr>
          <p:cNvPr id="8" name="Rectangle 7">
            <a:extLst>
              <a:ext uri="{FF2B5EF4-FFF2-40B4-BE49-F238E27FC236}">
                <a16:creationId xmlns:a16="http://schemas.microsoft.com/office/drawing/2014/main" id="{8C1E6291-ECCA-4744-AAD6-E288351E1E84}"/>
              </a:ext>
            </a:extLst>
          </p:cNvPr>
          <p:cNvSpPr>
            <a:spLocks noGrp="1"/>
          </p:cNvSpPr>
          <p:nvPr/>
        </p:nvSpPr>
        <p:spPr>
          <a:xfrm>
            <a:off x="609600" y="5372100"/>
            <a:ext cx="7429500" cy="628650"/>
          </a:xfrm>
          <a:prstGeom prst="rect">
            <a:avLst/>
          </a:prstGeom>
          <a:noFill/>
          <a:ln w="0">
            <a:noFill/>
          </a:ln>
        </p:spPr>
        <p:txBody>
          <a:bodyPr lIns="0" tIns="0" rIns="0" bIns="0">
            <a:noAutofit/>
          </a:bodyPr>
          <a:lstStyle/>
          <a:p>
            <a:pPr>
              <a:defRPr sz="1800" b="0">
                <a:solidFill>
                  <a:srgbClr val="5E5E5E"/>
                </a:solidFill>
                <a:latin typeface="DejaVu Sans"/>
                <a:ea typeface="DejaVu Sans"/>
                <a:cs typeface="DejaVu Sans"/>
              </a:defRPr>
            </a:pPr>
            <a:r>
              <a:rPr sz="1800" b="0">
                <a:solidFill>
                  <a:srgbClr val="5E5E5E"/>
                </a:solidFill>
                <a:latin typeface="DejaVu Sans"/>
                <a:ea typeface="DejaVu Sans"/>
                <a:cs typeface="DejaVu Sans"/>
              </a:rPr>
              <a:t>Trained crews to separate affected stock, support recovery and reconcile every depot.</a:t>
            </a:r>
          </a:p>
        </p:txBody>
      </p:sp>
    </p:spTree>
    <p:extLst>
      <p:ext uri="{BB962C8B-B14F-4D97-AF65-F5344CB8AC3E}">
        <p14:creationId xmlns:p14="http://schemas.microsoft.com/office/powerpoint/2010/main" val="18441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5000"/>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3BD973-15FA-4A76-9AAF-8D3483717694}"/>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Our vision for this initiative</a:t>
            </a:r>
          </a:p>
        </p:txBody>
      </p:sp>
      <p:sp>
        <p:nvSpPr>
          <p:cNvPr id="2" name="Rectangle 1">
            <a:extLst>
              <a:ext uri="{FF2B5EF4-FFF2-40B4-BE49-F238E27FC236}">
                <a16:creationId xmlns:a16="http://schemas.microsoft.com/office/drawing/2014/main" id="{E89BA552-D143-476A-9F96-1468D9CB47B7}"/>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VISION</a:t>
            </a:r>
          </a:p>
        </p:txBody>
      </p:sp>
      <p:sp>
        <p:nvSpPr>
          <p:cNvPr id="3" name="Rectangle 2">
            <a:extLst>
              <a:ext uri="{FF2B5EF4-FFF2-40B4-BE49-F238E27FC236}">
                <a16:creationId xmlns:a16="http://schemas.microsoft.com/office/drawing/2014/main" id="{6FE2165D-2E8C-44A9-8B1A-2EFC291D3E47}"/>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04</a:t>
            </a:r>
          </a:p>
        </p:txBody>
      </p:sp>
      <p:sp>
        <p:nvSpPr>
          <p:cNvPr id="4" name="Rectangle 3">
            <a:extLst>
              <a:ext uri="{FF2B5EF4-FFF2-40B4-BE49-F238E27FC236}">
                <a16:creationId xmlns:a16="http://schemas.microsoft.com/office/drawing/2014/main" id="{E50CAAFB-9660-42F1-8AC4-AC3B60B75FA9}"/>
              </a:ext>
            </a:extLst>
          </p:cNvPr>
          <p:cNvSpPr>
            <a:spLocks noGrp="1"/>
          </p:cNvSpPr>
          <p:nvPr/>
        </p:nvSpPr>
        <p:spPr>
          <a:xfrm>
            <a:off x="609600" y="1981200"/>
            <a:ext cx="10858500" cy="2381250"/>
          </a:xfrm>
          <a:prstGeom prst="rect">
            <a:avLst/>
          </a:prstGeom>
          <a:noFill/>
          <a:ln w="0">
            <a:noFill/>
          </a:ln>
        </p:spPr>
        <p:txBody>
          <a:bodyPr lIns="0" tIns="0" rIns="0" bIns="0">
            <a:noAutofit/>
          </a:bodyPr>
          <a:lstStyle/>
          <a:p>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A distributor network</a:t>
            </a:r>
          </a:p>
          <a:p>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where stock status</a:t>
            </a:r>
          </a:p>
          <a:p>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is clear at every depot</a:t>
            </a:r>
          </a:p>
        </p:txBody>
      </p:sp>
      <p:sp>
        <p:nvSpPr>
          <p:cNvPr id="5" name="Rectangle 4">
            <a:extLst>
              <a:ext uri="{FF2B5EF4-FFF2-40B4-BE49-F238E27FC236}">
                <a16:creationId xmlns:a16="http://schemas.microsoft.com/office/drawing/2014/main" id="{D4442046-3DF8-45AF-B741-C050154EDAED}"/>
              </a:ext>
            </a:extLst>
          </p:cNvPr>
          <p:cNvSpPr>
            <a:spLocks noGrp="1"/>
          </p:cNvSpPr>
          <p:nvPr/>
        </p:nvSpPr>
        <p:spPr>
          <a:xfrm>
            <a:off x="609600" y="5010150"/>
            <a:ext cx="10382250" cy="952500"/>
          </a:xfrm>
          <a:prstGeom prst="rect">
            <a:avLst/>
          </a:prstGeom>
          <a:noFill/>
          <a:ln w="0">
            <a:noFill/>
          </a:ln>
        </p:spPr>
        <p:txBody>
          <a:bodyPr lIns="0" tIns="0" rIns="0" bIns="0">
            <a:noAutofit/>
          </a:bodyPr>
          <a:lstStyle/>
          <a:p>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Saleable stock protected. Suspect stock controlled.</a:t>
            </a:r>
          </a:p>
          <a:p>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Consumer confidence preserved.</a:t>
            </a:r>
          </a:p>
        </p:txBody>
      </p:sp>
    </p:spTree>
    <p:extLst>
      <p:ext uri="{BB962C8B-B14F-4D97-AF65-F5344CB8AC3E}">
        <p14:creationId xmlns:p14="http://schemas.microsoft.com/office/powerpoint/2010/main" val="346647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85F9541-1EFA-4BA8-B44B-6106F751A81A}"/>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Our mission</a:t>
            </a:r>
          </a:p>
        </p:txBody>
      </p:sp>
      <p:sp>
        <p:nvSpPr>
          <p:cNvPr id="2" name="Rectangle 1">
            <a:extLst>
              <a:ext uri="{FF2B5EF4-FFF2-40B4-BE49-F238E27FC236}">
                <a16:creationId xmlns:a16="http://schemas.microsoft.com/office/drawing/2014/main" id="{75C21530-DB12-4E73-8687-592132C1D57C}"/>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MISSION</a:t>
            </a:r>
          </a:p>
        </p:txBody>
      </p:sp>
      <p:sp>
        <p:nvSpPr>
          <p:cNvPr id="3" name="Rectangle 2">
            <a:extLst>
              <a:ext uri="{FF2B5EF4-FFF2-40B4-BE49-F238E27FC236}">
                <a16:creationId xmlns:a16="http://schemas.microsoft.com/office/drawing/2014/main" id="{73BC203A-1D27-4ED9-985D-90015ECDDBDA}"/>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05</a:t>
            </a:r>
          </a:p>
        </p:txBody>
      </p:sp>
      <p:sp>
        <p:nvSpPr>
          <p:cNvPr id="4" name="Rectangle 3">
            <a:extLst>
              <a:ext uri="{FF2B5EF4-FFF2-40B4-BE49-F238E27FC236}">
                <a16:creationId xmlns:a16="http://schemas.microsoft.com/office/drawing/2014/main" id="{9ABE2D8F-C413-443D-8CB0-256C7D694872}"/>
              </a:ext>
            </a:extLst>
          </p:cNvPr>
          <p:cNvSpPr>
            <a:spLocks noGrp="1"/>
          </p:cNvSpPr>
          <p:nvPr/>
        </p:nvSpPr>
        <p:spPr>
          <a:xfrm>
            <a:off x="609600" y="1857375"/>
            <a:ext cx="10572750" cy="1476375"/>
          </a:xfrm>
          <a:prstGeom prst="rect">
            <a:avLst/>
          </a:prstGeom>
          <a:noFill/>
          <a:ln w="0">
            <a:noFill/>
          </a:ln>
        </p:spPr>
        <p:txBody>
          <a:bodyPr lIns="0" tIns="0" rIns="0" bIns="0">
            <a:noAutofit/>
          </a:bodyPr>
          <a:lstStyle/>
          <a:p>
            <a:pPr>
              <a:defRPr sz="3825" b="1">
                <a:solidFill>
                  <a:srgbClr val="303030"/>
                </a:solidFill>
                <a:latin typeface="DejaVu Sans"/>
                <a:ea typeface="DejaVu Sans"/>
                <a:cs typeface="DejaVu Sans"/>
              </a:defRPr>
            </a:pPr>
            <a:r>
              <a:rPr sz="3825" b="1">
                <a:solidFill>
                  <a:srgbClr val="303030"/>
                </a:solidFill>
                <a:latin typeface="DejaVu Sans"/>
                <a:ea typeface="DejaVu Sans"/>
                <a:cs typeface="DejaVu Sans"/>
              </a:rPr>
              <a:t>To give GBfoods control</a:t>
            </a:r>
          </a:p>
          <a:p>
            <a:pPr>
              <a:defRPr sz="3825" b="1">
                <a:solidFill>
                  <a:srgbClr val="303030"/>
                </a:solidFill>
                <a:latin typeface="DejaVu Sans"/>
                <a:ea typeface="DejaVu Sans"/>
                <a:cs typeface="DejaVu Sans"/>
              </a:defRPr>
            </a:pPr>
            <a:r>
              <a:rPr sz="3825" b="1">
                <a:solidFill>
                  <a:srgbClr val="303030"/>
                </a:solidFill>
                <a:latin typeface="DejaVu Sans"/>
                <a:ea typeface="DejaVu Sans"/>
                <a:cs typeface="DejaVu Sans"/>
              </a:rPr>
              <a:t>over every stock decision</a:t>
            </a:r>
          </a:p>
        </p:txBody>
      </p:sp>
      <p:sp>
        <p:nvSpPr>
          <p:cNvPr id="5" name="Rectangle 4">
            <a:extLst>
              <a:ext uri="{FF2B5EF4-FFF2-40B4-BE49-F238E27FC236}">
                <a16:creationId xmlns:a16="http://schemas.microsoft.com/office/drawing/2014/main" id="{1AB1EF38-5FA1-4396-8D8A-58D174403395}"/>
              </a:ext>
            </a:extLst>
          </p:cNvPr>
          <p:cNvSpPr>
            <a:spLocks noGrp="1"/>
          </p:cNvSpPr>
          <p:nvPr/>
        </p:nvSpPr>
        <p:spPr>
          <a:xfrm>
            <a:off x="609600" y="3619500"/>
            <a:ext cx="3302000" cy="419100"/>
          </a:xfrm>
          <a:prstGeom prst="rect">
            <a:avLst/>
          </a:prstGeom>
          <a:noFill/>
          <a:ln w="0">
            <a:noFill/>
          </a:ln>
        </p:spPr>
        <p:txBody>
          <a:bodyPr lIns="0" tIns="0" rIns="0" bIns="0">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01</a:t>
            </a:r>
          </a:p>
        </p:txBody>
      </p:sp>
      <p:sp>
        <p:nvSpPr>
          <p:cNvPr id="6" name="Rectangle 5">
            <a:extLst>
              <a:ext uri="{FF2B5EF4-FFF2-40B4-BE49-F238E27FC236}">
                <a16:creationId xmlns:a16="http://schemas.microsoft.com/office/drawing/2014/main" id="{F408F34F-1661-4AB6-98C3-20DAAA517796}"/>
              </a:ext>
            </a:extLst>
          </p:cNvPr>
          <p:cNvSpPr>
            <a:spLocks noGrp="1"/>
          </p:cNvSpPr>
          <p:nvPr/>
        </p:nvSpPr>
        <p:spPr>
          <a:xfrm>
            <a:off x="609600" y="4124325"/>
            <a:ext cx="3111500" cy="571500"/>
          </a:xfrm>
          <a:prstGeom prst="rect">
            <a:avLst/>
          </a:prstGeom>
          <a:noFill/>
          <a:ln w="0">
            <a:noFill/>
          </a:ln>
        </p:spPr>
        <p:txBody>
          <a:bodyPr lIns="0" tIns="0" rIns="0" bIns="0">
            <a:noAutofit/>
          </a:bodyPr>
          <a:lstStyle/>
          <a:p>
            <a:pPr>
              <a:defRPr sz="1875" b="1">
                <a:solidFill>
                  <a:srgbClr val="303030"/>
                </a:solidFill>
                <a:latin typeface="DejaVu Sans"/>
                <a:ea typeface="DejaVu Sans"/>
                <a:cs typeface="DejaVu Sans"/>
              </a:defRPr>
            </a:pPr>
            <a:r>
              <a:rPr sz="1875" b="1">
                <a:solidFill>
                  <a:srgbClr val="303030"/>
                </a:solidFill>
                <a:latin typeface="DejaVu Sans"/>
                <a:ea typeface="DejaVu Sans"/>
                <a:cs typeface="DejaVu Sans"/>
              </a:rPr>
              <a:t>Deploy prepared teams</a:t>
            </a:r>
          </a:p>
        </p:txBody>
      </p:sp>
      <p:sp>
        <p:nvSpPr>
          <p:cNvPr id="7" name="Rectangle 6">
            <a:extLst>
              <a:ext uri="{FF2B5EF4-FFF2-40B4-BE49-F238E27FC236}">
                <a16:creationId xmlns:a16="http://schemas.microsoft.com/office/drawing/2014/main" id="{4019C28E-7A2E-417D-B08F-DA9DF7EF807D}"/>
              </a:ext>
            </a:extLst>
          </p:cNvPr>
          <p:cNvSpPr>
            <a:spLocks noGrp="1"/>
          </p:cNvSpPr>
          <p:nvPr/>
        </p:nvSpPr>
        <p:spPr>
          <a:xfrm>
            <a:off x="609600" y="4810125"/>
            <a:ext cx="3092450" cy="914400"/>
          </a:xfrm>
          <a:prstGeom prst="rect">
            <a:avLst/>
          </a:prstGeom>
          <a:noFill/>
          <a:ln w="0">
            <a:noFill/>
          </a:ln>
        </p:spPr>
        <p:txBody>
          <a:bodyPr lIns="0" tIns="0" rIns="0" bIns="0">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People who understand the products, the process and their responsibilities.</a:t>
            </a:r>
          </a:p>
        </p:txBody>
      </p:sp>
      <p:sp>
        <p:nvSpPr>
          <p:cNvPr id="8" name="Rectangle 7">
            <a:extLst>
              <a:ext uri="{FF2B5EF4-FFF2-40B4-BE49-F238E27FC236}">
                <a16:creationId xmlns:a16="http://schemas.microsoft.com/office/drawing/2014/main" id="{AF2B5958-29DC-4C2A-A428-D09CDE743357}"/>
              </a:ext>
            </a:extLst>
          </p:cNvPr>
          <p:cNvSpPr>
            <a:spLocks noGrp="1"/>
          </p:cNvSpPr>
          <p:nvPr/>
        </p:nvSpPr>
        <p:spPr>
          <a:xfrm>
            <a:off x="4267200" y="3619500"/>
            <a:ext cx="3302000" cy="419100"/>
          </a:xfrm>
          <a:prstGeom prst="rect">
            <a:avLst/>
          </a:prstGeom>
          <a:noFill/>
          <a:ln w="0">
            <a:noFill/>
          </a:ln>
        </p:spPr>
        <p:txBody>
          <a:bodyPr lIns="0" tIns="0" rIns="0" bIns="0">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02</a:t>
            </a:r>
          </a:p>
        </p:txBody>
      </p:sp>
      <p:sp>
        <p:nvSpPr>
          <p:cNvPr id="9" name="Rectangle 8">
            <a:extLst>
              <a:ext uri="{FF2B5EF4-FFF2-40B4-BE49-F238E27FC236}">
                <a16:creationId xmlns:a16="http://schemas.microsoft.com/office/drawing/2014/main" id="{890FCDCB-7C93-4E92-8564-E464A056D400}"/>
              </a:ext>
            </a:extLst>
          </p:cNvPr>
          <p:cNvSpPr>
            <a:spLocks noGrp="1"/>
          </p:cNvSpPr>
          <p:nvPr/>
        </p:nvSpPr>
        <p:spPr>
          <a:xfrm>
            <a:off x="4267200" y="4124325"/>
            <a:ext cx="3111500" cy="571500"/>
          </a:xfrm>
          <a:prstGeom prst="rect">
            <a:avLst/>
          </a:prstGeom>
          <a:noFill/>
          <a:ln w="0">
            <a:noFill/>
          </a:ln>
        </p:spPr>
        <p:txBody>
          <a:bodyPr lIns="0" tIns="0" rIns="0" bIns="0">
            <a:noAutofit/>
          </a:bodyPr>
          <a:lstStyle/>
          <a:p>
            <a:pPr>
              <a:defRPr sz="1875" b="1">
                <a:solidFill>
                  <a:srgbClr val="303030"/>
                </a:solidFill>
                <a:latin typeface="DejaVu Sans"/>
                <a:ea typeface="DejaVu Sans"/>
                <a:cs typeface="DejaVu Sans"/>
              </a:defRPr>
            </a:pPr>
            <a:r>
              <a:rPr sz="1875" b="1">
                <a:solidFill>
                  <a:srgbClr val="303030"/>
                </a:solidFill>
                <a:latin typeface="DejaVu Sans"/>
                <a:ea typeface="DejaVu Sans"/>
                <a:cs typeface="DejaVu Sans"/>
              </a:rPr>
              <a:t>Separate and record</a:t>
            </a:r>
          </a:p>
        </p:txBody>
      </p:sp>
      <p:sp>
        <p:nvSpPr>
          <p:cNvPr id="10" name="Rectangle 9">
            <a:extLst>
              <a:ext uri="{FF2B5EF4-FFF2-40B4-BE49-F238E27FC236}">
                <a16:creationId xmlns:a16="http://schemas.microsoft.com/office/drawing/2014/main" id="{2223F0C8-9D57-46F4-A222-953E3A3D4385}"/>
              </a:ext>
            </a:extLst>
          </p:cNvPr>
          <p:cNvSpPr>
            <a:spLocks noGrp="1"/>
          </p:cNvSpPr>
          <p:nvPr/>
        </p:nvSpPr>
        <p:spPr>
          <a:xfrm>
            <a:off x="4267200" y="4810125"/>
            <a:ext cx="3092450" cy="914400"/>
          </a:xfrm>
          <a:prstGeom prst="rect">
            <a:avLst/>
          </a:prstGeom>
          <a:noFill/>
          <a:ln w="0">
            <a:noFill/>
          </a:ln>
        </p:spPr>
        <p:txBody>
          <a:bodyPr lIns="0" tIns="0" rIns="0" bIns="0">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Clear stock zones and traceable quantities by SKU and batch.</a:t>
            </a:r>
          </a:p>
        </p:txBody>
      </p:sp>
      <p:sp>
        <p:nvSpPr>
          <p:cNvPr id="11" name="Rectangle 10">
            <a:extLst>
              <a:ext uri="{FF2B5EF4-FFF2-40B4-BE49-F238E27FC236}">
                <a16:creationId xmlns:a16="http://schemas.microsoft.com/office/drawing/2014/main" id="{ED8D2001-DD3A-45FF-AADA-BEBB8C491B4D}"/>
              </a:ext>
            </a:extLst>
          </p:cNvPr>
          <p:cNvSpPr>
            <a:spLocks noGrp="1"/>
          </p:cNvSpPr>
          <p:nvPr/>
        </p:nvSpPr>
        <p:spPr>
          <a:xfrm>
            <a:off x="7924800" y="3619500"/>
            <a:ext cx="3302000" cy="419100"/>
          </a:xfrm>
          <a:prstGeom prst="rect">
            <a:avLst/>
          </a:prstGeom>
          <a:noFill/>
          <a:ln w="0">
            <a:noFill/>
          </a:ln>
        </p:spPr>
        <p:txBody>
          <a:bodyPr lIns="0" tIns="0" rIns="0" bIns="0">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03</a:t>
            </a:r>
          </a:p>
        </p:txBody>
      </p:sp>
      <p:sp>
        <p:nvSpPr>
          <p:cNvPr id="12" name="Rectangle 11">
            <a:extLst>
              <a:ext uri="{FF2B5EF4-FFF2-40B4-BE49-F238E27FC236}">
                <a16:creationId xmlns:a16="http://schemas.microsoft.com/office/drawing/2014/main" id="{44FEB008-5324-4065-B342-55D613CD9921}"/>
              </a:ext>
            </a:extLst>
          </p:cNvPr>
          <p:cNvSpPr>
            <a:spLocks noGrp="1"/>
          </p:cNvSpPr>
          <p:nvPr/>
        </p:nvSpPr>
        <p:spPr>
          <a:xfrm>
            <a:off x="7924800" y="4124325"/>
            <a:ext cx="3111500" cy="571500"/>
          </a:xfrm>
          <a:prstGeom prst="rect">
            <a:avLst/>
          </a:prstGeom>
          <a:noFill/>
          <a:ln w="0">
            <a:noFill/>
          </a:ln>
        </p:spPr>
        <p:txBody>
          <a:bodyPr lIns="0" tIns="0" rIns="0" bIns="0">
            <a:noAutofit/>
          </a:bodyPr>
          <a:lstStyle/>
          <a:p>
            <a:pPr>
              <a:defRPr sz="1875" b="1">
                <a:solidFill>
                  <a:srgbClr val="303030"/>
                </a:solidFill>
                <a:latin typeface="DejaVu Sans"/>
                <a:ea typeface="DejaVu Sans"/>
                <a:cs typeface="DejaVu Sans"/>
              </a:defRPr>
            </a:pPr>
            <a:r>
              <a:rPr sz="1875" b="1">
                <a:solidFill>
                  <a:srgbClr val="303030"/>
                </a:solidFill>
                <a:latin typeface="DejaVu Sans"/>
                <a:ea typeface="DejaVu Sans"/>
                <a:cs typeface="DejaVu Sans"/>
              </a:rPr>
              <a:t>Close with evidence</a:t>
            </a:r>
          </a:p>
        </p:txBody>
      </p:sp>
      <p:sp>
        <p:nvSpPr>
          <p:cNvPr id="13" name="Rectangle 12">
            <a:extLst>
              <a:ext uri="{FF2B5EF4-FFF2-40B4-BE49-F238E27FC236}">
                <a16:creationId xmlns:a16="http://schemas.microsoft.com/office/drawing/2014/main" id="{59846ACB-F708-490A-8723-51AA488694F3}"/>
              </a:ext>
            </a:extLst>
          </p:cNvPr>
          <p:cNvSpPr>
            <a:spLocks noGrp="1"/>
          </p:cNvSpPr>
          <p:nvPr/>
        </p:nvSpPr>
        <p:spPr>
          <a:xfrm>
            <a:off x="7924800" y="4810125"/>
            <a:ext cx="3092450" cy="914400"/>
          </a:xfrm>
          <a:prstGeom prst="rect">
            <a:avLst/>
          </a:prstGeom>
          <a:noFill/>
          <a:ln w="0">
            <a:noFill/>
          </a:ln>
        </p:spPr>
        <p:txBody>
          <a:bodyPr lIns="0" tIns="0" rIns="0" bIns="0">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Signed reconciliation and a named owner for every outstanding action.</a:t>
            </a:r>
          </a:p>
        </p:txBody>
      </p:sp>
    </p:spTree>
    <p:extLst>
      <p:ext uri="{BB962C8B-B14F-4D97-AF65-F5344CB8AC3E}">
        <p14:creationId xmlns:p14="http://schemas.microsoft.com/office/powerpoint/2010/main" val="885148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5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CFE5A1E-0947-49C4-A701-9011415650A9}"/>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06</a:t>
            </a:r>
          </a:p>
        </p:txBody>
      </p:sp>
      <p:sp>
        <p:nvSpPr>
          <p:cNvPr id="2" name="Rectangle 1">
            <a:extLst>
              <a:ext uri="{FF2B5EF4-FFF2-40B4-BE49-F238E27FC236}">
                <a16:creationId xmlns:a16="http://schemas.microsoft.com/office/drawing/2014/main" id="{86F91D88-2060-4F29-89D0-93C007A02D85}"/>
              </a:ext>
            </a:extLst>
          </p:cNvPr>
          <p:cNvSpPr>
            <a:spLocks noGrp="1"/>
          </p:cNvSpPr>
          <p:nvPr/>
        </p:nvSpPr>
        <p:spPr>
          <a:xfrm>
            <a:off x="609600" y="790575"/>
            <a:ext cx="4762500" cy="895350"/>
          </a:xfrm>
          <a:prstGeom prst="rect">
            <a:avLst/>
          </a:prstGeom>
          <a:noFill/>
          <a:ln w="0">
            <a:noFill/>
          </a:ln>
        </p:spPr>
        <p:txBody>
          <a:bodyPr lIns="0" tIns="0" rIns="0" bIns="0">
            <a:noAutofit/>
          </a:bodyPr>
          <a:lstStyle/>
          <a:p>
            <a:pPr>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02</a:t>
            </a:r>
          </a:p>
        </p:txBody>
      </p:sp>
      <p:sp>
        <p:nvSpPr>
          <p:cNvPr id="3" name="Rectangle 2">
            <a:extLst>
              <a:ext uri="{FF2B5EF4-FFF2-40B4-BE49-F238E27FC236}">
                <a16:creationId xmlns:a16="http://schemas.microsoft.com/office/drawing/2014/main" id="{D3E4C684-8C3B-496A-B57A-DCAD9EE79523}"/>
              </a:ext>
            </a:extLst>
          </p:cNvPr>
          <p:cNvSpPr>
            <a:spLocks noGrp="1"/>
          </p:cNvSpPr>
          <p:nvPr/>
        </p:nvSpPr>
        <p:spPr>
          <a:xfrm>
            <a:off x="609600" y="2390775"/>
            <a:ext cx="10763250" cy="1200150"/>
          </a:xfrm>
          <a:prstGeom prst="rect">
            <a:avLst/>
          </a:prstGeom>
          <a:noFill/>
          <a:ln w="0">
            <a:noFill/>
          </a:ln>
        </p:spPr>
        <p:txBody>
          <a:bodyPr lIns="0" tIns="0" rIns="0" bIns="0">
            <a:noAutofit/>
          </a:bodyPr>
          <a:lstStyle/>
          <a:p>
            <a:pPr>
              <a:defRPr sz="4950" b="1">
                <a:solidFill>
                  <a:srgbClr val="FFFFFF"/>
                </a:solidFill>
                <a:latin typeface="DejaVu Sans"/>
                <a:ea typeface="DejaVu Sans"/>
                <a:cs typeface="DejaVu Sans"/>
              </a:defRPr>
            </a:pPr>
            <a:r>
              <a:rPr sz="4950" b="1">
                <a:solidFill>
                  <a:srgbClr val="FFFFFF"/>
                </a:solidFill>
                <a:latin typeface="DejaVu Sans"/>
                <a:ea typeface="DejaVu Sans"/>
                <a:cs typeface="DejaVu Sans"/>
              </a:rPr>
              <a:t>Our strategy</a:t>
            </a:r>
          </a:p>
        </p:txBody>
      </p:sp>
      <p:sp>
        <p:nvSpPr>
          <p:cNvPr id="4" name="Rectangle 3">
            <a:extLst>
              <a:ext uri="{FF2B5EF4-FFF2-40B4-BE49-F238E27FC236}">
                <a16:creationId xmlns:a16="http://schemas.microsoft.com/office/drawing/2014/main" id="{C68460C8-A2D6-4FB2-B585-0461806356ED}"/>
              </a:ext>
            </a:extLst>
          </p:cNvPr>
          <p:cNvSpPr>
            <a:spLocks noGrp="1"/>
          </p:cNvSpPr>
          <p:nvPr/>
        </p:nvSpPr>
        <p:spPr>
          <a:xfrm>
            <a:off x="609600" y="4267200"/>
            <a:ext cx="9620250" cy="1295400"/>
          </a:xfrm>
          <a:prstGeom prst="rect">
            <a:avLst/>
          </a:prstGeom>
          <a:noFill/>
          <a:ln w="0">
            <a:noFill/>
          </a:ln>
        </p:spPr>
        <p:txBody>
          <a:bodyPr lIns="0" tIns="0" rIns="0" bIns="0">
            <a:noAutofit/>
          </a:bodyPr>
          <a:lstStyle/>
          <a:p>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National coordination, direct field supervision and evidence at every depot.</a:t>
            </a:r>
          </a:p>
        </p:txBody>
      </p:sp>
    </p:spTree>
    <p:extLst>
      <p:ext uri="{BB962C8B-B14F-4D97-AF65-F5344CB8AC3E}">
        <p14:creationId xmlns:p14="http://schemas.microsoft.com/office/powerpoint/2010/main" val="343777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78642A6-EB8A-49D3-8452-C4FCDE506476}"/>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The strategy</a:t>
            </a:r>
          </a:p>
        </p:txBody>
      </p:sp>
      <p:sp>
        <p:nvSpPr>
          <p:cNvPr id="2" name="Rectangle 1">
            <a:extLst>
              <a:ext uri="{FF2B5EF4-FFF2-40B4-BE49-F238E27FC236}">
                <a16:creationId xmlns:a16="http://schemas.microsoft.com/office/drawing/2014/main" id="{0E8BFBC0-2B2B-4EED-BAA1-76D82AC65EA4}"/>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STRATEGY</a:t>
            </a:r>
          </a:p>
        </p:txBody>
      </p:sp>
      <p:sp>
        <p:nvSpPr>
          <p:cNvPr id="3" name="Rectangle 2">
            <a:extLst>
              <a:ext uri="{FF2B5EF4-FFF2-40B4-BE49-F238E27FC236}">
                <a16:creationId xmlns:a16="http://schemas.microsoft.com/office/drawing/2014/main" id="{A7B08D57-48D2-4BE7-98E7-972184B8BE0F}"/>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07</a:t>
            </a:r>
          </a:p>
        </p:txBody>
      </p:sp>
      <p:sp>
        <p:nvSpPr>
          <p:cNvPr id="4" name="Rectangle 3">
            <a:extLst>
              <a:ext uri="{FF2B5EF4-FFF2-40B4-BE49-F238E27FC236}">
                <a16:creationId xmlns:a16="http://schemas.microsoft.com/office/drawing/2014/main" id="{C5EB1D50-C69A-493D-A848-F39DE30847A2}"/>
              </a:ext>
            </a:extLst>
          </p:cNvPr>
          <p:cNvSpPr>
            <a:spLocks noGrp="1"/>
          </p:cNvSpPr>
          <p:nvPr/>
        </p:nvSpPr>
        <p:spPr>
          <a:xfrm>
            <a:off x="609600" y="1905000"/>
            <a:ext cx="2476500" cy="857250"/>
          </a:xfrm>
          <a:prstGeom prst="rect">
            <a:avLst/>
          </a:prstGeom>
          <a:noFill/>
          <a:ln w="0">
            <a:noFill/>
          </a:ln>
        </p:spPr>
        <p:txBody>
          <a:bodyPr lIns="0" tIns="0" rIns="0" bIns="0">
            <a:noAutofit/>
          </a:bodyPr>
          <a:lstStyle/>
          <a:p>
            <a:pPr>
              <a:defRPr sz="5250" b="1">
                <a:solidFill>
                  <a:srgbClr val="FE5000"/>
                </a:solidFill>
                <a:latin typeface="DejaVu Sans"/>
                <a:ea typeface="DejaVu Sans"/>
                <a:cs typeface="DejaVu Sans"/>
              </a:defRPr>
            </a:pPr>
            <a:r>
              <a:rPr sz="5250" b="1">
                <a:solidFill>
                  <a:srgbClr val="FE5000"/>
                </a:solidFill>
                <a:latin typeface="DejaVu Sans"/>
                <a:ea typeface="DejaVu Sans"/>
                <a:cs typeface="DejaVu Sans"/>
              </a:rPr>
              <a:t>01</a:t>
            </a:r>
          </a:p>
        </p:txBody>
      </p:sp>
      <p:sp>
        <p:nvSpPr>
          <p:cNvPr id="5" name="Rectangle 4">
            <a:extLst>
              <a:ext uri="{FF2B5EF4-FFF2-40B4-BE49-F238E27FC236}">
                <a16:creationId xmlns:a16="http://schemas.microsoft.com/office/drawing/2014/main" id="{67EFC6A5-2ABF-4B07-AE35-C2626ECBEC94}"/>
              </a:ext>
            </a:extLst>
          </p:cNvPr>
          <p:cNvSpPr>
            <a:spLocks noGrp="1"/>
          </p:cNvSpPr>
          <p:nvPr/>
        </p:nvSpPr>
        <p:spPr>
          <a:xfrm>
            <a:off x="609600" y="2971800"/>
            <a:ext cx="2286000" cy="66675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Risk first</a:t>
            </a:r>
          </a:p>
        </p:txBody>
      </p:sp>
      <p:sp>
        <p:nvSpPr>
          <p:cNvPr id="6" name="Rectangle 5">
            <a:extLst>
              <a:ext uri="{FF2B5EF4-FFF2-40B4-BE49-F238E27FC236}">
                <a16:creationId xmlns:a16="http://schemas.microsoft.com/office/drawing/2014/main" id="{8A9A269E-8E0B-478B-97ED-D06427272A75}"/>
              </a:ext>
            </a:extLst>
          </p:cNvPr>
          <p:cNvSpPr>
            <a:spLocks noGrp="1"/>
          </p:cNvSpPr>
          <p:nvPr/>
        </p:nvSpPr>
        <p:spPr>
          <a:xfrm>
            <a:off x="609600" y="3810000"/>
            <a:ext cx="22669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Prioritise affected stock and urgent quality concerns agreed with GBfoods.</a:t>
            </a:r>
          </a:p>
        </p:txBody>
      </p:sp>
      <p:sp>
        <p:nvSpPr>
          <p:cNvPr id="7" name="Rectangle 6">
            <a:extLst>
              <a:ext uri="{FF2B5EF4-FFF2-40B4-BE49-F238E27FC236}">
                <a16:creationId xmlns:a16="http://schemas.microsoft.com/office/drawing/2014/main" id="{0F9B2A17-E259-4387-9517-F89FEC4C080E}"/>
              </a:ext>
            </a:extLst>
          </p:cNvPr>
          <p:cNvSpPr>
            <a:spLocks noGrp="1"/>
          </p:cNvSpPr>
          <p:nvPr/>
        </p:nvSpPr>
        <p:spPr>
          <a:xfrm>
            <a:off x="3352800" y="1905000"/>
            <a:ext cx="2476500" cy="857250"/>
          </a:xfrm>
          <a:prstGeom prst="rect">
            <a:avLst/>
          </a:prstGeom>
          <a:noFill/>
          <a:ln w="0">
            <a:noFill/>
          </a:ln>
        </p:spPr>
        <p:txBody>
          <a:bodyPr lIns="0" tIns="0" rIns="0" bIns="0">
            <a:noAutofit/>
          </a:bodyPr>
          <a:lstStyle/>
          <a:p>
            <a:pPr>
              <a:defRPr sz="5250" b="1">
                <a:solidFill>
                  <a:srgbClr val="FE5000"/>
                </a:solidFill>
                <a:latin typeface="DejaVu Sans"/>
                <a:ea typeface="DejaVu Sans"/>
                <a:cs typeface="DejaVu Sans"/>
              </a:defRPr>
            </a:pPr>
            <a:r>
              <a:rPr sz="5250" b="1">
                <a:solidFill>
                  <a:srgbClr val="FE5000"/>
                </a:solidFill>
                <a:latin typeface="DejaVu Sans"/>
                <a:ea typeface="DejaVu Sans"/>
                <a:cs typeface="DejaVu Sans"/>
              </a:rPr>
              <a:t>02</a:t>
            </a:r>
          </a:p>
        </p:txBody>
      </p:sp>
      <p:sp>
        <p:nvSpPr>
          <p:cNvPr id="8" name="Rectangle 7">
            <a:extLst>
              <a:ext uri="{FF2B5EF4-FFF2-40B4-BE49-F238E27FC236}">
                <a16:creationId xmlns:a16="http://schemas.microsoft.com/office/drawing/2014/main" id="{AED7F1A1-370B-4708-A521-C3E916A74FCA}"/>
              </a:ext>
            </a:extLst>
          </p:cNvPr>
          <p:cNvSpPr>
            <a:spLocks noGrp="1"/>
          </p:cNvSpPr>
          <p:nvPr/>
        </p:nvSpPr>
        <p:spPr>
          <a:xfrm>
            <a:off x="3352800" y="2971800"/>
            <a:ext cx="2286000" cy="66675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Local deployment</a:t>
            </a:r>
          </a:p>
        </p:txBody>
      </p:sp>
      <p:sp>
        <p:nvSpPr>
          <p:cNvPr id="9" name="Rectangle 8">
            <a:extLst>
              <a:ext uri="{FF2B5EF4-FFF2-40B4-BE49-F238E27FC236}">
                <a16:creationId xmlns:a16="http://schemas.microsoft.com/office/drawing/2014/main" id="{48A833CD-3058-474A-8587-A6D0CD6AEC18}"/>
              </a:ext>
            </a:extLst>
          </p:cNvPr>
          <p:cNvSpPr>
            <a:spLocks noGrp="1"/>
          </p:cNvSpPr>
          <p:nvPr/>
        </p:nvSpPr>
        <p:spPr>
          <a:xfrm>
            <a:off x="3352800" y="3810000"/>
            <a:ext cx="22669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Cluster ready depots to protect working time and limit avoidable travel.</a:t>
            </a:r>
          </a:p>
        </p:txBody>
      </p:sp>
      <p:sp>
        <p:nvSpPr>
          <p:cNvPr id="10" name="Rectangle 9">
            <a:extLst>
              <a:ext uri="{FF2B5EF4-FFF2-40B4-BE49-F238E27FC236}">
                <a16:creationId xmlns:a16="http://schemas.microsoft.com/office/drawing/2014/main" id="{F314325D-6905-4600-8593-66674CC4385D}"/>
              </a:ext>
            </a:extLst>
          </p:cNvPr>
          <p:cNvSpPr>
            <a:spLocks noGrp="1"/>
          </p:cNvSpPr>
          <p:nvPr/>
        </p:nvSpPr>
        <p:spPr>
          <a:xfrm>
            <a:off x="6096000" y="1905000"/>
            <a:ext cx="2476500" cy="857250"/>
          </a:xfrm>
          <a:prstGeom prst="rect">
            <a:avLst/>
          </a:prstGeom>
          <a:noFill/>
          <a:ln w="0">
            <a:noFill/>
          </a:ln>
        </p:spPr>
        <p:txBody>
          <a:bodyPr lIns="0" tIns="0" rIns="0" bIns="0">
            <a:noAutofit/>
          </a:bodyPr>
          <a:lstStyle/>
          <a:p>
            <a:pPr>
              <a:defRPr sz="5250" b="1">
                <a:solidFill>
                  <a:srgbClr val="FE5000"/>
                </a:solidFill>
                <a:latin typeface="DejaVu Sans"/>
                <a:ea typeface="DejaVu Sans"/>
                <a:cs typeface="DejaVu Sans"/>
              </a:defRPr>
            </a:pPr>
            <a:r>
              <a:rPr sz="5250" b="1">
                <a:solidFill>
                  <a:srgbClr val="FE5000"/>
                </a:solidFill>
                <a:latin typeface="DejaVu Sans"/>
                <a:ea typeface="DejaVu Sans"/>
                <a:cs typeface="DejaVu Sans"/>
              </a:rPr>
              <a:t>03</a:t>
            </a:r>
          </a:p>
        </p:txBody>
      </p:sp>
      <p:sp>
        <p:nvSpPr>
          <p:cNvPr id="11" name="Rectangle 10">
            <a:extLst>
              <a:ext uri="{FF2B5EF4-FFF2-40B4-BE49-F238E27FC236}">
                <a16:creationId xmlns:a16="http://schemas.microsoft.com/office/drawing/2014/main" id="{CD682B89-735B-4403-814B-37D4151B1572}"/>
              </a:ext>
            </a:extLst>
          </p:cNvPr>
          <p:cNvSpPr>
            <a:spLocks noGrp="1"/>
          </p:cNvSpPr>
          <p:nvPr/>
        </p:nvSpPr>
        <p:spPr>
          <a:xfrm>
            <a:off x="6096000" y="2971800"/>
            <a:ext cx="2286000" cy="66675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Close supervision</a:t>
            </a:r>
          </a:p>
        </p:txBody>
      </p:sp>
      <p:sp>
        <p:nvSpPr>
          <p:cNvPr id="12" name="Rectangle 11">
            <a:extLst>
              <a:ext uri="{FF2B5EF4-FFF2-40B4-BE49-F238E27FC236}">
                <a16:creationId xmlns:a16="http://schemas.microsoft.com/office/drawing/2014/main" id="{FCF0852D-C4A9-4810-BE4B-1D85BEA92141}"/>
              </a:ext>
            </a:extLst>
          </p:cNvPr>
          <p:cNvSpPr>
            <a:spLocks noGrp="1"/>
          </p:cNvSpPr>
          <p:nvPr/>
        </p:nvSpPr>
        <p:spPr>
          <a:xfrm>
            <a:off x="6096000" y="3810000"/>
            <a:ext cx="22669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One QC person per distributor, with one supervisor for each five distributors.</a:t>
            </a:r>
          </a:p>
        </p:txBody>
      </p:sp>
      <p:sp>
        <p:nvSpPr>
          <p:cNvPr id="13" name="Rectangle 12">
            <a:extLst>
              <a:ext uri="{FF2B5EF4-FFF2-40B4-BE49-F238E27FC236}">
                <a16:creationId xmlns:a16="http://schemas.microsoft.com/office/drawing/2014/main" id="{5876EB5D-805F-45B4-8000-2EE346A53833}"/>
              </a:ext>
            </a:extLst>
          </p:cNvPr>
          <p:cNvSpPr>
            <a:spLocks noGrp="1"/>
          </p:cNvSpPr>
          <p:nvPr/>
        </p:nvSpPr>
        <p:spPr>
          <a:xfrm>
            <a:off x="8839200" y="1905000"/>
            <a:ext cx="2476500" cy="857250"/>
          </a:xfrm>
          <a:prstGeom prst="rect">
            <a:avLst/>
          </a:prstGeom>
          <a:noFill/>
          <a:ln w="0">
            <a:noFill/>
          </a:ln>
        </p:spPr>
        <p:txBody>
          <a:bodyPr lIns="0" tIns="0" rIns="0" bIns="0">
            <a:noAutofit/>
          </a:bodyPr>
          <a:lstStyle/>
          <a:p>
            <a:pPr>
              <a:defRPr sz="5250" b="1">
                <a:solidFill>
                  <a:srgbClr val="FE5000"/>
                </a:solidFill>
                <a:latin typeface="DejaVu Sans"/>
                <a:ea typeface="DejaVu Sans"/>
                <a:cs typeface="DejaVu Sans"/>
              </a:defRPr>
            </a:pPr>
            <a:r>
              <a:rPr sz="5250" b="1">
                <a:solidFill>
                  <a:srgbClr val="FE5000"/>
                </a:solidFill>
                <a:latin typeface="DejaVu Sans"/>
                <a:ea typeface="DejaVu Sans"/>
                <a:cs typeface="DejaVu Sans"/>
              </a:rPr>
              <a:t>04</a:t>
            </a:r>
          </a:p>
        </p:txBody>
      </p:sp>
      <p:sp>
        <p:nvSpPr>
          <p:cNvPr id="14" name="Rectangle 13">
            <a:extLst>
              <a:ext uri="{FF2B5EF4-FFF2-40B4-BE49-F238E27FC236}">
                <a16:creationId xmlns:a16="http://schemas.microsoft.com/office/drawing/2014/main" id="{025B6E0B-E763-4E7C-B202-B834A0680FF5}"/>
              </a:ext>
            </a:extLst>
          </p:cNvPr>
          <p:cNvSpPr>
            <a:spLocks noGrp="1"/>
          </p:cNvSpPr>
          <p:nvPr/>
        </p:nvSpPr>
        <p:spPr>
          <a:xfrm>
            <a:off x="8839200" y="2971800"/>
            <a:ext cx="2286000" cy="66675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Proof at closure</a:t>
            </a:r>
          </a:p>
        </p:txBody>
      </p:sp>
      <p:sp>
        <p:nvSpPr>
          <p:cNvPr id="15" name="Rectangle 14">
            <a:extLst>
              <a:ext uri="{FF2B5EF4-FFF2-40B4-BE49-F238E27FC236}">
                <a16:creationId xmlns:a16="http://schemas.microsoft.com/office/drawing/2014/main" id="{BE6B82DD-EE79-45B9-92C4-0D1BE62D15F2}"/>
              </a:ext>
            </a:extLst>
          </p:cNvPr>
          <p:cNvSpPr>
            <a:spLocks noGrp="1"/>
          </p:cNvSpPr>
          <p:nvPr/>
        </p:nvSpPr>
        <p:spPr>
          <a:xfrm>
            <a:off x="8839200" y="3810000"/>
            <a:ext cx="22669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Reconcile quantities and retain evidence before closing a depot.</a:t>
            </a:r>
          </a:p>
        </p:txBody>
      </p:sp>
    </p:spTree>
    <p:extLst>
      <p:ext uri="{BB962C8B-B14F-4D97-AF65-F5344CB8AC3E}">
        <p14:creationId xmlns:p14="http://schemas.microsoft.com/office/powerpoint/2010/main" val="1645303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04F3D4B-6140-44BA-9D2B-92E7BC39FED0}"/>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The delivery journey</a:t>
            </a:r>
          </a:p>
        </p:txBody>
      </p:sp>
      <p:sp>
        <p:nvSpPr>
          <p:cNvPr id="2" name="Rectangle 1">
            <a:extLst>
              <a:ext uri="{FF2B5EF4-FFF2-40B4-BE49-F238E27FC236}">
                <a16:creationId xmlns:a16="http://schemas.microsoft.com/office/drawing/2014/main" id="{1A7838F5-D89C-44E0-9E27-3C68E8734766}"/>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STRATEGY</a:t>
            </a:r>
          </a:p>
        </p:txBody>
      </p:sp>
      <p:sp>
        <p:nvSpPr>
          <p:cNvPr id="3" name="Rectangle 2">
            <a:extLst>
              <a:ext uri="{FF2B5EF4-FFF2-40B4-BE49-F238E27FC236}">
                <a16:creationId xmlns:a16="http://schemas.microsoft.com/office/drawing/2014/main" id="{4677609C-A322-4695-B586-643E07ED984E}"/>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08</a:t>
            </a:r>
          </a:p>
        </p:txBody>
      </p:sp>
      <p:sp>
        <p:nvSpPr>
          <p:cNvPr id="4" name="Rectangle 3">
            <a:extLst>
              <a:ext uri="{FF2B5EF4-FFF2-40B4-BE49-F238E27FC236}">
                <a16:creationId xmlns:a16="http://schemas.microsoft.com/office/drawing/2014/main" id="{9776E607-AA33-4D76-88C5-3864C2FBFE51}"/>
              </a:ext>
            </a:extLst>
          </p:cNvPr>
          <p:cNvSpPr>
            <a:spLocks noGrp="1"/>
          </p:cNvSpPr>
          <p:nvPr/>
        </p:nvSpPr>
        <p:spPr>
          <a:xfrm>
            <a:off x="609600" y="1809750"/>
            <a:ext cx="3302000" cy="857250"/>
          </a:xfrm>
          <a:prstGeom prst="rect">
            <a:avLst/>
          </a:prstGeom>
          <a:noFill/>
          <a:ln w="0">
            <a:noFill/>
          </a:ln>
        </p:spPr>
        <p:txBody>
          <a:bodyPr lIns="0" tIns="0" rIns="0" bIns="0">
            <a:noAutofit/>
          </a:bodyPr>
          <a:lstStyle/>
          <a:p>
            <a:pPr>
              <a:defRPr sz="5250" b="1">
                <a:solidFill>
                  <a:srgbClr val="FE5000"/>
                </a:solidFill>
                <a:latin typeface="DejaVu Sans"/>
                <a:ea typeface="DejaVu Sans"/>
                <a:cs typeface="DejaVu Sans"/>
              </a:defRPr>
            </a:pPr>
            <a:r>
              <a:rPr sz="5250" b="1">
                <a:solidFill>
                  <a:srgbClr val="FE5000"/>
                </a:solidFill>
                <a:latin typeface="DejaVu Sans"/>
                <a:ea typeface="DejaVu Sans"/>
                <a:cs typeface="DejaVu Sans"/>
              </a:rPr>
              <a:t>PRE</a:t>
            </a:r>
          </a:p>
        </p:txBody>
      </p:sp>
      <p:sp>
        <p:nvSpPr>
          <p:cNvPr id="5" name="Rectangle 4">
            <a:extLst>
              <a:ext uri="{FF2B5EF4-FFF2-40B4-BE49-F238E27FC236}">
                <a16:creationId xmlns:a16="http://schemas.microsoft.com/office/drawing/2014/main" id="{972781C0-6C54-4CAF-8E06-56DDAE1ED763}"/>
              </a:ext>
            </a:extLst>
          </p:cNvPr>
          <p:cNvSpPr>
            <a:spLocks noGrp="1"/>
          </p:cNvSpPr>
          <p:nvPr/>
        </p:nvSpPr>
        <p:spPr>
          <a:xfrm>
            <a:off x="609600" y="287655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Prepare the network</a:t>
            </a:r>
          </a:p>
        </p:txBody>
      </p:sp>
      <p:sp>
        <p:nvSpPr>
          <p:cNvPr id="6" name="Rectangle 5">
            <a:extLst>
              <a:ext uri="{FF2B5EF4-FFF2-40B4-BE49-F238E27FC236}">
                <a16:creationId xmlns:a16="http://schemas.microsoft.com/office/drawing/2014/main" id="{74555EB7-D256-4A3B-B402-62C95C2A6ADD}"/>
              </a:ext>
            </a:extLst>
          </p:cNvPr>
          <p:cNvSpPr>
            <a:spLocks noGrp="1"/>
          </p:cNvSpPr>
          <p:nvPr/>
        </p:nvSpPr>
        <p:spPr>
          <a:xfrm>
            <a:off x="609600" y="371475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Validate depot data, train crews, agree routes and test the method.</a:t>
            </a:r>
          </a:p>
        </p:txBody>
      </p:sp>
      <p:sp>
        <p:nvSpPr>
          <p:cNvPr id="7" name="Rectangle 6">
            <a:extLst>
              <a:ext uri="{FF2B5EF4-FFF2-40B4-BE49-F238E27FC236}">
                <a16:creationId xmlns:a16="http://schemas.microsoft.com/office/drawing/2014/main" id="{DF996726-8D00-4038-92FC-96684E3E8C40}"/>
              </a:ext>
            </a:extLst>
          </p:cNvPr>
          <p:cNvSpPr>
            <a:spLocks noGrp="1"/>
          </p:cNvSpPr>
          <p:nvPr/>
        </p:nvSpPr>
        <p:spPr>
          <a:xfrm>
            <a:off x="4267200" y="1809750"/>
            <a:ext cx="3302000" cy="857250"/>
          </a:xfrm>
          <a:prstGeom prst="rect">
            <a:avLst/>
          </a:prstGeom>
          <a:noFill/>
          <a:ln w="0">
            <a:noFill/>
          </a:ln>
        </p:spPr>
        <p:txBody>
          <a:bodyPr lIns="0" tIns="0" rIns="0" bIns="0">
            <a:noAutofit/>
          </a:bodyPr>
          <a:lstStyle/>
          <a:p>
            <a:pPr>
              <a:defRPr sz="3375" b="1">
                <a:solidFill>
                  <a:srgbClr val="FE5000"/>
                </a:solidFill>
                <a:latin typeface="DejaVu Sans"/>
                <a:ea typeface="DejaVu Sans"/>
                <a:cs typeface="DejaVu Sans"/>
              </a:defRPr>
            </a:pPr>
            <a:r>
              <a:rPr sz="3375" b="1">
                <a:solidFill>
                  <a:srgbClr val="FE5000"/>
                </a:solidFill>
                <a:latin typeface="DejaVu Sans"/>
                <a:ea typeface="DejaVu Sans"/>
                <a:cs typeface="DejaVu Sans"/>
              </a:rPr>
              <a:t>DURING</a:t>
            </a:r>
          </a:p>
        </p:txBody>
      </p:sp>
      <p:sp>
        <p:nvSpPr>
          <p:cNvPr id="8" name="Rectangle 7">
            <a:extLst>
              <a:ext uri="{FF2B5EF4-FFF2-40B4-BE49-F238E27FC236}">
                <a16:creationId xmlns:a16="http://schemas.microsoft.com/office/drawing/2014/main" id="{36DE3632-B184-4AA2-B5C1-AA0F1FAA1961}"/>
              </a:ext>
            </a:extLst>
          </p:cNvPr>
          <p:cNvSpPr>
            <a:spLocks noGrp="1"/>
          </p:cNvSpPr>
          <p:nvPr/>
        </p:nvSpPr>
        <p:spPr>
          <a:xfrm>
            <a:off x="4267200" y="287655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Control the stock</a:t>
            </a:r>
          </a:p>
        </p:txBody>
      </p:sp>
      <p:sp>
        <p:nvSpPr>
          <p:cNvPr id="9" name="Rectangle 8">
            <a:extLst>
              <a:ext uri="{FF2B5EF4-FFF2-40B4-BE49-F238E27FC236}">
                <a16:creationId xmlns:a16="http://schemas.microsoft.com/office/drawing/2014/main" id="{C6BEC3CC-B324-43A3-8415-6515E2957FC1}"/>
              </a:ext>
            </a:extLst>
          </p:cNvPr>
          <p:cNvSpPr>
            <a:spLocks noGrp="1"/>
          </p:cNvSpPr>
          <p:nvPr/>
        </p:nvSpPr>
        <p:spPr>
          <a:xfrm>
            <a:off x="4267200" y="371475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Inspect, segregate, record and escalate under GBfoods quality authority.</a:t>
            </a:r>
          </a:p>
        </p:txBody>
      </p:sp>
      <p:sp>
        <p:nvSpPr>
          <p:cNvPr id="10" name="Rectangle 9">
            <a:extLst>
              <a:ext uri="{FF2B5EF4-FFF2-40B4-BE49-F238E27FC236}">
                <a16:creationId xmlns:a16="http://schemas.microsoft.com/office/drawing/2014/main" id="{EB7D6CED-B2BE-4A44-AA9E-AAE6B6464E6B}"/>
              </a:ext>
            </a:extLst>
          </p:cNvPr>
          <p:cNvSpPr>
            <a:spLocks noGrp="1"/>
          </p:cNvSpPr>
          <p:nvPr/>
        </p:nvSpPr>
        <p:spPr>
          <a:xfrm>
            <a:off x="7924800" y="1809750"/>
            <a:ext cx="3302000" cy="857250"/>
          </a:xfrm>
          <a:prstGeom prst="rect">
            <a:avLst/>
          </a:prstGeom>
          <a:noFill/>
          <a:ln w="0">
            <a:noFill/>
          </a:ln>
        </p:spPr>
        <p:txBody>
          <a:bodyPr lIns="0" tIns="0" rIns="0" bIns="0">
            <a:noAutofit/>
          </a:bodyPr>
          <a:lstStyle/>
          <a:p>
            <a:pPr>
              <a:defRPr sz="3375" b="1">
                <a:solidFill>
                  <a:srgbClr val="FE5000"/>
                </a:solidFill>
                <a:latin typeface="DejaVu Sans"/>
                <a:ea typeface="DejaVu Sans"/>
                <a:cs typeface="DejaVu Sans"/>
              </a:defRPr>
            </a:pPr>
            <a:r>
              <a:rPr sz="3375" b="1">
                <a:solidFill>
                  <a:srgbClr val="FE5000"/>
                </a:solidFill>
                <a:latin typeface="DejaVu Sans"/>
                <a:ea typeface="DejaVu Sans"/>
                <a:cs typeface="DejaVu Sans"/>
              </a:rPr>
              <a:t>POST</a:t>
            </a:r>
          </a:p>
        </p:txBody>
      </p:sp>
      <p:sp>
        <p:nvSpPr>
          <p:cNvPr id="11" name="Rectangle 10">
            <a:extLst>
              <a:ext uri="{FF2B5EF4-FFF2-40B4-BE49-F238E27FC236}">
                <a16:creationId xmlns:a16="http://schemas.microsoft.com/office/drawing/2014/main" id="{38E4E06D-0777-4100-A061-E7690A323C4A}"/>
              </a:ext>
            </a:extLst>
          </p:cNvPr>
          <p:cNvSpPr>
            <a:spLocks noGrp="1"/>
          </p:cNvSpPr>
          <p:nvPr/>
        </p:nvSpPr>
        <p:spPr>
          <a:xfrm>
            <a:off x="7924800" y="287655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Close the assignment</a:t>
            </a:r>
          </a:p>
        </p:txBody>
      </p:sp>
      <p:sp>
        <p:nvSpPr>
          <p:cNvPr id="12" name="Rectangle 11">
            <a:extLst>
              <a:ext uri="{FF2B5EF4-FFF2-40B4-BE49-F238E27FC236}">
                <a16:creationId xmlns:a16="http://schemas.microsoft.com/office/drawing/2014/main" id="{92696693-3B1E-4518-9671-86A884463BD6}"/>
              </a:ext>
            </a:extLst>
          </p:cNvPr>
          <p:cNvSpPr>
            <a:spLocks noGrp="1"/>
          </p:cNvSpPr>
          <p:nvPr/>
        </p:nvSpPr>
        <p:spPr>
          <a:xfrm>
            <a:off x="7924800" y="371475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Resolve variances, confirm custody and submit the national report.</a:t>
            </a:r>
          </a:p>
        </p:txBody>
      </p:sp>
      <p:sp>
        <p:nvSpPr>
          <p:cNvPr id="13" name="Rectangle 12">
            <a:extLst>
              <a:ext uri="{FF2B5EF4-FFF2-40B4-BE49-F238E27FC236}">
                <a16:creationId xmlns:a16="http://schemas.microsoft.com/office/drawing/2014/main" id="{1D03794C-A7E8-4500-BE20-F6AC820CB9AE}"/>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Three stages with approval gates: readiness approval, pilot acceptance and final closeout.</a:t>
            </a:r>
          </a:p>
        </p:txBody>
      </p:sp>
    </p:spTree>
    <p:extLst>
      <p:ext uri="{BB962C8B-B14F-4D97-AF65-F5344CB8AC3E}">
        <p14:creationId xmlns:p14="http://schemas.microsoft.com/office/powerpoint/2010/main" val="1424632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11312D7-31F3-457A-A088-4E255EFBA412}"/>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09</a:t>
            </a:r>
          </a:p>
        </p:txBody>
      </p:sp>
      <p:pic>
        <p:nvPicPr>
          <p:cNvPr id="7" name="Picture 6"/>
          <p:cNvPicPr>
            <a:picLocks noChangeAspect="1"/>
          </p:cNvPicPr>
          <p:nvPr/>
        </p:nvPicPr>
        <p:blipFill>
          <a:blip r:embed="rId3"/>
          <a:srcRect l="13021" r="13021"/>
          <a:stretch>
            <a:fillRect/>
          </a:stretch>
        </p:blipFill>
        <p:spPr>
          <a:xfrm>
            <a:off x="5429250" y="0"/>
            <a:ext cx="6762750" cy="6858000"/>
          </a:xfrm>
          <a:prstGeom prst="rect">
            <a:avLst/>
          </a:prstGeom>
        </p:spPr>
      </p:pic>
      <p:sp>
        <p:nvSpPr>
          <p:cNvPr id="3" name="Rectangle 2">
            <a:extLst>
              <a:ext uri="{FF2B5EF4-FFF2-40B4-BE49-F238E27FC236}">
                <a16:creationId xmlns:a16="http://schemas.microsoft.com/office/drawing/2014/main" id="{438618ED-9DB0-4E73-B952-589BBFDB3794}"/>
              </a:ext>
            </a:extLst>
          </p:cNvPr>
          <p:cNvSpPr>
            <a:spLocks noGrp="1"/>
          </p:cNvSpPr>
          <p:nvPr/>
        </p:nvSpPr>
        <p:spPr>
          <a:xfrm>
            <a:off x="609600" y="895350"/>
            <a:ext cx="4286250" cy="1047750"/>
          </a:xfrm>
          <a:prstGeom prst="rect">
            <a:avLst/>
          </a:prstGeom>
          <a:noFill/>
          <a:ln w="0">
            <a:noFill/>
          </a:ln>
        </p:spPr>
        <p:txBody>
          <a:bodyPr lIns="0" tIns="0" rIns="0" bIns="0">
            <a:noAutofit/>
          </a:bodyPr>
          <a:lstStyle/>
          <a:p>
            <a:pPr>
              <a:defRPr sz="7125" b="1">
                <a:solidFill>
                  <a:srgbClr val="FE5000"/>
                </a:solidFill>
                <a:latin typeface="DejaVu Sans"/>
                <a:ea typeface="DejaVu Sans"/>
                <a:cs typeface="DejaVu Sans"/>
              </a:defRPr>
            </a:pPr>
            <a:r>
              <a:rPr sz="7125" b="1">
                <a:solidFill>
                  <a:srgbClr val="FE5000"/>
                </a:solidFill>
                <a:latin typeface="DejaVu Sans"/>
                <a:ea typeface="DejaVu Sans"/>
                <a:cs typeface="DejaVu Sans"/>
              </a:rPr>
              <a:t>03</a:t>
            </a:r>
          </a:p>
        </p:txBody>
      </p:sp>
      <p:sp>
        <p:nvSpPr>
          <p:cNvPr id="4" name="Rectangle 3">
            <a:extLst>
              <a:ext uri="{FF2B5EF4-FFF2-40B4-BE49-F238E27FC236}">
                <a16:creationId xmlns:a16="http://schemas.microsoft.com/office/drawing/2014/main" id="{827B9EE0-1529-42B1-BA64-F8B158B93E87}"/>
              </a:ext>
            </a:extLst>
          </p:cNvPr>
          <p:cNvSpPr>
            <a:spLocks noGrp="1"/>
          </p:cNvSpPr>
          <p:nvPr/>
        </p:nvSpPr>
        <p:spPr>
          <a:xfrm>
            <a:off x="609600" y="2371725"/>
            <a:ext cx="4476750" cy="1047750"/>
          </a:xfrm>
          <a:prstGeom prst="rect">
            <a:avLst/>
          </a:prstGeom>
          <a:noFill/>
          <a:ln w="0">
            <a:noFill/>
          </a:ln>
        </p:spPr>
        <p:txBody>
          <a:bodyPr lIns="0" tIns="0" rIns="0" bIns="0">
            <a:noAutofit/>
          </a:bodyPr>
          <a:lstStyle/>
          <a:p>
            <a:pPr>
              <a:defRPr sz="4275" b="1">
                <a:solidFill>
                  <a:srgbClr val="303030"/>
                </a:solidFill>
                <a:latin typeface="DejaVu Sans"/>
                <a:ea typeface="DejaVu Sans"/>
                <a:cs typeface="DejaVu Sans"/>
              </a:defRPr>
            </a:pPr>
            <a:r>
              <a:rPr sz="4275" b="1">
                <a:solidFill>
                  <a:srgbClr val="303030"/>
                </a:solidFill>
                <a:latin typeface="DejaVu Sans"/>
                <a:ea typeface="DejaVu Sans"/>
                <a:cs typeface="DejaVu Sans"/>
              </a:rPr>
              <a:t>Pre work</a:t>
            </a:r>
          </a:p>
        </p:txBody>
      </p:sp>
      <p:sp>
        <p:nvSpPr>
          <p:cNvPr id="5" name="Rectangle 4">
            <a:extLst>
              <a:ext uri="{FF2B5EF4-FFF2-40B4-BE49-F238E27FC236}">
                <a16:creationId xmlns:a16="http://schemas.microsoft.com/office/drawing/2014/main" id="{FA82CC2D-3579-4AAA-A0DE-B06432D587B9}"/>
              </a:ext>
            </a:extLst>
          </p:cNvPr>
          <p:cNvSpPr>
            <a:spLocks noGrp="1"/>
          </p:cNvSpPr>
          <p:nvPr/>
        </p:nvSpPr>
        <p:spPr>
          <a:xfrm>
            <a:off x="609600" y="3810000"/>
            <a:ext cx="4286250" cy="1428750"/>
          </a:xfrm>
          <a:prstGeom prst="rect">
            <a:avLst/>
          </a:prstGeom>
          <a:noFill/>
          <a:ln w="0">
            <a:noFill/>
          </a:ln>
        </p:spPr>
        <p:txBody>
          <a:bodyPr lIns="0" tIns="0" rIns="0" bIns="0">
            <a:noAutofit/>
          </a:bodyPr>
          <a:lstStyle/>
          <a:p>
            <a:pPr>
              <a:defRPr sz="2100" b="0">
                <a:solidFill>
                  <a:srgbClr val="5E5E5E"/>
                </a:solidFill>
                <a:latin typeface="DejaVu Sans"/>
                <a:ea typeface="DejaVu Sans"/>
                <a:cs typeface="DejaVu Sans"/>
              </a:defRPr>
            </a:pPr>
            <a:r>
              <a:rPr sz="2100" b="0">
                <a:solidFill>
                  <a:srgbClr val="5E5E5E"/>
                </a:solidFill>
                <a:latin typeface="DejaVu Sans"/>
                <a:ea typeface="DejaVu Sans"/>
                <a:cs typeface="DejaVu Sans"/>
              </a:rPr>
              <a:t>A prepared depot and a trained team make the field day productive.</a:t>
            </a:r>
          </a:p>
        </p:txBody>
      </p:sp>
    </p:spTree>
    <p:extLst>
      <p:ext uri="{BB962C8B-B14F-4D97-AF65-F5344CB8AC3E}">
        <p14:creationId xmlns:p14="http://schemas.microsoft.com/office/powerpoint/2010/main" val="2132675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73F0463-3C85-4140-816F-F0DF6C29820D}"/>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The readiness checklist</a:t>
            </a:r>
          </a:p>
        </p:txBody>
      </p:sp>
      <p:sp>
        <p:nvSpPr>
          <p:cNvPr id="2" name="Rectangle 1">
            <a:extLst>
              <a:ext uri="{FF2B5EF4-FFF2-40B4-BE49-F238E27FC236}">
                <a16:creationId xmlns:a16="http://schemas.microsoft.com/office/drawing/2014/main" id="{6F20BB75-E91E-46CF-B7C0-FF7728012442}"/>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PRE WORK</a:t>
            </a:r>
          </a:p>
        </p:txBody>
      </p:sp>
      <p:sp>
        <p:nvSpPr>
          <p:cNvPr id="3" name="Rectangle 2">
            <a:extLst>
              <a:ext uri="{FF2B5EF4-FFF2-40B4-BE49-F238E27FC236}">
                <a16:creationId xmlns:a16="http://schemas.microsoft.com/office/drawing/2014/main" id="{2736F4B2-0F86-46A3-940B-BE50AB19D965}"/>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10</a:t>
            </a:r>
          </a:p>
        </p:txBody>
      </p:sp>
      <p:sp>
        <p:nvSpPr>
          <p:cNvPr id="4" name="Rectangle 3">
            <a:extLst>
              <a:ext uri="{FF2B5EF4-FFF2-40B4-BE49-F238E27FC236}">
                <a16:creationId xmlns:a16="http://schemas.microsoft.com/office/drawing/2014/main" id="{082AC466-D107-4F75-B465-E9C0B84B8588}"/>
              </a:ext>
            </a:extLst>
          </p:cNvPr>
          <p:cNvSpPr>
            <a:spLocks noGrp="1"/>
          </p:cNvSpPr>
          <p:nvPr/>
        </p:nvSpPr>
        <p:spPr>
          <a:xfrm>
            <a:off x="609600" y="1819275"/>
            <a:ext cx="107632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Depot intelligence</a:t>
            </a:r>
          </a:p>
        </p:txBody>
      </p:sp>
      <p:sp>
        <p:nvSpPr>
          <p:cNvPr id="5" name="Rectangle 4">
            <a:extLst>
              <a:ext uri="{FF2B5EF4-FFF2-40B4-BE49-F238E27FC236}">
                <a16:creationId xmlns:a16="http://schemas.microsoft.com/office/drawing/2014/main" id="{70C4E678-F5A4-44EC-9A86-511ECA71B36C}"/>
              </a:ext>
            </a:extLst>
          </p:cNvPr>
          <p:cNvSpPr>
            <a:spLocks noGrp="1"/>
          </p:cNvSpPr>
          <p:nvPr/>
        </p:nvSpPr>
        <p:spPr>
          <a:xfrm>
            <a:off x="609600" y="2190750"/>
            <a:ext cx="107632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Recce confirms GPS, access, contacts, workspace and stock by SKU and batch.</a:t>
            </a:r>
          </a:p>
        </p:txBody>
      </p:sp>
      <p:sp>
        <p:nvSpPr>
          <p:cNvPr id="6" name="Rectangle 5">
            <a:extLst>
              <a:ext uri="{FF2B5EF4-FFF2-40B4-BE49-F238E27FC236}">
                <a16:creationId xmlns:a16="http://schemas.microsoft.com/office/drawing/2014/main" id="{69E4BEE7-B959-485C-8E08-84FE1261048A}"/>
              </a:ext>
            </a:extLst>
          </p:cNvPr>
          <p:cNvSpPr>
            <a:spLocks noGrp="1"/>
          </p:cNvSpPr>
          <p:nvPr/>
        </p:nvSpPr>
        <p:spPr>
          <a:xfrm>
            <a:off x="609600" y="2790825"/>
            <a:ext cx="107632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A shared quality standard</a:t>
            </a:r>
          </a:p>
        </p:txBody>
      </p:sp>
      <p:sp>
        <p:nvSpPr>
          <p:cNvPr id="7" name="Rectangle 6">
            <a:extLst>
              <a:ext uri="{FF2B5EF4-FFF2-40B4-BE49-F238E27FC236}">
                <a16:creationId xmlns:a16="http://schemas.microsoft.com/office/drawing/2014/main" id="{7A882460-B354-4EC5-807A-40CF39B1451B}"/>
              </a:ext>
            </a:extLst>
          </p:cNvPr>
          <p:cNvSpPr>
            <a:spLocks noGrp="1"/>
          </p:cNvSpPr>
          <p:nvPr/>
        </p:nvSpPr>
        <p:spPr>
          <a:xfrm>
            <a:off x="609600" y="3162300"/>
            <a:ext cx="107632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Approved defect guide, handling rules and named GBfoods decision maker.</a:t>
            </a:r>
          </a:p>
        </p:txBody>
      </p:sp>
      <p:sp>
        <p:nvSpPr>
          <p:cNvPr id="8" name="Rectangle 7">
            <a:extLst>
              <a:ext uri="{FF2B5EF4-FFF2-40B4-BE49-F238E27FC236}">
                <a16:creationId xmlns:a16="http://schemas.microsoft.com/office/drawing/2014/main" id="{28A0593B-2ABF-49DB-BC2D-3B4E3E5F1C24}"/>
              </a:ext>
            </a:extLst>
          </p:cNvPr>
          <p:cNvSpPr>
            <a:spLocks noGrp="1"/>
          </p:cNvSpPr>
          <p:nvPr/>
        </p:nvSpPr>
        <p:spPr>
          <a:xfrm>
            <a:off x="609600" y="3762375"/>
            <a:ext cx="107632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People and equipment</a:t>
            </a:r>
          </a:p>
        </p:txBody>
      </p:sp>
      <p:sp>
        <p:nvSpPr>
          <p:cNvPr id="9" name="Rectangle 8">
            <a:extLst>
              <a:ext uri="{FF2B5EF4-FFF2-40B4-BE49-F238E27FC236}">
                <a16:creationId xmlns:a16="http://schemas.microsoft.com/office/drawing/2014/main" id="{9695021B-A689-4642-B5A3-689E92BC2F0D}"/>
              </a:ext>
            </a:extLst>
          </p:cNvPr>
          <p:cNvSpPr>
            <a:spLocks noGrp="1"/>
          </p:cNvSpPr>
          <p:nvPr/>
        </p:nvSpPr>
        <p:spPr>
          <a:xfrm>
            <a:off x="609600" y="4133850"/>
            <a:ext cx="107632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Assessed crews, T-shirts, photo ID cards, PPE and tested capture tools.</a:t>
            </a:r>
          </a:p>
        </p:txBody>
      </p:sp>
      <p:sp>
        <p:nvSpPr>
          <p:cNvPr id="10" name="Rectangle 9">
            <a:extLst>
              <a:ext uri="{FF2B5EF4-FFF2-40B4-BE49-F238E27FC236}">
                <a16:creationId xmlns:a16="http://schemas.microsoft.com/office/drawing/2014/main" id="{6F440902-7A44-4A98-9CC9-3BE7C79E6A25}"/>
              </a:ext>
            </a:extLst>
          </p:cNvPr>
          <p:cNvSpPr>
            <a:spLocks noGrp="1"/>
          </p:cNvSpPr>
          <p:nvPr/>
        </p:nvSpPr>
        <p:spPr>
          <a:xfrm>
            <a:off x="609600" y="4733925"/>
            <a:ext cx="107632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A confirmed appointment</a:t>
            </a:r>
          </a:p>
        </p:txBody>
      </p:sp>
      <p:sp>
        <p:nvSpPr>
          <p:cNvPr id="11" name="Rectangle 10">
            <a:extLst>
              <a:ext uri="{FF2B5EF4-FFF2-40B4-BE49-F238E27FC236}">
                <a16:creationId xmlns:a16="http://schemas.microsoft.com/office/drawing/2014/main" id="{22E4FEB6-CC1D-4D61-B507-A9481D46061B}"/>
              </a:ext>
            </a:extLst>
          </p:cNvPr>
          <p:cNvSpPr>
            <a:spLocks noGrp="1"/>
          </p:cNvSpPr>
          <p:nvPr/>
        </p:nvSpPr>
        <p:spPr>
          <a:xfrm>
            <a:off x="609600" y="5105400"/>
            <a:ext cx="107632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Signed depot readiness, confirmed stock and a named depot representative.</a:t>
            </a:r>
          </a:p>
        </p:txBody>
      </p:sp>
      <p:sp>
        <p:nvSpPr>
          <p:cNvPr id="12" name="Rectangle 11">
            <a:extLst>
              <a:ext uri="{FF2B5EF4-FFF2-40B4-BE49-F238E27FC236}">
                <a16:creationId xmlns:a16="http://schemas.microsoft.com/office/drawing/2014/main" id="{7F60ECEE-70E6-4F1E-AE6B-A5E082132815}"/>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Dispatch follows readiness approval, an agreed commercial ceiling and mobilisation terms.</a:t>
            </a:r>
          </a:p>
        </p:txBody>
      </p:sp>
    </p:spTree>
    <p:extLst>
      <p:ext uri="{BB962C8B-B14F-4D97-AF65-F5344CB8AC3E}">
        <p14:creationId xmlns:p14="http://schemas.microsoft.com/office/powerpoint/2010/main" val="1186099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6F0C549-6B27-484C-84A4-C16A6BE424C2}"/>
              </a:ext>
            </a:extLst>
          </p:cNvPr>
          <p:cNvSpPr>
            <a:spLocks noGrp="1"/>
          </p:cNvSpPr>
          <p:nvPr/>
        </p:nvSpPr>
        <p:spPr>
          <a:xfrm>
            <a:off x="609600" y="266700"/>
            <a:ext cx="3810000" cy="342900"/>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38E5C3B6-FE74-49A5-B802-6DA6B6D69DDC}"/>
              </a:ext>
            </a:extLst>
          </p:cNvPr>
          <p:cNvSpPr>
            <a:spLocks noGrp="1"/>
          </p:cNvSpPr>
          <p:nvPr/>
        </p:nvSpPr>
        <p:spPr>
          <a:xfrm>
            <a:off x="609600" y="885825"/>
            <a:ext cx="10972800" cy="990600"/>
          </a:xfrm>
          <a:prstGeom prst="rect">
            <a:avLst/>
          </a:prstGeom>
          <a:noFill/>
          <a:ln w="0">
            <a:noFill/>
          </a:ln>
        </p:spPr>
        <p:txBody>
          <a:bodyPr>
            <a:noAutofit/>
          </a:bodyPr>
          <a:lstStyle/>
          <a:p>
            <a:pPr>
              <a:defRPr sz="3000" b="1">
                <a:solidFill>
                  <a:srgbClr val="303030"/>
                </a:solidFill>
                <a:latin typeface="DejaVu Sans"/>
                <a:ea typeface="DejaVu Sans"/>
                <a:cs typeface="DejaVu Sans"/>
              </a:defRPr>
            </a:pPr>
            <a:r>
              <a:rPr sz="3000" b="1">
                <a:solidFill>
                  <a:srgbClr val="303030"/>
                </a:solidFill>
                <a:latin typeface="DejaVu Sans"/>
                <a:ea typeface="DejaVu Sans"/>
                <a:cs typeface="DejaVu Sans"/>
              </a:rPr>
              <a:t>Depot recce before mobilisation</a:t>
            </a:r>
          </a:p>
        </p:txBody>
      </p:sp>
      <p:sp>
        <p:nvSpPr>
          <p:cNvPr id="3" name="Rectangle 2">
            <a:extLst>
              <a:ext uri="{FF2B5EF4-FFF2-40B4-BE49-F238E27FC236}">
                <a16:creationId xmlns:a16="http://schemas.microsoft.com/office/drawing/2014/main" id="{B8D23CF3-9D34-461F-B91E-B8CDDF4E5AF0}"/>
              </a:ext>
            </a:extLst>
          </p:cNvPr>
          <p:cNvSpPr>
            <a:spLocks noGrp="1"/>
          </p:cNvSpPr>
          <p:nvPr/>
        </p:nvSpPr>
        <p:spPr>
          <a:xfrm>
            <a:off x="609600" y="1847850"/>
            <a:ext cx="10972800" cy="609600"/>
          </a:xfrm>
          <a:prstGeom prst="rect">
            <a:avLst/>
          </a:prstGeom>
          <a:noFill/>
          <a:ln w="0">
            <a:noFill/>
          </a:ln>
        </p:spPr>
        <p:txBody>
          <a:bodyPr>
            <a:noAutofit/>
          </a:bodyPr>
          <a:lstStyle/>
          <a:p>
            <a:pPr>
              <a:defRPr sz="1650" b="0">
                <a:solidFill>
                  <a:srgbClr val="5E5E5E"/>
                </a:solidFill>
                <a:latin typeface="DejaVu Sans"/>
                <a:ea typeface="DejaVu Sans"/>
                <a:cs typeface="DejaVu Sans"/>
              </a:defRPr>
            </a:pPr>
            <a:r>
              <a:rPr sz="1650" b="0">
                <a:solidFill>
                  <a:srgbClr val="5E5E5E"/>
                </a:solidFill>
                <a:latin typeface="DejaVu Sans"/>
                <a:ea typeface="DejaVu Sans"/>
                <a:cs typeface="DejaVu Sans"/>
              </a:rPr>
              <a:t>Regional and cluster supervisors inspect every assigned depot with the distributor representative.</a:t>
            </a:r>
          </a:p>
        </p:txBody>
      </p:sp>
      <p:sp>
        <p:nvSpPr>
          <p:cNvPr id="4" name="Rectangle 3">
            <a:extLst>
              <a:ext uri="{FF2B5EF4-FFF2-40B4-BE49-F238E27FC236}">
                <a16:creationId xmlns:a16="http://schemas.microsoft.com/office/drawing/2014/main" id="{884C5C7B-31B3-4034-BCF1-CAB4FE2794E0}"/>
              </a:ext>
            </a:extLst>
          </p:cNvPr>
          <p:cNvSpPr>
            <a:spLocks noGrp="1"/>
          </p:cNvSpPr>
          <p:nvPr/>
        </p:nvSpPr>
        <p:spPr>
          <a:xfrm>
            <a:off x="609600" y="26860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Access and location</a:t>
            </a:r>
          </a:p>
        </p:txBody>
      </p:sp>
      <p:sp>
        <p:nvSpPr>
          <p:cNvPr id="5" name="Rectangle 4">
            <a:extLst>
              <a:ext uri="{FF2B5EF4-FFF2-40B4-BE49-F238E27FC236}">
                <a16:creationId xmlns:a16="http://schemas.microsoft.com/office/drawing/2014/main" id="{0E0ECEDC-2016-465B-B341-9F2403D19DCA}"/>
              </a:ext>
            </a:extLst>
          </p:cNvPr>
          <p:cNvSpPr>
            <a:spLocks noGrp="1"/>
          </p:cNvSpPr>
          <p:nvPr/>
        </p:nvSpPr>
        <p:spPr>
          <a:xfrm>
            <a:off x="4029075" y="26860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Verify the GPS pin, opening hours, contact person, travel route and vehicle access.</a:t>
            </a:r>
          </a:p>
        </p:txBody>
      </p:sp>
      <p:sp>
        <p:nvSpPr>
          <p:cNvPr id="6" name="Rectangle 5">
            <a:extLst>
              <a:ext uri="{FF2B5EF4-FFF2-40B4-BE49-F238E27FC236}">
                <a16:creationId xmlns:a16="http://schemas.microsoft.com/office/drawing/2014/main" id="{1FAEC711-D89C-47AB-9848-F6B7742EF47A}"/>
              </a:ext>
            </a:extLst>
          </p:cNvPr>
          <p:cNvSpPr>
            <a:spLocks noGrp="1"/>
          </p:cNvSpPr>
          <p:nvPr/>
        </p:nvSpPr>
        <p:spPr>
          <a:xfrm>
            <a:off x="609600" y="35052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Stock and workspace</a:t>
            </a:r>
          </a:p>
        </p:txBody>
      </p:sp>
      <p:sp>
        <p:nvSpPr>
          <p:cNvPr id="7" name="Rectangle 6">
            <a:extLst>
              <a:ext uri="{FF2B5EF4-FFF2-40B4-BE49-F238E27FC236}">
                <a16:creationId xmlns:a16="http://schemas.microsoft.com/office/drawing/2014/main" id="{54E79E55-B63E-4D26-82A7-62256B0013EA}"/>
              </a:ext>
            </a:extLst>
          </p:cNvPr>
          <p:cNvSpPr>
            <a:spLocks noGrp="1"/>
          </p:cNvSpPr>
          <p:nvPr/>
        </p:nvSpPr>
        <p:spPr>
          <a:xfrm>
            <a:off x="4029075" y="35052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Estimate stock by SKU and batch. Confirm sorting space, lighting, ventilation and safe movement.</a:t>
            </a:r>
          </a:p>
        </p:txBody>
      </p:sp>
      <p:sp>
        <p:nvSpPr>
          <p:cNvPr id="8" name="Rectangle 7">
            <a:extLst>
              <a:ext uri="{FF2B5EF4-FFF2-40B4-BE49-F238E27FC236}">
                <a16:creationId xmlns:a16="http://schemas.microsoft.com/office/drawing/2014/main" id="{2D384821-93D8-42C1-8647-56C10F040EC9}"/>
              </a:ext>
            </a:extLst>
          </p:cNvPr>
          <p:cNvSpPr>
            <a:spLocks noGrp="1"/>
          </p:cNvSpPr>
          <p:nvPr/>
        </p:nvSpPr>
        <p:spPr>
          <a:xfrm>
            <a:off x="609600" y="43243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Control and connectivity</a:t>
            </a:r>
          </a:p>
        </p:txBody>
      </p:sp>
      <p:sp>
        <p:nvSpPr>
          <p:cNvPr id="9" name="Rectangle 8">
            <a:extLst>
              <a:ext uri="{FF2B5EF4-FFF2-40B4-BE49-F238E27FC236}">
                <a16:creationId xmlns:a16="http://schemas.microsoft.com/office/drawing/2014/main" id="{966AB244-A754-4385-A9AC-AA7D68114694}"/>
              </a:ext>
            </a:extLst>
          </p:cNvPr>
          <p:cNvSpPr>
            <a:spLocks noGrp="1"/>
          </p:cNvSpPr>
          <p:nvPr/>
        </p:nvSpPr>
        <p:spPr>
          <a:xfrm>
            <a:off x="4029075" y="43243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Agree secure holding zones, available PPE, power, phone signal and offline capture needs.</a:t>
            </a:r>
          </a:p>
        </p:txBody>
      </p:sp>
      <p:sp>
        <p:nvSpPr>
          <p:cNvPr id="10" name="Rectangle 9">
            <a:extLst>
              <a:ext uri="{FF2B5EF4-FFF2-40B4-BE49-F238E27FC236}">
                <a16:creationId xmlns:a16="http://schemas.microsoft.com/office/drawing/2014/main" id="{80AD8DE6-5CD0-4ACF-B327-496B2A49CA7A}"/>
              </a:ext>
            </a:extLst>
          </p:cNvPr>
          <p:cNvSpPr>
            <a:spLocks noGrp="1"/>
          </p:cNvSpPr>
          <p:nvPr/>
        </p:nvSpPr>
        <p:spPr>
          <a:xfrm>
            <a:off x="609600" y="51435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Readiness decision</a:t>
            </a:r>
          </a:p>
        </p:txBody>
      </p:sp>
      <p:sp>
        <p:nvSpPr>
          <p:cNvPr id="11" name="Rectangle 10">
            <a:extLst>
              <a:ext uri="{FF2B5EF4-FFF2-40B4-BE49-F238E27FC236}">
                <a16:creationId xmlns:a16="http://schemas.microsoft.com/office/drawing/2014/main" id="{18EC092D-49D9-4896-B429-FE66CF47C373}"/>
              </a:ext>
            </a:extLst>
          </p:cNvPr>
          <p:cNvSpPr>
            <a:spLocks noGrp="1"/>
          </p:cNvSpPr>
          <p:nvPr/>
        </p:nvSpPr>
        <p:spPr>
          <a:xfrm>
            <a:off x="4029075" y="51435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Upload dated photos and a recce checklist. Assign each gap an owner and deadline.</a:t>
            </a:r>
          </a:p>
        </p:txBody>
      </p:sp>
      <p:sp>
        <p:nvSpPr>
          <p:cNvPr id="12" name="Rectangle 11">
            <a:extLst>
              <a:ext uri="{FF2B5EF4-FFF2-40B4-BE49-F238E27FC236}">
                <a16:creationId xmlns:a16="http://schemas.microsoft.com/office/drawing/2014/main" id="{15088FE0-6F6E-4158-8C76-2D73926D1BEB}"/>
              </a:ext>
            </a:extLst>
          </p:cNvPr>
          <p:cNvSpPr>
            <a:spLocks noGrp="1"/>
          </p:cNvSpPr>
          <p:nvPr/>
        </p:nvSpPr>
        <p:spPr>
          <a:xfrm>
            <a:off x="609600" y="6238875"/>
            <a:ext cx="10953750" cy="361950"/>
          </a:xfrm>
          <a:prstGeom prst="rect">
            <a:avLst/>
          </a:prstGeom>
          <a:noFill/>
          <a:ln w="0">
            <a:noFill/>
          </a:ln>
        </p:spPr>
        <p:txBody>
          <a:bodyPr>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Dispatch follows regional readiness sign-off. Critical access or safety gaps keep the depot on hold.</a:t>
            </a:r>
          </a:p>
        </p:txBody>
      </p:sp>
    </p:spTree>
    <p:extLst>
      <p:ext uri="{BB962C8B-B14F-4D97-AF65-F5344CB8AC3E}">
        <p14:creationId xmlns:p14="http://schemas.microsoft.com/office/powerpoint/2010/main" val="77351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383DB2-A073-4CC9-8EC1-2727A1DBB339}"/>
              </a:ext>
            </a:extLst>
          </p:cNvPr>
          <p:cNvSpPr>
            <a:spLocks noGrp="1"/>
          </p:cNvSpPr>
          <p:nvPr/>
        </p:nvSpPr>
        <p:spPr>
          <a:xfrm>
            <a:off x="609600" y="247650"/>
            <a:ext cx="3810000" cy="333375"/>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74E0F1C5-0167-4740-922F-0EF3F32E9546}"/>
              </a:ext>
            </a:extLst>
          </p:cNvPr>
          <p:cNvSpPr>
            <a:spLocks noGrp="1"/>
          </p:cNvSpPr>
          <p:nvPr/>
        </p:nvSpPr>
        <p:spPr>
          <a:xfrm>
            <a:off x="609600" y="790575"/>
            <a:ext cx="11049000" cy="1238250"/>
          </a:xfrm>
          <a:prstGeom prst="rect">
            <a:avLst/>
          </a:prstGeom>
          <a:noFill/>
          <a:ln w="0">
            <a:noFill/>
          </a:ln>
        </p:spPr>
        <p:txBody>
          <a:bodyPr>
            <a:noAutofit/>
          </a:bodyPr>
          <a:lstStyle/>
          <a:p>
            <a:pPr>
              <a:defRPr sz="2925" b="1">
                <a:solidFill>
                  <a:srgbClr val="303030"/>
                </a:solidFill>
                <a:latin typeface="DejaVu Sans"/>
                <a:ea typeface="DejaVu Sans"/>
                <a:cs typeface="DejaVu Sans"/>
              </a:defRPr>
            </a:pPr>
            <a:r>
              <a:rPr sz="2925" b="1">
                <a:solidFill>
                  <a:srgbClr val="303030"/>
                </a:solidFill>
                <a:latin typeface="DejaVu Sans"/>
                <a:ea typeface="DejaVu Sans"/>
                <a:cs typeface="DejaVu Sans"/>
              </a:rPr>
              <a:t>A dedicated QC person at every distributor</a:t>
            </a:r>
          </a:p>
        </p:txBody>
      </p:sp>
      <p:sp>
        <p:nvSpPr>
          <p:cNvPr id="3" name="Rectangle 2">
            <a:extLst>
              <a:ext uri="{FF2B5EF4-FFF2-40B4-BE49-F238E27FC236}">
                <a16:creationId xmlns:a16="http://schemas.microsoft.com/office/drawing/2014/main" id="{B980DAD4-11E6-4B02-AB0F-DC8948352786}"/>
              </a:ext>
            </a:extLst>
          </p:cNvPr>
          <p:cNvSpPr>
            <a:spLocks noGrp="1"/>
          </p:cNvSpPr>
          <p:nvPr/>
        </p:nvSpPr>
        <p:spPr>
          <a:xfrm>
            <a:off x="609600" y="1533525"/>
            <a:ext cx="10953750" cy="571500"/>
          </a:xfrm>
          <a:prstGeom prst="rect">
            <a:avLst/>
          </a:prstGeom>
          <a:noFill/>
          <a:ln w="0">
            <a:noFill/>
          </a:ln>
        </p:spPr>
        <p:txBody>
          <a:bodyPr>
            <a:noAutofit/>
          </a:bodyPr>
          <a:lstStyle/>
          <a:p>
            <a:pPr>
              <a:defRPr sz="1575" b="0">
                <a:solidFill>
                  <a:srgbClr val="5E5E5E"/>
                </a:solidFill>
                <a:latin typeface="DejaVu Sans"/>
                <a:ea typeface="DejaVu Sans"/>
                <a:cs typeface="DejaVu Sans"/>
              </a:defRPr>
            </a:pPr>
            <a:r>
              <a:rPr sz="1575" b="0">
                <a:solidFill>
                  <a:srgbClr val="5E5E5E"/>
                </a:solidFill>
                <a:latin typeface="DejaVu Sans"/>
                <a:ea typeface="DejaVu Sans"/>
                <a:cs typeface="DejaVu Sans"/>
              </a:rPr>
              <a:t>A regional chain of accountability supports the entire distributor network.</a:t>
            </a:r>
          </a:p>
        </p:txBody>
      </p:sp>
      <p:sp>
        <p:nvSpPr>
          <p:cNvPr id="4" name="Rectangle 3">
            <a:extLst>
              <a:ext uri="{FF2B5EF4-FFF2-40B4-BE49-F238E27FC236}">
                <a16:creationId xmlns:a16="http://schemas.microsoft.com/office/drawing/2014/main" id="{C8EB0EE2-8C29-4280-8417-F2D9A84ADC35}"/>
              </a:ext>
            </a:extLst>
          </p:cNvPr>
          <p:cNvSpPr>
            <a:spLocks noGrp="1"/>
          </p:cNvSpPr>
          <p:nvPr/>
        </p:nvSpPr>
        <p:spPr>
          <a:xfrm>
            <a:off x="609600" y="238125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1 QC person</a:t>
            </a:r>
          </a:p>
        </p:txBody>
      </p:sp>
      <p:sp>
        <p:nvSpPr>
          <p:cNvPr id="5" name="Rectangle 4">
            <a:extLst>
              <a:ext uri="{FF2B5EF4-FFF2-40B4-BE49-F238E27FC236}">
                <a16:creationId xmlns:a16="http://schemas.microsoft.com/office/drawing/2014/main" id="{ABCC18B6-4620-4FEF-9BBC-7AC92DE55AA3}"/>
              </a:ext>
            </a:extLst>
          </p:cNvPr>
          <p:cNvSpPr>
            <a:spLocks noGrp="1"/>
          </p:cNvSpPr>
          <p:nvPr/>
        </p:nvSpPr>
        <p:spPr>
          <a:xfrm>
            <a:off x="4000500" y="238125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Assigned to each distributor for inspection, evidence capture and reconciliation.</a:t>
            </a:r>
          </a:p>
        </p:txBody>
      </p:sp>
      <p:sp>
        <p:nvSpPr>
          <p:cNvPr id="6" name="Rectangle 5">
            <a:extLst>
              <a:ext uri="{FF2B5EF4-FFF2-40B4-BE49-F238E27FC236}">
                <a16:creationId xmlns:a16="http://schemas.microsoft.com/office/drawing/2014/main" id="{8F7D4B5A-38EA-4B2D-8C33-8EA6903B80F3}"/>
              </a:ext>
            </a:extLst>
          </p:cNvPr>
          <p:cNvSpPr>
            <a:spLocks noGrp="1"/>
          </p:cNvSpPr>
          <p:nvPr/>
        </p:nvSpPr>
        <p:spPr>
          <a:xfrm>
            <a:off x="609600" y="328612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1 cluster supervisor</a:t>
            </a:r>
          </a:p>
        </p:txBody>
      </p:sp>
      <p:sp>
        <p:nvSpPr>
          <p:cNvPr id="7" name="Rectangle 6">
            <a:extLst>
              <a:ext uri="{FF2B5EF4-FFF2-40B4-BE49-F238E27FC236}">
                <a16:creationId xmlns:a16="http://schemas.microsoft.com/office/drawing/2014/main" id="{CDC2ABEF-1A40-49E0-9E27-E718EAD3CE77}"/>
              </a:ext>
            </a:extLst>
          </p:cNvPr>
          <p:cNvSpPr>
            <a:spLocks noGrp="1"/>
          </p:cNvSpPr>
          <p:nvPr/>
        </p:nvSpPr>
        <p:spPr>
          <a:xfrm>
            <a:off x="4000500" y="328612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For every five distributors, within the same region.</a:t>
            </a:r>
          </a:p>
        </p:txBody>
      </p:sp>
      <p:sp>
        <p:nvSpPr>
          <p:cNvPr id="8" name="Rectangle 7">
            <a:extLst>
              <a:ext uri="{FF2B5EF4-FFF2-40B4-BE49-F238E27FC236}">
                <a16:creationId xmlns:a16="http://schemas.microsoft.com/office/drawing/2014/main" id="{E7BDA68E-C704-41E7-8CBB-2B4F184B8FFE}"/>
              </a:ext>
            </a:extLst>
          </p:cNvPr>
          <p:cNvSpPr>
            <a:spLocks noGrp="1"/>
          </p:cNvSpPr>
          <p:nvPr/>
        </p:nvSpPr>
        <p:spPr>
          <a:xfrm>
            <a:off x="609600" y="419100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1 regional supervisor</a:t>
            </a:r>
          </a:p>
        </p:txBody>
      </p:sp>
      <p:sp>
        <p:nvSpPr>
          <p:cNvPr id="9" name="Rectangle 8">
            <a:extLst>
              <a:ext uri="{FF2B5EF4-FFF2-40B4-BE49-F238E27FC236}">
                <a16:creationId xmlns:a16="http://schemas.microsoft.com/office/drawing/2014/main" id="{728EA41B-E4C6-4C2F-85D2-642D37DF734F}"/>
              </a:ext>
            </a:extLst>
          </p:cNvPr>
          <p:cNvSpPr>
            <a:spLocks noGrp="1"/>
          </p:cNvSpPr>
          <p:nvPr/>
        </p:nvSpPr>
        <p:spPr>
          <a:xfrm>
            <a:off x="4000500" y="419100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For each region, coordinating all cluster supervisors.</a:t>
            </a:r>
          </a:p>
        </p:txBody>
      </p:sp>
      <p:sp>
        <p:nvSpPr>
          <p:cNvPr id="10" name="Rectangle 9">
            <a:extLst>
              <a:ext uri="{FF2B5EF4-FFF2-40B4-BE49-F238E27FC236}">
                <a16:creationId xmlns:a16="http://schemas.microsoft.com/office/drawing/2014/main" id="{DEEA5536-E29D-4C7B-BAFE-776A48DE063B}"/>
              </a:ext>
            </a:extLst>
          </p:cNvPr>
          <p:cNvSpPr>
            <a:spLocks noGrp="1"/>
          </p:cNvSpPr>
          <p:nvPr/>
        </p:nvSpPr>
        <p:spPr>
          <a:xfrm>
            <a:off x="609600" y="509587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National leadership</a:t>
            </a:r>
          </a:p>
        </p:txBody>
      </p:sp>
      <p:sp>
        <p:nvSpPr>
          <p:cNvPr id="11" name="Rectangle 10">
            <a:extLst>
              <a:ext uri="{FF2B5EF4-FFF2-40B4-BE49-F238E27FC236}">
                <a16:creationId xmlns:a16="http://schemas.microsoft.com/office/drawing/2014/main" id="{C8E24194-C506-4B00-ADB0-AE36901A9BD5}"/>
              </a:ext>
            </a:extLst>
          </p:cNvPr>
          <p:cNvSpPr>
            <a:spLocks noGrp="1"/>
          </p:cNvSpPr>
          <p:nvPr/>
        </p:nvSpPr>
        <p:spPr>
          <a:xfrm>
            <a:off x="4000500" y="509587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A National Operations Manager coordinates regional delivery.</a:t>
            </a:r>
          </a:p>
        </p:txBody>
      </p:sp>
    </p:spTree>
    <p:extLst>
      <p:ext uri="{BB962C8B-B14F-4D97-AF65-F5344CB8AC3E}">
        <p14:creationId xmlns:p14="http://schemas.microsoft.com/office/powerpoint/2010/main" val="1006153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4539E04-BF6B-43A3-AE55-944C7CE9A059}"/>
              </a:ext>
            </a:extLst>
          </p:cNvPr>
          <p:cNvSpPr>
            <a:spLocks noGrp="1"/>
          </p:cNvSpPr>
          <p:nvPr/>
        </p:nvSpPr>
        <p:spPr>
          <a:xfrm>
            <a:off x="609600" y="247650"/>
            <a:ext cx="3810000" cy="333375"/>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76891F2B-D463-4933-94FF-2A1AA1209EA3}"/>
              </a:ext>
            </a:extLst>
          </p:cNvPr>
          <p:cNvSpPr>
            <a:spLocks noGrp="1"/>
          </p:cNvSpPr>
          <p:nvPr/>
        </p:nvSpPr>
        <p:spPr>
          <a:xfrm>
            <a:off x="609600" y="790575"/>
            <a:ext cx="11049000" cy="1238250"/>
          </a:xfrm>
          <a:prstGeom prst="rect">
            <a:avLst/>
          </a:prstGeom>
          <a:noFill/>
          <a:ln w="0">
            <a:noFill/>
          </a:ln>
        </p:spPr>
        <p:txBody>
          <a:bodyPr>
            <a:noAutofit/>
          </a:bodyPr>
          <a:lstStyle/>
          <a:p>
            <a:pPr>
              <a:defRPr sz="2925" b="1">
                <a:solidFill>
                  <a:srgbClr val="303030"/>
                </a:solidFill>
                <a:latin typeface="DejaVu Sans"/>
                <a:ea typeface="DejaVu Sans"/>
                <a:cs typeface="DejaVu Sans"/>
              </a:defRPr>
            </a:pPr>
            <a:r>
              <a:rPr sz="2925" b="1">
                <a:solidFill>
                  <a:srgbClr val="303030"/>
                </a:solidFill>
                <a:latin typeface="DejaVu Sans"/>
                <a:ea typeface="DejaVu Sans"/>
                <a:cs typeface="DejaVu Sans"/>
              </a:rPr>
              <a:t>National organisation chart</a:t>
            </a:r>
          </a:p>
        </p:txBody>
      </p:sp>
      <p:sp>
        <p:nvSpPr>
          <p:cNvPr id="3" name="Rectangle 2">
            <a:extLst>
              <a:ext uri="{FF2B5EF4-FFF2-40B4-BE49-F238E27FC236}">
                <a16:creationId xmlns:a16="http://schemas.microsoft.com/office/drawing/2014/main" id="{33DCCC9C-A1C1-4803-9D90-30190B922DC6}"/>
              </a:ext>
            </a:extLst>
          </p:cNvPr>
          <p:cNvSpPr>
            <a:spLocks noGrp="1"/>
          </p:cNvSpPr>
          <p:nvPr/>
        </p:nvSpPr>
        <p:spPr>
          <a:xfrm>
            <a:off x="609600" y="1533525"/>
            <a:ext cx="10953750" cy="571500"/>
          </a:xfrm>
          <a:prstGeom prst="rect">
            <a:avLst/>
          </a:prstGeom>
          <a:noFill/>
          <a:ln w="0">
            <a:noFill/>
          </a:ln>
        </p:spPr>
        <p:txBody>
          <a:bodyPr>
            <a:noAutofit/>
          </a:bodyPr>
          <a:lstStyle/>
          <a:p>
            <a:pPr>
              <a:defRPr sz="1575" b="0">
                <a:solidFill>
                  <a:srgbClr val="5E5E5E"/>
                </a:solidFill>
                <a:latin typeface="DejaVu Sans"/>
                <a:ea typeface="DejaVu Sans"/>
                <a:cs typeface="DejaVu Sans"/>
              </a:defRPr>
            </a:pPr>
            <a:r>
              <a:rPr sz="1575" b="0">
                <a:solidFill>
                  <a:srgbClr val="5E5E5E"/>
                </a:solidFill>
                <a:latin typeface="DejaVu Sans"/>
                <a:ea typeface="DejaVu Sans"/>
                <a:cs typeface="DejaVu Sans"/>
              </a:rPr>
              <a:t>Operational reporting runs through regional supervisors. GBfoods retains quality disposition authority.</a:t>
            </a:r>
          </a:p>
        </p:txBody>
      </p:sp>
      <p:sp>
        <p:nvSpPr>
          <p:cNvPr id="4" name="Rectangle 3">
            <a:extLst>
              <a:ext uri="{FF2B5EF4-FFF2-40B4-BE49-F238E27FC236}">
                <a16:creationId xmlns:a16="http://schemas.microsoft.com/office/drawing/2014/main" id="{F2057216-CE57-4F69-95B6-046FFB71C570}"/>
              </a:ext>
            </a:extLst>
          </p:cNvPr>
          <p:cNvSpPr>
            <a:spLocks noGrp="1"/>
          </p:cNvSpPr>
          <p:nvPr/>
        </p:nvSpPr>
        <p:spPr>
          <a:xfrm>
            <a:off x="4000500" y="2133600"/>
            <a:ext cx="4191000" cy="552450"/>
          </a:xfrm>
          <a:prstGeom prst="rect">
            <a:avLst/>
          </a:prstGeom>
          <a:solidFill>
            <a:srgbClr val="FE5000"/>
          </a:solidFill>
          <a:ln w="0">
            <a:noFill/>
          </a:ln>
        </p:spPr>
        <p:txBody>
          <a:bodyPr anchor="ctr">
            <a:noAutofit/>
          </a:bodyPr>
          <a:lstStyle/>
          <a:p>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Project Director</a:t>
            </a:r>
          </a:p>
        </p:txBody>
      </p:sp>
      <p:sp>
        <p:nvSpPr>
          <p:cNvPr id="5" name="Rectangle 4">
            <a:extLst>
              <a:ext uri="{FF2B5EF4-FFF2-40B4-BE49-F238E27FC236}">
                <a16:creationId xmlns:a16="http://schemas.microsoft.com/office/drawing/2014/main" id="{151B6096-3107-4EFE-BE62-69EDADC6C548}"/>
              </a:ext>
            </a:extLst>
          </p:cNvPr>
          <p:cNvSpPr>
            <a:spLocks noGrp="1"/>
          </p:cNvSpPr>
          <p:nvPr/>
        </p:nvSpPr>
        <p:spPr>
          <a:xfrm>
            <a:off x="4000500" y="3000375"/>
            <a:ext cx="4191000" cy="609600"/>
          </a:xfrm>
          <a:prstGeom prst="rect">
            <a:avLst/>
          </a:prstGeom>
          <a:solidFill>
            <a:srgbClr val="FE5000"/>
          </a:solidFill>
          <a:ln w="0">
            <a:noFill/>
          </a:ln>
        </p:spPr>
        <p:txBody>
          <a:bodyPr anchor="ctr">
            <a:noAutofit/>
          </a:bodyPr>
          <a:lstStyle/>
          <a:p>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National Operations Manager</a:t>
            </a:r>
          </a:p>
        </p:txBody>
      </p:sp>
      <p:sp>
        <p:nvSpPr>
          <p:cNvPr id="6" name="Straight Connector 5">
            <a:extLst>
              <a:ext uri="{FF2B5EF4-FFF2-40B4-BE49-F238E27FC236}">
                <a16:creationId xmlns:a16="http://schemas.microsoft.com/office/drawing/2014/main" id="{EA3B9BD7-23AB-47BE-8A76-C17ACDC226C9}"/>
              </a:ext>
            </a:extLst>
          </p:cNvPr>
          <p:cNvSpPr>
            <a:spLocks noGrp="1"/>
          </p:cNvSpPr>
          <p:nvPr/>
        </p:nvSpPr>
        <p:spPr>
          <a:xfrm>
            <a:off x="6096000" y="2686050"/>
            <a:ext cx="0" cy="314325"/>
          </a:xfrm>
          <a:prstGeom prst="line">
            <a:avLst/>
          </a:prstGeom>
          <a:noFill/>
          <a:ln w="19050">
            <a:solidFill>
              <a:srgbClr val="5E5E5E"/>
            </a:solidFill>
          </a:ln>
        </p:spPr>
        <p:txBody>
          <a:bodyPr/>
          <a:lstStyle/>
          <a:p>
            <a:endParaRPr lang="en-GH"/>
          </a:p>
        </p:txBody>
      </p:sp>
      <p:sp>
        <p:nvSpPr>
          <p:cNvPr id="7" name="Rectangle 6">
            <a:extLst>
              <a:ext uri="{FF2B5EF4-FFF2-40B4-BE49-F238E27FC236}">
                <a16:creationId xmlns:a16="http://schemas.microsoft.com/office/drawing/2014/main" id="{BBCD7A64-DA7D-4B67-8FC1-929016F7FEEF}"/>
              </a:ext>
            </a:extLst>
          </p:cNvPr>
          <p:cNvSpPr>
            <a:spLocks noGrp="1"/>
          </p:cNvSpPr>
          <p:nvPr/>
        </p:nvSpPr>
        <p:spPr>
          <a:xfrm>
            <a:off x="609600" y="3000375"/>
            <a:ext cx="2857500" cy="609600"/>
          </a:xfrm>
          <a:prstGeom prst="rect">
            <a:avLst/>
          </a:prstGeom>
          <a:solidFill>
            <a:srgbClr val="5E5E5E"/>
          </a:solidFill>
          <a:ln w="0">
            <a:noFill/>
          </a:ln>
        </p:spPr>
        <p:txBody>
          <a:bodyPr anchor="ctr">
            <a:noAutofit/>
          </a:bodyPr>
          <a:lstStyle/>
          <a:p>
            <a:pPr algn="ctr">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National Quality Lead</a:t>
            </a:r>
          </a:p>
        </p:txBody>
      </p:sp>
      <p:sp>
        <p:nvSpPr>
          <p:cNvPr id="8" name="Rectangle 7">
            <a:extLst>
              <a:ext uri="{FF2B5EF4-FFF2-40B4-BE49-F238E27FC236}">
                <a16:creationId xmlns:a16="http://schemas.microsoft.com/office/drawing/2014/main" id="{1CD086EC-C5B3-4B0F-8995-EE30C5C259F0}"/>
              </a:ext>
            </a:extLst>
          </p:cNvPr>
          <p:cNvSpPr>
            <a:spLocks noGrp="1"/>
          </p:cNvSpPr>
          <p:nvPr/>
        </p:nvSpPr>
        <p:spPr>
          <a:xfrm>
            <a:off x="8763000" y="3000375"/>
            <a:ext cx="2819400" cy="609600"/>
          </a:xfrm>
          <a:prstGeom prst="rect">
            <a:avLst/>
          </a:prstGeom>
          <a:solidFill>
            <a:srgbClr val="5E5E5E"/>
          </a:solidFill>
          <a:ln w="0">
            <a:noFill/>
          </a:ln>
        </p:spPr>
        <p:txBody>
          <a:bodyPr anchor="ctr">
            <a:noAutofit/>
          </a:bodyPr>
          <a:lstStyle/>
          <a:p>
            <a:pPr algn="ctr">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Data &amp; Platform Lead</a:t>
            </a:r>
          </a:p>
        </p:txBody>
      </p:sp>
      <p:sp>
        <p:nvSpPr>
          <p:cNvPr id="9" name="Straight Connector 8">
            <a:extLst>
              <a:ext uri="{FF2B5EF4-FFF2-40B4-BE49-F238E27FC236}">
                <a16:creationId xmlns:a16="http://schemas.microsoft.com/office/drawing/2014/main" id="{B098D0BD-7655-4671-85F5-35F4E4BC88E2}"/>
              </a:ext>
            </a:extLst>
          </p:cNvPr>
          <p:cNvSpPr>
            <a:spLocks noGrp="1"/>
          </p:cNvSpPr>
          <p:nvPr/>
        </p:nvSpPr>
        <p:spPr>
          <a:xfrm>
            <a:off x="3467100" y="3305175"/>
            <a:ext cx="533400" cy="0"/>
          </a:xfrm>
          <a:prstGeom prst="line">
            <a:avLst/>
          </a:prstGeom>
          <a:noFill/>
          <a:ln w="19050">
            <a:solidFill>
              <a:srgbClr val="5E5E5E"/>
            </a:solidFill>
          </a:ln>
        </p:spPr>
        <p:txBody>
          <a:bodyPr/>
          <a:lstStyle/>
          <a:p>
            <a:endParaRPr lang="en-GH"/>
          </a:p>
        </p:txBody>
      </p:sp>
      <p:sp>
        <p:nvSpPr>
          <p:cNvPr id="10" name="Straight Connector 9">
            <a:extLst>
              <a:ext uri="{FF2B5EF4-FFF2-40B4-BE49-F238E27FC236}">
                <a16:creationId xmlns:a16="http://schemas.microsoft.com/office/drawing/2014/main" id="{7FA3E5E6-3751-4F02-BE12-AD7DD0E93236}"/>
              </a:ext>
            </a:extLst>
          </p:cNvPr>
          <p:cNvSpPr>
            <a:spLocks noGrp="1"/>
          </p:cNvSpPr>
          <p:nvPr/>
        </p:nvSpPr>
        <p:spPr>
          <a:xfrm>
            <a:off x="8191500" y="3305175"/>
            <a:ext cx="571500" cy="0"/>
          </a:xfrm>
          <a:prstGeom prst="line">
            <a:avLst/>
          </a:prstGeom>
          <a:noFill/>
          <a:ln w="19050">
            <a:solidFill>
              <a:srgbClr val="5E5E5E"/>
            </a:solidFill>
          </a:ln>
        </p:spPr>
        <p:txBody>
          <a:bodyPr/>
          <a:lstStyle/>
          <a:p>
            <a:endParaRPr lang="en-GH"/>
          </a:p>
        </p:txBody>
      </p:sp>
      <p:sp>
        <p:nvSpPr>
          <p:cNvPr id="11" name="Rectangle 10">
            <a:extLst>
              <a:ext uri="{FF2B5EF4-FFF2-40B4-BE49-F238E27FC236}">
                <a16:creationId xmlns:a16="http://schemas.microsoft.com/office/drawing/2014/main" id="{9E9662E1-2419-4CA2-BF70-84A15A084C05}"/>
              </a:ext>
            </a:extLst>
          </p:cNvPr>
          <p:cNvSpPr>
            <a:spLocks noGrp="1"/>
          </p:cNvSpPr>
          <p:nvPr/>
        </p:nvSpPr>
        <p:spPr>
          <a:xfrm>
            <a:off x="4000500" y="4029075"/>
            <a:ext cx="4191000" cy="600075"/>
          </a:xfrm>
          <a:prstGeom prst="rect">
            <a:avLst/>
          </a:prstGeom>
          <a:solidFill>
            <a:srgbClr val="FE5000"/>
          </a:solidFill>
          <a:ln w="0">
            <a:noFill/>
          </a:ln>
        </p:spPr>
        <p:txBody>
          <a:bodyPr anchor="ctr">
            <a:noAutofit/>
          </a:bodyPr>
          <a:lstStyle/>
          <a:p>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16 Regional Supervisors</a:t>
            </a:r>
          </a:p>
        </p:txBody>
      </p:sp>
      <p:sp>
        <p:nvSpPr>
          <p:cNvPr id="12" name="Straight Connector 11">
            <a:extLst>
              <a:ext uri="{FF2B5EF4-FFF2-40B4-BE49-F238E27FC236}">
                <a16:creationId xmlns:a16="http://schemas.microsoft.com/office/drawing/2014/main" id="{4D4CF8E0-A745-45D2-9D65-03B7C03AC7CF}"/>
              </a:ext>
            </a:extLst>
          </p:cNvPr>
          <p:cNvSpPr>
            <a:spLocks noGrp="1"/>
          </p:cNvSpPr>
          <p:nvPr/>
        </p:nvSpPr>
        <p:spPr>
          <a:xfrm>
            <a:off x="6096000" y="3609975"/>
            <a:ext cx="0" cy="419100"/>
          </a:xfrm>
          <a:prstGeom prst="line">
            <a:avLst/>
          </a:prstGeom>
          <a:noFill/>
          <a:ln w="19050">
            <a:solidFill>
              <a:srgbClr val="5E5E5E"/>
            </a:solidFill>
          </a:ln>
        </p:spPr>
        <p:txBody>
          <a:bodyPr/>
          <a:lstStyle/>
          <a:p>
            <a:endParaRPr lang="en-GH"/>
          </a:p>
        </p:txBody>
      </p:sp>
      <p:sp>
        <p:nvSpPr>
          <p:cNvPr id="13" name="Rectangle 12">
            <a:extLst>
              <a:ext uri="{FF2B5EF4-FFF2-40B4-BE49-F238E27FC236}">
                <a16:creationId xmlns:a16="http://schemas.microsoft.com/office/drawing/2014/main" id="{6114DD08-9E9B-46C1-8C05-7489750170CC}"/>
              </a:ext>
            </a:extLst>
          </p:cNvPr>
          <p:cNvSpPr>
            <a:spLocks noGrp="1"/>
          </p:cNvSpPr>
          <p:nvPr/>
        </p:nvSpPr>
        <p:spPr>
          <a:xfrm>
            <a:off x="3095625" y="5057775"/>
            <a:ext cx="6000750" cy="571500"/>
          </a:xfrm>
          <a:prstGeom prst="rect">
            <a:avLst/>
          </a:prstGeom>
          <a:solidFill>
            <a:srgbClr val="5E5E5E"/>
          </a:solidFill>
          <a:ln w="0">
            <a:noFill/>
          </a:ln>
        </p:spPr>
        <p:txBody>
          <a:bodyPr anchor="ctr">
            <a:noAutofit/>
          </a:bodyPr>
          <a:lstStyle/>
          <a:p>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Cluster supervisors in each region</a:t>
            </a:r>
          </a:p>
        </p:txBody>
      </p:sp>
      <p:sp>
        <p:nvSpPr>
          <p:cNvPr id="14" name="Straight Connector 13">
            <a:extLst>
              <a:ext uri="{FF2B5EF4-FFF2-40B4-BE49-F238E27FC236}">
                <a16:creationId xmlns:a16="http://schemas.microsoft.com/office/drawing/2014/main" id="{5DEB34A0-D5AF-499F-A981-1F06E0FFE385}"/>
              </a:ext>
            </a:extLst>
          </p:cNvPr>
          <p:cNvSpPr>
            <a:spLocks noGrp="1"/>
          </p:cNvSpPr>
          <p:nvPr/>
        </p:nvSpPr>
        <p:spPr>
          <a:xfrm>
            <a:off x="6096000" y="4629150"/>
            <a:ext cx="0" cy="428625"/>
          </a:xfrm>
          <a:prstGeom prst="line">
            <a:avLst/>
          </a:prstGeom>
          <a:noFill/>
          <a:ln w="19050">
            <a:solidFill>
              <a:srgbClr val="5E5E5E"/>
            </a:solidFill>
          </a:ln>
        </p:spPr>
        <p:txBody>
          <a:bodyPr/>
          <a:lstStyle/>
          <a:p>
            <a:endParaRPr lang="en-GH"/>
          </a:p>
        </p:txBody>
      </p:sp>
      <p:sp>
        <p:nvSpPr>
          <p:cNvPr id="15" name="Rectangle 14">
            <a:extLst>
              <a:ext uri="{FF2B5EF4-FFF2-40B4-BE49-F238E27FC236}">
                <a16:creationId xmlns:a16="http://schemas.microsoft.com/office/drawing/2014/main" id="{7BAE5883-D8B1-4A03-A3EA-7BE92810ABA3}"/>
              </a:ext>
            </a:extLst>
          </p:cNvPr>
          <p:cNvSpPr>
            <a:spLocks noGrp="1"/>
          </p:cNvSpPr>
          <p:nvPr/>
        </p:nvSpPr>
        <p:spPr>
          <a:xfrm>
            <a:off x="952500" y="5857875"/>
            <a:ext cx="10382250" cy="609600"/>
          </a:xfrm>
          <a:prstGeom prst="rect">
            <a:avLst/>
          </a:prstGeom>
          <a:noFill/>
          <a:ln w="0">
            <a:noFill/>
          </a:ln>
        </p:spPr>
        <p:txBody>
          <a:bodyPr>
            <a:noAutofit/>
          </a:bodyPr>
          <a:lstStyle/>
          <a:p>
            <a:pPr>
              <a:defRPr sz="1800" b="0">
                <a:solidFill>
                  <a:srgbClr val="5E5E5E"/>
                </a:solidFill>
                <a:latin typeface="DejaVu Sans"/>
                <a:ea typeface="DejaVu Sans"/>
                <a:cs typeface="DejaVu Sans"/>
              </a:defRPr>
            </a:pPr>
            <a:r>
              <a:rPr sz="1800" b="0">
                <a:solidFill>
                  <a:srgbClr val="5E5E5E"/>
                </a:solidFill>
                <a:latin typeface="DejaVu Sans"/>
                <a:ea typeface="DejaVu Sans"/>
                <a:cs typeface="DejaVu Sans"/>
              </a:rPr>
              <a:t>Each cluster supervisor oversees up to 5 distributors and their assigned QC persons.</a:t>
            </a:r>
          </a:p>
        </p:txBody>
      </p:sp>
    </p:spTree>
    <p:extLst>
      <p:ext uri="{BB962C8B-B14F-4D97-AF65-F5344CB8AC3E}">
        <p14:creationId xmlns:p14="http://schemas.microsoft.com/office/powerpoint/2010/main" val="162052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3EDC064-0E6A-4C0D-943A-FB081AEAFCF3}"/>
              </a:ext>
            </a:extLst>
          </p:cNvPr>
          <p:cNvSpPr>
            <a:spLocks noGrp="1"/>
          </p:cNvSpPr>
          <p:nvPr/>
        </p:nvSpPr>
        <p:spPr>
          <a:xfrm>
            <a:off x="609600" y="247650"/>
            <a:ext cx="3810000" cy="333375"/>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59838175-EAAB-4518-A6DC-8A25DA98232C}"/>
              </a:ext>
            </a:extLst>
          </p:cNvPr>
          <p:cNvSpPr>
            <a:spLocks noGrp="1"/>
          </p:cNvSpPr>
          <p:nvPr/>
        </p:nvSpPr>
        <p:spPr>
          <a:xfrm>
            <a:off x="609600" y="790575"/>
            <a:ext cx="11049000" cy="1238250"/>
          </a:xfrm>
          <a:prstGeom prst="rect">
            <a:avLst/>
          </a:prstGeom>
          <a:noFill/>
          <a:ln w="0">
            <a:noFill/>
          </a:ln>
        </p:spPr>
        <p:txBody>
          <a:bodyPr>
            <a:noAutofit/>
          </a:bodyPr>
          <a:lstStyle/>
          <a:p>
            <a:pPr>
              <a:defRPr sz="2925" b="1">
                <a:solidFill>
                  <a:srgbClr val="303030"/>
                </a:solidFill>
                <a:latin typeface="DejaVu Sans"/>
                <a:ea typeface="DejaVu Sans"/>
                <a:cs typeface="DejaVu Sans"/>
              </a:defRPr>
            </a:pPr>
            <a:r>
              <a:rPr sz="2925" b="1">
                <a:solidFill>
                  <a:srgbClr val="303030"/>
                </a:solidFill>
                <a:latin typeface="DejaVu Sans"/>
                <a:ea typeface="DejaVu Sans"/>
                <a:cs typeface="DejaVu Sans"/>
              </a:rPr>
              <a:t>Regional organisation chart</a:t>
            </a:r>
          </a:p>
        </p:txBody>
      </p:sp>
      <p:sp>
        <p:nvSpPr>
          <p:cNvPr id="3" name="Rectangle 2">
            <a:extLst>
              <a:ext uri="{FF2B5EF4-FFF2-40B4-BE49-F238E27FC236}">
                <a16:creationId xmlns:a16="http://schemas.microsoft.com/office/drawing/2014/main" id="{30F5BA8E-2866-47FD-9579-CB8629AACAE6}"/>
              </a:ext>
            </a:extLst>
          </p:cNvPr>
          <p:cNvSpPr>
            <a:spLocks noGrp="1"/>
          </p:cNvSpPr>
          <p:nvPr/>
        </p:nvSpPr>
        <p:spPr>
          <a:xfrm>
            <a:off x="609600" y="1533525"/>
            <a:ext cx="10953750" cy="571500"/>
          </a:xfrm>
          <a:prstGeom prst="rect">
            <a:avLst/>
          </a:prstGeom>
          <a:noFill/>
          <a:ln w="0">
            <a:noFill/>
          </a:ln>
        </p:spPr>
        <p:txBody>
          <a:bodyPr>
            <a:noAutofit/>
          </a:bodyPr>
          <a:lstStyle/>
          <a:p>
            <a:pPr>
              <a:defRPr sz="1575" b="0">
                <a:solidFill>
                  <a:srgbClr val="5E5E5E"/>
                </a:solidFill>
                <a:latin typeface="DejaVu Sans"/>
                <a:ea typeface="DejaVu Sans"/>
                <a:cs typeface="DejaVu Sans"/>
              </a:defRPr>
            </a:pPr>
            <a:r>
              <a:rPr sz="1575" b="0">
                <a:solidFill>
                  <a:srgbClr val="5E5E5E"/>
                </a:solidFill>
                <a:latin typeface="DejaVu Sans"/>
                <a:ea typeface="DejaVu Sans"/>
                <a:cs typeface="DejaVu Sans"/>
              </a:rPr>
              <a:t>The same structure applies in each of Ghana’s 16 regions.</a:t>
            </a:r>
          </a:p>
        </p:txBody>
      </p:sp>
      <p:sp>
        <p:nvSpPr>
          <p:cNvPr id="4" name="Rectangle 3">
            <a:extLst>
              <a:ext uri="{FF2B5EF4-FFF2-40B4-BE49-F238E27FC236}">
                <a16:creationId xmlns:a16="http://schemas.microsoft.com/office/drawing/2014/main" id="{AD21B082-09FA-4E2E-AEFC-87A2734E6FB7}"/>
              </a:ext>
            </a:extLst>
          </p:cNvPr>
          <p:cNvSpPr>
            <a:spLocks noGrp="1"/>
          </p:cNvSpPr>
          <p:nvPr/>
        </p:nvSpPr>
        <p:spPr>
          <a:xfrm>
            <a:off x="4095750" y="2133600"/>
            <a:ext cx="4000500" cy="504825"/>
          </a:xfrm>
          <a:prstGeom prst="rect">
            <a:avLst/>
          </a:prstGeom>
          <a:solidFill>
            <a:srgbClr val="5E5E5E"/>
          </a:solidFill>
          <a:ln w="0">
            <a:noFill/>
          </a:ln>
        </p:spPr>
        <p:txBody>
          <a:bodyPr anchor="ctr">
            <a:noAutofit/>
          </a:bodyPr>
          <a:lstStyle/>
          <a:p>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National Operations Manager</a:t>
            </a:r>
          </a:p>
        </p:txBody>
      </p:sp>
      <p:sp>
        <p:nvSpPr>
          <p:cNvPr id="5" name="Rectangle 4">
            <a:extLst>
              <a:ext uri="{FF2B5EF4-FFF2-40B4-BE49-F238E27FC236}">
                <a16:creationId xmlns:a16="http://schemas.microsoft.com/office/drawing/2014/main" id="{6CBFE40C-D1BA-4A93-8F4D-0A78CD39C341}"/>
              </a:ext>
            </a:extLst>
          </p:cNvPr>
          <p:cNvSpPr>
            <a:spLocks noGrp="1"/>
          </p:cNvSpPr>
          <p:nvPr/>
        </p:nvSpPr>
        <p:spPr>
          <a:xfrm>
            <a:off x="4095750" y="2990850"/>
            <a:ext cx="4000500" cy="571500"/>
          </a:xfrm>
          <a:prstGeom prst="rect">
            <a:avLst/>
          </a:prstGeom>
          <a:solidFill>
            <a:srgbClr val="FE5000"/>
          </a:solidFill>
          <a:ln w="0">
            <a:noFill/>
          </a:ln>
        </p:spPr>
        <p:txBody>
          <a:bodyPr anchor="ctr">
            <a:noAutofit/>
          </a:bodyPr>
          <a:lstStyle/>
          <a:p>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1 Regional Supervisor</a:t>
            </a:r>
          </a:p>
        </p:txBody>
      </p:sp>
      <p:sp>
        <p:nvSpPr>
          <p:cNvPr id="6" name="Straight Connector 5">
            <a:extLst>
              <a:ext uri="{FF2B5EF4-FFF2-40B4-BE49-F238E27FC236}">
                <a16:creationId xmlns:a16="http://schemas.microsoft.com/office/drawing/2014/main" id="{C519800A-4800-4686-9465-78CA780C9971}"/>
              </a:ext>
            </a:extLst>
          </p:cNvPr>
          <p:cNvSpPr>
            <a:spLocks noGrp="1"/>
          </p:cNvSpPr>
          <p:nvPr/>
        </p:nvSpPr>
        <p:spPr>
          <a:xfrm>
            <a:off x="6096000" y="2638425"/>
            <a:ext cx="0" cy="352425"/>
          </a:xfrm>
          <a:prstGeom prst="line">
            <a:avLst/>
          </a:prstGeom>
          <a:noFill/>
          <a:ln w="19050">
            <a:solidFill>
              <a:srgbClr val="5E5E5E"/>
            </a:solidFill>
          </a:ln>
        </p:spPr>
        <p:txBody>
          <a:bodyPr/>
          <a:lstStyle/>
          <a:p>
            <a:endParaRPr lang="en-GH"/>
          </a:p>
        </p:txBody>
      </p:sp>
      <p:sp>
        <p:nvSpPr>
          <p:cNvPr id="7" name="Rectangle 6">
            <a:extLst>
              <a:ext uri="{FF2B5EF4-FFF2-40B4-BE49-F238E27FC236}">
                <a16:creationId xmlns:a16="http://schemas.microsoft.com/office/drawing/2014/main" id="{2354AB48-FA0D-4D0F-822A-2BDB127DDAB9}"/>
              </a:ext>
            </a:extLst>
          </p:cNvPr>
          <p:cNvSpPr>
            <a:spLocks noGrp="1"/>
          </p:cNvSpPr>
          <p:nvPr/>
        </p:nvSpPr>
        <p:spPr>
          <a:xfrm>
            <a:off x="609600" y="4095750"/>
            <a:ext cx="5095875" cy="552450"/>
          </a:xfrm>
          <a:prstGeom prst="rect">
            <a:avLst/>
          </a:prstGeom>
          <a:solidFill>
            <a:srgbClr val="FE5000"/>
          </a:solidFill>
          <a:ln w="0">
            <a:noFill/>
          </a:ln>
        </p:spPr>
        <p:txBody>
          <a:bodyPr anchor="ctr">
            <a:noAutofit/>
          </a:bodyPr>
          <a:lstStyle/>
          <a:p>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Cluster Supervisor 01</a:t>
            </a:r>
          </a:p>
        </p:txBody>
      </p:sp>
      <p:sp>
        <p:nvSpPr>
          <p:cNvPr id="8" name="Rectangle 7">
            <a:extLst>
              <a:ext uri="{FF2B5EF4-FFF2-40B4-BE49-F238E27FC236}">
                <a16:creationId xmlns:a16="http://schemas.microsoft.com/office/drawing/2014/main" id="{27BE3E3B-F8E0-491E-A110-BA23F6A64727}"/>
              </a:ext>
            </a:extLst>
          </p:cNvPr>
          <p:cNvSpPr>
            <a:spLocks noGrp="1"/>
          </p:cNvSpPr>
          <p:nvPr/>
        </p:nvSpPr>
        <p:spPr>
          <a:xfrm>
            <a:off x="6477000" y="4095750"/>
            <a:ext cx="5105400" cy="552450"/>
          </a:xfrm>
          <a:prstGeom prst="rect">
            <a:avLst/>
          </a:prstGeom>
          <a:solidFill>
            <a:srgbClr val="FE5000"/>
          </a:solidFill>
          <a:ln w="0">
            <a:noFill/>
          </a:ln>
        </p:spPr>
        <p:txBody>
          <a:bodyPr anchor="ctr">
            <a:noAutofit/>
          </a:bodyPr>
          <a:lstStyle/>
          <a:p>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Additional cluster supervisors</a:t>
            </a:r>
          </a:p>
        </p:txBody>
      </p:sp>
      <p:sp>
        <p:nvSpPr>
          <p:cNvPr id="9" name="Straight Connector 8">
            <a:extLst>
              <a:ext uri="{FF2B5EF4-FFF2-40B4-BE49-F238E27FC236}">
                <a16:creationId xmlns:a16="http://schemas.microsoft.com/office/drawing/2014/main" id="{C0FA5C96-C940-42D2-AE3D-53985404A982}"/>
              </a:ext>
            </a:extLst>
          </p:cNvPr>
          <p:cNvSpPr>
            <a:spLocks noGrp="1"/>
          </p:cNvSpPr>
          <p:nvPr/>
        </p:nvSpPr>
        <p:spPr>
          <a:xfrm>
            <a:off x="6096000" y="3562350"/>
            <a:ext cx="0" cy="266700"/>
          </a:xfrm>
          <a:prstGeom prst="line">
            <a:avLst/>
          </a:prstGeom>
          <a:noFill/>
          <a:ln w="19050">
            <a:solidFill>
              <a:srgbClr val="5E5E5E"/>
            </a:solidFill>
          </a:ln>
        </p:spPr>
        <p:txBody>
          <a:bodyPr/>
          <a:lstStyle/>
          <a:p>
            <a:endParaRPr lang="en-GH"/>
          </a:p>
        </p:txBody>
      </p:sp>
      <p:sp>
        <p:nvSpPr>
          <p:cNvPr id="10" name="Straight Connector 9">
            <a:extLst>
              <a:ext uri="{FF2B5EF4-FFF2-40B4-BE49-F238E27FC236}">
                <a16:creationId xmlns:a16="http://schemas.microsoft.com/office/drawing/2014/main" id="{B03057A2-8F8C-4EDB-BAD9-44719F989FB0}"/>
              </a:ext>
            </a:extLst>
          </p:cNvPr>
          <p:cNvSpPr>
            <a:spLocks noGrp="1"/>
          </p:cNvSpPr>
          <p:nvPr/>
        </p:nvSpPr>
        <p:spPr>
          <a:xfrm>
            <a:off x="3143250" y="3829050"/>
            <a:ext cx="5886450" cy="0"/>
          </a:xfrm>
          <a:prstGeom prst="line">
            <a:avLst/>
          </a:prstGeom>
          <a:noFill/>
          <a:ln w="19050">
            <a:solidFill>
              <a:srgbClr val="5E5E5E"/>
            </a:solidFill>
          </a:ln>
        </p:spPr>
        <p:txBody>
          <a:bodyPr/>
          <a:lstStyle/>
          <a:p>
            <a:endParaRPr lang="en-GH"/>
          </a:p>
        </p:txBody>
      </p:sp>
      <p:sp>
        <p:nvSpPr>
          <p:cNvPr id="11" name="Straight Connector 10">
            <a:extLst>
              <a:ext uri="{FF2B5EF4-FFF2-40B4-BE49-F238E27FC236}">
                <a16:creationId xmlns:a16="http://schemas.microsoft.com/office/drawing/2014/main" id="{147CDA0B-9991-4803-B85C-47A241CC128C}"/>
              </a:ext>
            </a:extLst>
          </p:cNvPr>
          <p:cNvSpPr>
            <a:spLocks noGrp="1"/>
          </p:cNvSpPr>
          <p:nvPr/>
        </p:nvSpPr>
        <p:spPr>
          <a:xfrm>
            <a:off x="3143250" y="3829050"/>
            <a:ext cx="0" cy="266700"/>
          </a:xfrm>
          <a:prstGeom prst="line">
            <a:avLst/>
          </a:prstGeom>
          <a:noFill/>
          <a:ln w="19050">
            <a:solidFill>
              <a:srgbClr val="5E5E5E"/>
            </a:solidFill>
          </a:ln>
        </p:spPr>
        <p:txBody>
          <a:bodyPr/>
          <a:lstStyle/>
          <a:p>
            <a:endParaRPr lang="en-GH"/>
          </a:p>
        </p:txBody>
      </p:sp>
      <p:sp>
        <p:nvSpPr>
          <p:cNvPr id="12" name="Straight Connector 11">
            <a:extLst>
              <a:ext uri="{FF2B5EF4-FFF2-40B4-BE49-F238E27FC236}">
                <a16:creationId xmlns:a16="http://schemas.microsoft.com/office/drawing/2014/main" id="{286C6B51-6DAE-498A-8F30-A3FEE46FD734}"/>
              </a:ext>
            </a:extLst>
          </p:cNvPr>
          <p:cNvSpPr>
            <a:spLocks noGrp="1"/>
          </p:cNvSpPr>
          <p:nvPr/>
        </p:nvSpPr>
        <p:spPr>
          <a:xfrm>
            <a:off x="9029700" y="3829050"/>
            <a:ext cx="0" cy="266700"/>
          </a:xfrm>
          <a:prstGeom prst="line">
            <a:avLst/>
          </a:prstGeom>
          <a:noFill/>
          <a:ln w="19050">
            <a:solidFill>
              <a:srgbClr val="5E5E5E"/>
            </a:solidFill>
          </a:ln>
        </p:spPr>
        <p:txBody>
          <a:bodyPr/>
          <a:lstStyle/>
          <a:p>
            <a:endParaRPr lang="en-GH"/>
          </a:p>
        </p:txBody>
      </p:sp>
      <p:sp>
        <p:nvSpPr>
          <p:cNvPr id="13" name="Rectangle 12">
            <a:extLst>
              <a:ext uri="{FF2B5EF4-FFF2-40B4-BE49-F238E27FC236}">
                <a16:creationId xmlns:a16="http://schemas.microsoft.com/office/drawing/2014/main" id="{710AB1BA-EC07-4185-B10F-101658DABBD8}"/>
              </a:ext>
            </a:extLst>
          </p:cNvPr>
          <p:cNvSpPr>
            <a:spLocks noGrp="1"/>
          </p:cNvSpPr>
          <p:nvPr/>
        </p:nvSpPr>
        <p:spPr>
          <a:xfrm>
            <a:off x="609600" y="5114925"/>
            <a:ext cx="5095875" cy="809625"/>
          </a:xfrm>
          <a:prstGeom prst="rect">
            <a:avLst/>
          </a:prstGeom>
          <a:solidFill>
            <a:srgbClr val="F4F4F4"/>
          </a:solidFill>
          <a:ln w="0">
            <a:noFill/>
          </a:ln>
        </p:spPr>
        <p:txBody>
          <a:bodyPr anchor="ctr">
            <a:noAutofit/>
          </a:bodyPr>
          <a:lstStyle/>
          <a:p>
            <a:pPr algn="ctr">
              <a:defRPr sz="1725" b="1">
                <a:solidFill>
                  <a:srgbClr val="303030"/>
                </a:solidFill>
                <a:latin typeface="DejaVu Sans"/>
                <a:ea typeface="DejaVu Sans"/>
                <a:cs typeface="DejaVu Sans"/>
              </a:defRPr>
            </a:pPr>
            <a:r>
              <a:rPr sz="1725" b="1">
                <a:solidFill>
                  <a:srgbClr val="303030"/>
                </a:solidFill>
                <a:latin typeface="DejaVu Sans"/>
                <a:ea typeface="DejaVu Sans"/>
                <a:cs typeface="DejaVu Sans"/>
              </a:rPr>
              <a:t>Distributor 01–05</a:t>
            </a:r>
          </a:p>
          <a:p>
            <a:pPr algn="ctr">
              <a:defRPr sz="1725" b="1">
                <a:solidFill>
                  <a:srgbClr val="303030"/>
                </a:solidFill>
                <a:latin typeface="DejaVu Sans"/>
                <a:ea typeface="DejaVu Sans"/>
                <a:cs typeface="DejaVu Sans"/>
              </a:defRPr>
            </a:pPr>
            <a:r>
              <a:rPr sz="1725" b="1">
                <a:solidFill>
                  <a:srgbClr val="303030"/>
                </a:solidFill>
                <a:latin typeface="DejaVu Sans"/>
                <a:ea typeface="DejaVu Sans"/>
                <a:cs typeface="DejaVu Sans"/>
              </a:rPr>
              <a:t>1 assigned QC person at each</a:t>
            </a:r>
          </a:p>
        </p:txBody>
      </p:sp>
      <p:sp>
        <p:nvSpPr>
          <p:cNvPr id="14" name="Rectangle 13">
            <a:extLst>
              <a:ext uri="{FF2B5EF4-FFF2-40B4-BE49-F238E27FC236}">
                <a16:creationId xmlns:a16="http://schemas.microsoft.com/office/drawing/2014/main" id="{DFB4C87E-84FC-4708-9546-D40DF6A39FE0}"/>
              </a:ext>
            </a:extLst>
          </p:cNvPr>
          <p:cNvSpPr>
            <a:spLocks noGrp="1"/>
          </p:cNvSpPr>
          <p:nvPr/>
        </p:nvSpPr>
        <p:spPr>
          <a:xfrm>
            <a:off x="6477000" y="5114925"/>
            <a:ext cx="5105400" cy="809625"/>
          </a:xfrm>
          <a:prstGeom prst="rect">
            <a:avLst/>
          </a:prstGeom>
          <a:solidFill>
            <a:srgbClr val="F4F4F4"/>
          </a:solidFill>
          <a:ln w="0">
            <a:noFill/>
          </a:ln>
        </p:spPr>
        <p:txBody>
          <a:bodyPr anchor="ctr">
            <a:noAutofit/>
          </a:bodyPr>
          <a:lstStyle/>
          <a:p>
            <a:pPr algn="ctr">
              <a:defRPr sz="1725" b="1">
                <a:solidFill>
                  <a:srgbClr val="303030"/>
                </a:solidFill>
                <a:latin typeface="DejaVu Sans"/>
                <a:ea typeface="DejaVu Sans"/>
                <a:cs typeface="DejaVu Sans"/>
              </a:defRPr>
            </a:pPr>
            <a:r>
              <a:rPr sz="1725" b="1">
                <a:solidFill>
                  <a:srgbClr val="303030"/>
                </a:solidFill>
                <a:latin typeface="DejaVu Sans"/>
                <a:ea typeface="DejaVu Sans"/>
                <a:cs typeface="DejaVu Sans"/>
              </a:rPr>
              <a:t>Next groups of up to 5 distributors</a:t>
            </a:r>
          </a:p>
          <a:p>
            <a:pPr algn="ctr">
              <a:defRPr sz="1725" b="1">
                <a:solidFill>
                  <a:srgbClr val="303030"/>
                </a:solidFill>
                <a:latin typeface="DejaVu Sans"/>
                <a:ea typeface="DejaVu Sans"/>
                <a:cs typeface="DejaVu Sans"/>
              </a:defRPr>
            </a:pPr>
            <a:r>
              <a:rPr sz="1725" b="1">
                <a:solidFill>
                  <a:srgbClr val="303030"/>
                </a:solidFill>
                <a:latin typeface="DejaVu Sans"/>
                <a:ea typeface="DejaVu Sans"/>
                <a:cs typeface="DejaVu Sans"/>
              </a:rPr>
              <a:t>1 assigned QC person at each</a:t>
            </a:r>
          </a:p>
        </p:txBody>
      </p:sp>
      <p:sp>
        <p:nvSpPr>
          <p:cNvPr id="15" name="Straight Connector 14">
            <a:extLst>
              <a:ext uri="{FF2B5EF4-FFF2-40B4-BE49-F238E27FC236}">
                <a16:creationId xmlns:a16="http://schemas.microsoft.com/office/drawing/2014/main" id="{C712AD01-9561-42F8-AD37-0A1596D330D5}"/>
              </a:ext>
            </a:extLst>
          </p:cNvPr>
          <p:cNvSpPr>
            <a:spLocks noGrp="1"/>
          </p:cNvSpPr>
          <p:nvPr/>
        </p:nvSpPr>
        <p:spPr>
          <a:xfrm>
            <a:off x="3143250" y="4648200"/>
            <a:ext cx="0" cy="466725"/>
          </a:xfrm>
          <a:prstGeom prst="line">
            <a:avLst/>
          </a:prstGeom>
          <a:noFill/>
          <a:ln w="19050">
            <a:solidFill>
              <a:srgbClr val="5E5E5E"/>
            </a:solidFill>
          </a:ln>
        </p:spPr>
        <p:txBody>
          <a:bodyPr/>
          <a:lstStyle/>
          <a:p>
            <a:endParaRPr lang="en-GH"/>
          </a:p>
        </p:txBody>
      </p:sp>
      <p:sp>
        <p:nvSpPr>
          <p:cNvPr id="16" name="Straight Connector 15">
            <a:extLst>
              <a:ext uri="{FF2B5EF4-FFF2-40B4-BE49-F238E27FC236}">
                <a16:creationId xmlns:a16="http://schemas.microsoft.com/office/drawing/2014/main" id="{222A40C3-DA17-49AD-AB83-04034A15D07F}"/>
              </a:ext>
            </a:extLst>
          </p:cNvPr>
          <p:cNvSpPr>
            <a:spLocks noGrp="1"/>
          </p:cNvSpPr>
          <p:nvPr/>
        </p:nvSpPr>
        <p:spPr>
          <a:xfrm>
            <a:off x="9029700" y="4648200"/>
            <a:ext cx="0" cy="466725"/>
          </a:xfrm>
          <a:prstGeom prst="line">
            <a:avLst/>
          </a:prstGeom>
          <a:noFill/>
          <a:ln w="19050">
            <a:solidFill>
              <a:srgbClr val="5E5E5E"/>
            </a:solidFill>
          </a:ln>
        </p:spPr>
        <p:txBody>
          <a:bodyPr/>
          <a:lstStyle/>
          <a:p>
            <a:endParaRPr lang="en-GH"/>
          </a:p>
        </p:txBody>
      </p:sp>
      <p:sp>
        <p:nvSpPr>
          <p:cNvPr id="17" name="Rectangle 16">
            <a:extLst>
              <a:ext uri="{FF2B5EF4-FFF2-40B4-BE49-F238E27FC236}">
                <a16:creationId xmlns:a16="http://schemas.microsoft.com/office/drawing/2014/main" id="{E1C45E99-6BB5-467C-864A-5C1C7712C4AD}"/>
              </a:ext>
            </a:extLst>
          </p:cNvPr>
          <p:cNvSpPr>
            <a:spLocks noGrp="1"/>
          </p:cNvSpPr>
          <p:nvPr/>
        </p:nvSpPr>
        <p:spPr>
          <a:xfrm>
            <a:off x="609600" y="6238875"/>
            <a:ext cx="10953750" cy="352425"/>
          </a:xfrm>
          <a:prstGeom prst="rect">
            <a:avLst/>
          </a:prstGeom>
          <a:noFill/>
          <a:ln w="0">
            <a:noFill/>
          </a:ln>
        </p:spPr>
        <p:txBody>
          <a:bodyPr>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Number of cluster supervisors = regional distributor count ÷ 5, rounded up.</a:t>
            </a:r>
          </a:p>
        </p:txBody>
      </p:sp>
    </p:spTree>
    <p:extLst>
      <p:ext uri="{BB962C8B-B14F-4D97-AF65-F5344CB8AC3E}">
        <p14:creationId xmlns:p14="http://schemas.microsoft.com/office/powerpoint/2010/main" val="75100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39DF3B2-A5E6-4B02-A156-3439450AF8CD}"/>
              </a:ext>
            </a:extLst>
          </p:cNvPr>
          <p:cNvSpPr>
            <a:spLocks noGrp="1"/>
          </p:cNvSpPr>
          <p:nvPr/>
        </p:nvSpPr>
        <p:spPr>
          <a:xfrm>
            <a:off x="609600" y="247650"/>
            <a:ext cx="3810000" cy="333375"/>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82B3404B-B346-4C86-AB6E-701445E0A7B2}"/>
              </a:ext>
            </a:extLst>
          </p:cNvPr>
          <p:cNvSpPr>
            <a:spLocks noGrp="1"/>
          </p:cNvSpPr>
          <p:nvPr/>
        </p:nvSpPr>
        <p:spPr>
          <a:xfrm>
            <a:off x="609600" y="790575"/>
            <a:ext cx="11049000" cy="1238250"/>
          </a:xfrm>
          <a:prstGeom prst="rect">
            <a:avLst/>
          </a:prstGeom>
          <a:noFill/>
          <a:ln w="0">
            <a:noFill/>
          </a:ln>
        </p:spPr>
        <p:txBody>
          <a:bodyPr>
            <a:noAutofit/>
          </a:bodyPr>
          <a:lstStyle/>
          <a:p>
            <a:pPr>
              <a:defRPr sz="2925" b="1">
                <a:solidFill>
                  <a:srgbClr val="303030"/>
                </a:solidFill>
                <a:latin typeface="DejaVu Sans"/>
                <a:ea typeface="DejaVu Sans"/>
                <a:cs typeface="DejaVu Sans"/>
              </a:defRPr>
            </a:pPr>
            <a:r>
              <a:rPr sz="2925" b="1">
                <a:solidFill>
                  <a:srgbClr val="303030"/>
                </a:solidFill>
                <a:latin typeface="DejaVu Sans"/>
                <a:ea typeface="DejaVu Sans"/>
                <a:cs typeface="DejaVu Sans"/>
              </a:rPr>
              <a:t>Staffing numbers follow the depot register</a:t>
            </a:r>
          </a:p>
        </p:txBody>
      </p:sp>
      <p:sp>
        <p:nvSpPr>
          <p:cNvPr id="3" name="Rectangle 2">
            <a:extLst>
              <a:ext uri="{FF2B5EF4-FFF2-40B4-BE49-F238E27FC236}">
                <a16:creationId xmlns:a16="http://schemas.microsoft.com/office/drawing/2014/main" id="{DF62D66B-CCBB-46A1-884D-A5011FC3BBF1}"/>
              </a:ext>
            </a:extLst>
          </p:cNvPr>
          <p:cNvSpPr>
            <a:spLocks noGrp="1"/>
          </p:cNvSpPr>
          <p:nvPr/>
        </p:nvSpPr>
        <p:spPr>
          <a:xfrm>
            <a:off x="609600" y="1533525"/>
            <a:ext cx="10953750" cy="571500"/>
          </a:xfrm>
          <a:prstGeom prst="rect">
            <a:avLst/>
          </a:prstGeom>
          <a:noFill/>
          <a:ln w="0">
            <a:noFill/>
          </a:ln>
        </p:spPr>
        <p:txBody>
          <a:bodyPr>
            <a:noAutofit/>
          </a:bodyPr>
          <a:lstStyle/>
          <a:p>
            <a:pPr>
              <a:defRPr sz="1575" b="0">
                <a:solidFill>
                  <a:srgbClr val="5E5E5E"/>
                </a:solidFill>
                <a:latin typeface="DejaVu Sans"/>
                <a:ea typeface="DejaVu Sans"/>
                <a:cs typeface="DejaVu Sans"/>
              </a:defRPr>
            </a:pPr>
            <a:r>
              <a:rPr sz="1575" b="0">
                <a:solidFill>
                  <a:srgbClr val="5E5E5E"/>
                </a:solidFill>
                <a:latin typeface="DejaVu Sans"/>
                <a:ea typeface="DejaVu Sans"/>
                <a:cs typeface="DejaVu Sans"/>
              </a:rPr>
              <a:t>Supervisors are calculated region by region, so each cluster stays within its region.</a:t>
            </a:r>
          </a:p>
        </p:txBody>
      </p:sp>
      <p:sp>
        <p:nvSpPr>
          <p:cNvPr id="4" name="Rectangle 3">
            <a:extLst>
              <a:ext uri="{FF2B5EF4-FFF2-40B4-BE49-F238E27FC236}">
                <a16:creationId xmlns:a16="http://schemas.microsoft.com/office/drawing/2014/main" id="{029E6144-DFCB-4B85-AE6C-FCC807203B54}"/>
              </a:ext>
            </a:extLst>
          </p:cNvPr>
          <p:cNvSpPr>
            <a:spLocks noGrp="1"/>
          </p:cNvSpPr>
          <p:nvPr/>
        </p:nvSpPr>
        <p:spPr>
          <a:xfrm>
            <a:off x="609600" y="238125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QC headcount</a:t>
            </a:r>
          </a:p>
        </p:txBody>
      </p:sp>
      <p:sp>
        <p:nvSpPr>
          <p:cNvPr id="5" name="Rectangle 4">
            <a:extLst>
              <a:ext uri="{FF2B5EF4-FFF2-40B4-BE49-F238E27FC236}">
                <a16:creationId xmlns:a16="http://schemas.microsoft.com/office/drawing/2014/main" id="{C6130D8A-30C2-4E54-A372-9F3E26F277B5}"/>
              </a:ext>
            </a:extLst>
          </p:cNvPr>
          <p:cNvSpPr>
            <a:spLocks noGrp="1"/>
          </p:cNvSpPr>
          <p:nvPr/>
        </p:nvSpPr>
        <p:spPr>
          <a:xfrm>
            <a:off x="4000500" y="238125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Equals the total number of distributors. 50 distributors require 50 assigned QC persons.</a:t>
            </a:r>
          </a:p>
        </p:txBody>
      </p:sp>
      <p:sp>
        <p:nvSpPr>
          <p:cNvPr id="6" name="Rectangle 5">
            <a:extLst>
              <a:ext uri="{FF2B5EF4-FFF2-40B4-BE49-F238E27FC236}">
                <a16:creationId xmlns:a16="http://schemas.microsoft.com/office/drawing/2014/main" id="{BA40BB71-6D4B-4160-B7E4-F5CDD6DCC520}"/>
              </a:ext>
            </a:extLst>
          </p:cNvPr>
          <p:cNvSpPr>
            <a:spLocks noGrp="1"/>
          </p:cNvSpPr>
          <p:nvPr/>
        </p:nvSpPr>
        <p:spPr>
          <a:xfrm>
            <a:off x="609600" y="328612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Cluster supervisors</a:t>
            </a:r>
          </a:p>
        </p:txBody>
      </p:sp>
      <p:sp>
        <p:nvSpPr>
          <p:cNvPr id="7" name="Rectangle 6">
            <a:extLst>
              <a:ext uri="{FF2B5EF4-FFF2-40B4-BE49-F238E27FC236}">
                <a16:creationId xmlns:a16="http://schemas.microsoft.com/office/drawing/2014/main" id="{21D8BE9F-8D88-4FBB-915F-E907C2A65830}"/>
              </a:ext>
            </a:extLst>
          </p:cNvPr>
          <p:cNvSpPr>
            <a:spLocks noGrp="1"/>
          </p:cNvSpPr>
          <p:nvPr/>
        </p:nvSpPr>
        <p:spPr>
          <a:xfrm>
            <a:off x="4000500" y="328612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Sum of each region’s distributor count divided by 5, rounded up.</a:t>
            </a:r>
          </a:p>
        </p:txBody>
      </p:sp>
      <p:sp>
        <p:nvSpPr>
          <p:cNvPr id="8" name="Rectangle 7">
            <a:extLst>
              <a:ext uri="{FF2B5EF4-FFF2-40B4-BE49-F238E27FC236}">
                <a16:creationId xmlns:a16="http://schemas.microsoft.com/office/drawing/2014/main" id="{CF14604F-FD2E-4FFC-A3B4-BC7E206E0200}"/>
              </a:ext>
            </a:extLst>
          </p:cNvPr>
          <p:cNvSpPr>
            <a:spLocks noGrp="1"/>
          </p:cNvSpPr>
          <p:nvPr/>
        </p:nvSpPr>
        <p:spPr>
          <a:xfrm>
            <a:off x="609600" y="419100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Regional supervisors</a:t>
            </a:r>
          </a:p>
        </p:txBody>
      </p:sp>
      <p:sp>
        <p:nvSpPr>
          <p:cNvPr id="9" name="Rectangle 8">
            <a:extLst>
              <a:ext uri="{FF2B5EF4-FFF2-40B4-BE49-F238E27FC236}">
                <a16:creationId xmlns:a16="http://schemas.microsoft.com/office/drawing/2014/main" id="{4F178774-109D-42E2-A7BC-AB5305109A62}"/>
              </a:ext>
            </a:extLst>
          </p:cNvPr>
          <p:cNvSpPr>
            <a:spLocks noGrp="1"/>
          </p:cNvSpPr>
          <p:nvPr/>
        </p:nvSpPr>
        <p:spPr>
          <a:xfrm>
            <a:off x="4000500" y="419100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16 designated regional supervisors. Activate deployment against the confirmed regional schedule.</a:t>
            </a:r>
          </a:p>
        </p:txBody>
      </p:sp>
      <p:sp>
        <p:nvSpPr>
          <p:cNvPr id="10" name="Rectangle 9">
            <a:extLst>
              <a:ext uri="{FF2B5EF4-FFF2-40B4-BE49-F238E27FC236}">
                <a16:creationId xmlns:a16="http://schemas.microsoft.com/office/drawing/2014/main" id="{A1F496D5-EEC4-4654-8A1C-D9FF4DA26CF1}"/>
              </a:ext>
            </a:extLst>
          </p:cNvPr>
          <p:cNvSpPr>
            <a:spLocks noGrp="1"/>
          </p:cNvSpPr>
          <p:nvPr/>
        </p:nvSpPr>
        <p:spPr>
          <a:xfrm>
            <a:off x="609600" y="509587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Handling support</a:t>
            </a:r>
          </a:p>
        </p:txBody>
      </p:sp>
      <p:sp>
        <p:nvSpPr>
          <p:cNvPr id="11" name="Rectangle 10">
            <a:extLst>
              <a:ext uri="{FF2B5EF4-FFF2-40B4-BE49-F238E27FC236}">
                <a16:creationId xmlns:a16="http://schemas.microsoft.com/office/drawing/2014/main" id="{35AE0F74-323F-422D-A0A1-4E578E863E5C}"/>
              </a:ext>
            </a:extLst>
          </p:cNvPr>
          <p:cNvSpPr>
            <a:spLocks noGrp="1"/>
          </p:cNvSpPr>
          <p:nvPr/>
        </p:nvSpPr>
        <p:spPr>
          <a:xfrm>
            <a:off x="4000500" y="509587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Size stock handlers and counting support by volume after the pilot. They do not replace assigned QC persons.</a:t>
            </a:r>
          </a:p>
        </p:txBody>
      </p:sp>
    </p:spTree>
    <p:extLst>
      <p:ext uri="{BB962C8B-B14F-4D97-AF65-F5344CB8AC3E}">
        <p14:creationId xmlns:p14="http://schemas.microsoft.com/office/powerpoint/2010/main" val="325239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86C4BE-1CCB-490E-BEB8-5782050E721B}"/>
              </a:ext>
            </a:extLst>
          </p:cNvPr>
          <p:cNvSpPr>
            <a:spLocks noGrp="1"/>
          </p:cNvSpPr>
          <p:nvPr/>
        </p:nvSpPr>
        <p:spPr>
          <a:xfrm>
            <a:off x="609600" y="247650"/>
            <a:ext cx="3810000" cy="333375"/>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283DF222-2889-4D55-B1BA-CAD7DD33FC2B}"/>
              </a:ext>
            </a:extLst>
          </p:cNvPr>
          <p:cNvSpPr>
            <a:spLocks noGrp="1"/>
          </p:cNvSpPr>
          <p:nvPr/>
        </p:nvSpPr>
        <p:spPr>
          <a:xfrm>
            <a:off x="609600" y="790575"/>
            <a:ext cx="11049000" cy="1238250"/>
          </a:xfrm>
          <a:prstGeom prst="rect">
            <a:avLst/>
          </a:prstGeom>
          <a:noFill/>
          <a:ln w="0">
            <a:noFill/>
          </a:ln>
        </p:spPr>
        <p:txBody>
          <a:bodyPr>
            <a:noAutofit/>
          </a:bodyPr>
          <a:lstStyle/>
          <a:p>
            <a:pPr>
              <a:defRPr sz="2925" b="1">
                <a:solidFill>
                  <a:srgbClr val="303030"/>
                </a:solidFill>
                <a:latin typeface="DejaVu Sans"/>
                <a:ea typeface="DejaVu Sans"/>
                <a:cs typeface="DejaVu Sans"/>
              </a:defRPr>
            </a:pPr>
            <a:r>
              <a:rPr sz="2925" b="1">
                <a:solidFill>
                  <a:srgbClr val="303030"/>
                </a:solidFill>
                <a:latin typeface="DejaVu Sans"/>
                <a:ea typeface="DejaVu Sans"/>
                <a:cs typeface="DejaVu Sans"/>
              </a:rPr>
              <a:t>Distributor QC and cluster supervision</a:t>
            </a:r>
          </a:p>
        </p:txBody>
      </p:sp>
      <p:sp>
        <p:nvSpPr>
          <p:cNvPr id="3" name="Rectangle 2">
            <a:extLst>
              <a:ext uri="{FF2B5EF4-FFF2-40B4-BE49-F238E27FC236}">
                <a16:creationId xmlns:a16="http://schemas.microsoft.com/office/drawing/2014/main" id="{D3FF0F9C-32EA-4A4F-8989-481053D91E85}"/>
              </a:ext>
            </a:extLst>
          </p:cNvPr>
          <p:cNvSpPr>
            <a:spLocks noGrp="1"/>
          </p:cNvSpPr>
          <p:nvPr/>
        </p:nvSpPr>
        <p:spPr>
          <a:xfrm>
            <a:off x="609600" y="209550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Assigned QC person</a:t>
            </a:r>
          </a:p>
        </p:txBody>
      </p:sp>
      <p:sp>
        <p:nvSpPr>
          <p:cNvPr id="4" name="Rectangle 3">
            <a:extLst>
              <a:ext uri="{FF2B5EF4-FFF2-40B4-BE49-F238E27FC236}">
                <a16:creationId xmlns:a16="http://schemas.microsoft.com/office/drawing/2014/main" id="{71A4F887-4ECD-45BE-943E-7E43B24FE45E}"/>
              </a:ext>
            </a:extLst>
          </p:cNvPr>
          <p:cNvSpPr>
            <a:spLocks noGrp="1"/>
          </p:cNvSpPr>
          <p:nvPr/>
        </p:nvSpPr>
        <p:spPr>
          <a:xfrm>
            <a:off x="4000500" y="209550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Inspect and classify under the approved SOP. Capture SKU, batch, counts, photos and GPS attendance.</a:t>
            </a:r>
          </a:p>
        </p:txBody>
      </p:sp>
      <p:sp>
        <p:nvSpPr>
          <p:cNvPr id="5" name="Rectangle 4">
            <a:extLst>
              <a:ext uri="{FF2B5EF4-FFF2-40B4-BE49-F238E27FC236}">
                <a16:creationId xmlns:a16="http://schemas.microsoft.com/office/drawing/2014/main" id="{55D186AE-103E-47B8-A6B2-CFB5457E673F}"/>
              </a:ext>
            </a:extLst>
          </p:cNvPr>
          <p:cNvSpPr>
            <a:spLocks noGrp="1"/>
          </p:cNvSpPr>
          <p:nvPr/>
        </p:nvSpPr>
        <p:spPr>
          <a:xfrm>
            <a:off x="609600" y="300037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Depot control</a:t>
            </a:r>
          </a:p>
        </p:txBody>
      </p:sp>
      <p:sp>
        <p:nvSpPr>
          <p:cNvPr id="6" name="Rectangle 5">
            <a:extLst>
              <a:ext uri="{FF2B5EF4-FFF2-40B4-BE49-F238E27FC236}">
                <a16:creationId xmlns:a16="http://schemas.microsoft.com/office/drawing/2014/main" id="{B9F91261-EF53-4730-814B-4D7423C7AFFE}"/>
              </a:ext>
            </a:extLst>
          </p:cNvPr>
          <p:cNvSpPr>
            <a:spLocks noGrp="1"/>
          </p:cNvSpPr>
          <p:nvPr/>
        </p:nvSpPr>
        <p:spPr>
          <a:xfrm>
            <a:off x="4000500" y="300037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Maintain stock separation, flag defects, reconcile movements and obtain the depot handover signature.</a:t>
            </a:r>
          </a:p>
        </p:txBody>
      </p:sp>
      <p:sp>
        <p:nvSpPr>
          <p:cNvPr id="7" name="Rectangle 6">
            <a:extLst>
              <a:ext uri="{FF2B5EF4-FFF2-40B4-BE49-F238E27FC236}">
                <a16:creationId xmlns:a16="http://schemas.microsoft.com/office/drawing/2014/main" id="{13DD4BD7-4724-4A84-8D53-5D26BA0D7754}"/>
              </a:ext>
            </a:extLst>
          </p:cNvPr>
          <p:cNvSpPr>
            <a:spLocks noGrp="1"/>
          </p:cNvSpPr>
          <p:nvPr/>
        </p:nvSpPr>
        <p:spPr>
          <a:xfrm>
            <a:off x="609600" y="390525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Cluster supervisor</a:t>
            </a:r>
          </a:p>
        </p:txBody>
      </p:sp>
      <p:sp>
        <p:nvSpPr>
          <p:cNvPr id="8" name="Rectangle 7">
            <a:extLst>
              <a:ext uri="{FF2B5EF4-FFF2-40B4-BE49-F238E27FC236}">
                <a16:creationId xmlns:a16="http://schemas.microsoft.com/office/drawing/2014/main" id="{2FC785AD-7515-4DB1-8526-FE470B7DEECA}"/>
              </a:ext>
            </a:extLst>
          </p:cNvPr>
          <p:cNvSpPr>
            <a:spLocks noGrp="1"/>
          </p:cNvSpPr>
          <p:nvPr/>
        </p:nvSpPr>
        <p:spPr>
          <a:xfrm>
            <a:off x="4000500" y="390525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Oversee up to five distributors. Check attendance, review evidence, verify exceptions and organise support.</a:t>
            </a:r>
          </a:p>
        </p:txBody>
      </p:sp>
      <p:sp>
        <p:nvSpPr>
          <p:cNvPr id="9" name="Rectangle 8">
            <a:extLst>
              <a:ext uri="{FF2B5EF4-FFF2-40B4-BE49-F238E27FC236}">
                <a16:creationId xmlns:a16="http://schemas.microsoft.com/office/drawing/2014/main" id="{A3D3A8E4-3199-4C6D-A50E-EA3EAD952EC9}"/>
              </a:ext>
            </a:extLst>
          </p:cNvPr>
          <p:cNvSpPr>
            <a:spLocks noGrp="1"/>
          </p:cNvSpPr>
          <p:nvPr/>
        </p:nvSpPr>
        <p:spPr>
          <a:xfrm>
            <a:off x="609600" y="481012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Quality escalation</a:t>
            </a:r>
          </a:p>
        </p:txBody>
      </p:sp>
      <p:sp>
        <p:nvSpPr>
          <p:cNvPr id="10" name="Rectangle 9">
            <a:extLst>
              <a:ext uri="{FF2B5EF4-FFF2-40B4-BE49-F238E27FC236}">
                <a16:creationId xmlns:a16="http://schemas.microsoft.com/office/drawing/2014/main" id="{CF391E7A-5432-48C2-89EC-1304C352BB6B}"/>
              </a:ext>
            </a:extLst>
          </p:cNvPr>
          <p:cNvSpPr>
            <a:spLocks noGrp="1"/>
          </p:cNvSpPr>
          <p:nvPr/>
        </p:nvSpPr>
        <p:spPr>
          <a:xfrm>
            <a:off x="4000500" y="481012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QC flags the issue immediately. The supervisor verifies and escalates through the Quality Lead to GBfoods.</a:t>
            </a:r>
          </a:p>
        </p:txBody>
      </p:sp>
    </p:spTree>
    <p:extLst>
      <p:ext uri="{BB962C8B-B14F-4D97-AF65-F5344CB8AC3E}">
        <p14:creationId xmlns:p14="http://schemas.microsoft.com/office/powerpoint/2010/main" val="1995236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F36E1F-BD6E-436C-B211-4A8C204DE77B}"/>
              </a:ext>
            </a:extLst>
          </p:cNvPr>
          <p:cNvSpPr>
            <a:spLocks noGrp="1"/>
          </p:cNvSpPr>
          <p:nvPr/>
        </p:nvSpPr>
        <p:spPr>
          <a:xfrm>
            <a:off x="609600" y="247650"/>
            <a:ext cx="3810000" cy="333375"/>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57F2E0B4-F23B-4542-B447-D1F691C71E94}"/>
              </a:ext>
            </a:extLst>
          </p:cNvPr>
          <p:cNvSpPr>
            <a:spLocks noGrp="1"/>
          </p:cNvSpPr>
          <p:nvPr/>
        </p:nvSpPr>
        <p:spPr>
          <a:xfrm>
            <a:off x="609600" y="790575"/>
            <a:ext cx="11049000" cy="1238250"/>
          </a:xfrm>
          <a:prstGeom prst="rect">
            <a:avLst/>
          </a:prstGeom>
          <a:noFill/>
          <a:ln w="0">
            <a:noFill/>
          </a:ln>
        </p:spPr>
        <p:txBody>
          <a:bodyPr>
            <a:noAutofit/>
          </a:bodyPr>
          <a:lstStyle/>
          <a:p>
            <a:pPr>
              <a:defRPr sz="2925" b="1">
                <a:solidFill>
                  <a:srgbClr val="303030"/>
                </a:solidFill>
                <a:latin typeface="DejaVu Sans"/>
                <a:ea typeface="DejaVu Sans"/>
                <a:cs typeface="DejaVu Sans"/>
              </a:defRPr>
            </a:pPr>
            <a:r>
              <a:rPr sz="2925" b="1">
                <a:solidFill>
                  <a:srgbClr val="303030"/>
                </a:solidFill>
                <a:latin typeface="DejaVu Sans"/>
                <a:ea typeface="DejaVu Sans"/>
                <a:cs typeface="DejaVu Sans"/>
              </a:rPr>
              <a:t>Regional and national responsibilities</a:t>
            </a:r>
          </a:p>
        </p:txBody>
      </p:sp>
      <p:sp>
        <p:nvSpPr>
          <p:cNvPr id="3" name="Rectangle 2">
            <a:extLst>
              <a:ext uri="{FF2B5EF4-FFF2-40B4-BE49-F238E27FC236}">
                <a16:creationId xmlns:a16="http://schemas.microsoft.com/office/drawing/2014/main" id="{005EFCC5-47BD-43DF-8F3D-339A5FAF2FA0}"/>
              </a:ext>
            </a:extLst>
          </p:cNvPr>
          <p:cNvSpPr>
            <a:spLocks noGrp="1"/>
          </p:cNvSpPr>
          <p:nvPr/>
        </p:nvSpPr>
        <p:spPr>
          <a:xfrm>
            <a:off x="609600" y="209550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Regional supervisor</a:t>
            </a:r>
          </a:p>
        </p:txBody>
      </p:sp>
      <p:sp>
        <p:nvSpPr>
          <p:cNvPr id="4" name="Rectangle 3">
            <a:extLst>
              <a:ext uri="{FF2B5EF4-FFF2-40B4-BE49-F238E27FC236}">
                <a16:creationId xmlns:a16="http://schemas.microsoft.com/office/drawing/2014/main" id="{60326681-B156-4FC0-80E1-CC0B29A00D42}"/>
              </a:ext>
            </a:extLst>
          </p:cNvPr>
          <p:cNvSpPr>
            <a:spLocks noGrp="1"/>
          </p:cNvSpPr>
          <p:nvPr/>
        </p:nvSpPr>
        <p:spPr>
          <a:xfrm>
            <a:off x="4000500" y="209550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Manage the regional roster, routes, coverage and unresolved exceptions. Submit a consolidated daily return.</a:t>
            </a:r>
          </a:p>
        </p:txBody>
      </p:sp>
      <p:sp>
        <p:nvSpPr>
          <p:cNvPr id="5" name="Rectangle 4">
            <a:extLst>
              <a:ext uri="{FF2B5EF4-FFF2-40B4-BE49-F238E27FC236}">
                <a16:creationId xmlns:a16="http://schemas.microsoft.com/office/drawing/2014/main" id="{5AC4952A-63AE-437C-B457-056F91040D46}"/>
              </a:ext>
            </a:extLst>
          </p:cNvPr>
          <p:cNvSpPr>
            <a:spLocks noGrp="1"/>
          </p:cNvSpPr>
          <p:nvPr/>
        </p:nvSpPr>
        <p:spPr>
          <a:xfrm>
            <a:off x="609600" y="300037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National Operations</a:t>
            </a:r>
          </a:p>
        </p:txBody>
      </p:sp>
      <p:sp>
        <p:nvSpPr>
          <p:cNvPr id="6" name="Rectangle 5">
            <a:extLst>
              <a:ext uri="{FF2B5EF4-FFF2-40B4-BE49-F238E27FC236}">
                <a16:creationId xmlns:a16="http://schemas.microsoft.com/office/drawing/2014/main" id="{5266161F-EA20-4AF8-ADA8-D4154B73891E}"/>
              </a:ext>
            </a:extLst>
          </p:cNvPr>
          <p:cNvSpPr>
            <a:spLocks noGrp="1"/>
          </p:cNvSpPr>
          <p:nvPr/>
        </p:nvSpPr>
        <p:spPr>
          <a:xfrm>
            <a:off x="4000500" y="300037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Coordinate all regions, reserve staff, schedules and authorised spending. Lead the daily client review.</a:t>
            </a:r>
          </a:p>
        </p:txBody>
      </p:sp>
      <p:sp>
        <p:nvSpPr>
          <p:cNvPr id="7" name="Rectangle 6">
            <a:extLst>
              <a:ext uri="{FF2B5EF4-FFF2-40B4-BE49-F238E27FC236}">
                <a16:creationId xmlns:a16="http://schemas.microsoft.com/office/drawing/2014/main" id="{503F9D95-30F9-4BA5-865E-6F44BD4D682D}"/>
              </a:ext>
            </a:extLst>
          </p:cNvPr>
          <p:cNvSpPr>
            <a:spLocks noGrp="1"/>
          </p:cNvSpPr>
          <p:nvPr/>
        </p:nvSpPr>
        <p:spPr>
          <a:xfrm>
            <a:off x="609600" y="390525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National Quality Lead</a:t>
            </a:r>
          </a:p>
        </p:txBody>
      </p:sp>
      <p:sp>
        <p:nvSpPr>
          <p:cNvPr id="8" name="Rectangle 7">
            <a:extLst>
              <a:ext uri="{FF2B5EF4-FFF2-40B4-BE49-F238E27FC236}">
                <a16:creationId xmlns:a16="http://schemas.microsoft.com/office/drawing/2014/main" id="{5404DFB0-D932-4CAF-89B0-AEDC07948569}"/>
              </a:ext>
            </a:extLst>
          </p:cNvPr>
          <p:cNvSpPr>
            <a:spLocks noGrp="1"/>
          </p:cNvSpPr>
          <p:nvPr/>
        </p:nvSpPr>
        <p:spPr>
          <a:xfrm>
            <a:off x="4000500" y="390525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Train and calibrate QC personnel. Audit classifications and escalate disposition decisions to GBfoods.</a:t>
            </a:r>
          </a:p>
        </p:txBody>
      </p:sp>
      <p:sp>
        <p:nvSpPr>
          <p:cNvPr id="9" name="Rectangle 8">
            <a:extLst>
              <a:ext uri="{FF2B5EF4-FFF2-40B4-BE49-F238E27FC236}">
                <a16:creationId xmlns:a16="http://schemas.microsoft.com/office/drawing/2014/main" id="{D059EE6C-7C10-4078-96C5-1C0F1F259385}"/>
              </a:ext>
            </a:extLst>
          </p:cNvPr>
          <p:cNvSpPr>
            <a:spLocks noGrp="1"/>
          </p:cNvSpPr>
          <p:nvPr/>
        </p:nvSpPr>
        <p:spPr>
          <a:xfrm>
            <a:off x="609600" y="481012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Data &amp; Platform Lead</a:t>
            </a:r>
          </a:p>
        </p:txBody>
      </p:sp>
      <p:sp>
        <p:nvSpPr>
          <p:cNvPr id="10" name="Rectangle 9">
            <a:extLst>
              <a:ext uri="{FF2B5EF4-FFF2-40B4-BE49-F238E27FC236}">
                <a16:creationId xmlns:a16="http://schemas.microsoft.com/office/drawing/2014/main" id="{29D3300F-405F-42D2-8F3D-70B2E7A6AA16}"/>
              </a:ext>
            </a:extLst>
          </p:cNvPr>
          <p:cNvSpPr>
            <a:spLocks noGrp="1"/>
          </p:cNvSpPr>
          <p:nvPr/>
        </p:nvSpPr>
        <p:spPr>
          <a:xfrm>
            <a:off x="4000500" y="481012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Maintain role access, evidence quality, sync monitoring and dashboard reporting. Preserve the audit trail.</a:t>
            </a:r>
          </a:p>
        </p:txBody>
      </p:sp>
    </p:spTree>
    <p:extLst>
      <p:ext uri="{BB962C8B-B14F-4D97-AF65-F5344CB8AC3E}">
        <p14:creationId xmlns:p14="http://schemas.microsoft.com/office/powerpoint/2010/main" val="1223487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22C5622-A0D4-47D8-B0BD-C70AF1C65581}"/>
              </a:ext>
            </a:extLst>
          </p:cNvPr>
          <p:cNvSpPr>
            <a:spLocks noGrp="1"/>
          </p:cNvSpPr>
          <p:nvPr/>
        </p:nvSpPr>
        <p:spPr>
          <a:xfrm>
            <a:off x="609600" y="266700"/>
            <a:ext cx="3810000" cy="342900"/>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A884ED59-7E78-49BC-83C1-9E9E98106AAD}"/>
              </a:ext>
            </a:extLst>
          </p:cNvPr>
          <p:cNvSpPr>
            <a:spLocks noGrp="1"/>
          </p:cNvSpPr>
          <p:nvPr/>
        </p:nvSpPr>
        <p:spPr>
          <a:xfrm>
            <a:off x="609600" y="885825"/>
            <a:ext cx="10972800" cy="990600"/>
          </a:xfrm>
          <a:prstGeom prst="rect">
            <a:avLst/>
          </a:prstGeom>
          <a:noFill/>
          <a:ln w="0">
            <a:noFill/>
          </a:ln>
        </p:spPr>
        <p:txBody>
          <a:bodyPr>
            <a:noAutofit/>
          </a:bodyPr>
          <a:lstStyle/>
          <a:p>
            <a:pPr>
              <a:defRPr sz="3000" b="1">
                <a:solidFill>
                  <a:srgbClr val="303030"/>
                </a:solidFill>
                <a:latin typeface="DejaVu Sans"/>
                <a:ea typeface="DejaVu Sans"/>
                <a:cs typeface="DejaVu Sans"/>
              </a:defRPr>
            </a:pPr>
            <a:r>
              <a:rPr sz="3000" b="1">
                <a:solidFill>
                  <a:srgbClr val="303030"/>
                </a:solidFill>
                <a:latin typeface="DejaVu Sans"/>
                <a:ea typeface="DejaVu Sans"/>
                <a:cs typeface="DejaVu Sans"/>
              </a:rPr>
              <a:t>Train-the-trainer programme</a:t>
            </a:r>
          </a:p>
        </p:txBody>
      </p:sp>
      <p:sp>
        <p:nvSpPr>
          <p:cNvPr id="3" name="Rectangle 2">
            <a:extLst>
              <a:ext uri="{FF2B5EF4-FFF2-40B4-BE49-F238E27FC236}">
                <a16:creationId xmlns:a16="http://schemas.microsoft.com/office/drawing/2014/main" id="{56A847C1-6951-4CF3-BD6E-4082052E2F87}"/>
              </a:ext>
            </a:extLst>
          </p:cNvPr>
          <p:cNvSpPr>
            <a:spLocks noGrp="1"/>
          </p:cNvSpPr>
          <p:nvPr/>
        </p:nvSpPr>
        <p:spPr>
          <a:xfrm>
            <a:off x="609600" y="1847850"/>
            <a:ext cx="10972800" cy="609600"/>
          </a:xfrm>
          <a:prstGeom prst="rect">
            <a:avLst/>
          </a:prstGeom>
          <a:noFill/>
          <a:ln w="0">
            <a:noFill/>
          </a:ln>
        </p:spPr>
        <p:txBody>
          <a:bodyPr>
            <a:noAutofit/>
          </a:bodyPr>
          <a:lstStyle/>
          <a:p>
            <a:pPr>
              <a:defRPr sz="1650" b="0">
                <a:solidFill>
                  <a:srgbClr val="5E5E5E"/>
                </a:solidFill>
                <a:latin typeface="DejaVu Sans"/>
                <a:ea typeface="DejaVu Sans"/>
                <a:cs typeface="DejaVu Sans"/>
              </a:defRPr>
            </a:pPr>
            <a:r>
              <a:rPr sz="1650" b="0">
                <a:solidFill>
                  <a:srgbClr val="5E5E5E"/>
                </a:solidFill>
                <a:latin typeface="DejaVu Sans"/>
                <a:ea typeface="DejaVu Sans"/>
                <a:cs typeface="DejaVu Sans"/>
              </a:rPr>
              <a:t>One GBfoods-approved method, taught consistently through the national and regional structure.</a:t>
            </a:r>
          </a:p>
        </p:txBody>
      </p:sp>
      <p:sp>
        <p:nvSpPr>
          <p:cNvPr id="4" name="Rectangle 3">
            <a:extLst>
              <a:ext uri="{FF2B5EF4-FFF2-40B4-BE49-F238E27FC236}">
                <a16:creationId xmlns:a16="http://schemas.microsoft.com/office/drawing/2014/main" id="{6D05B41D-3349-41DB-A2EB-96E584D1C62C}"/>
              </a:ext>
            </a:extLst>
          </p:cNvPr>
          <p:cNvSpPr>
            <a:spLocks noGrp="1"/>
          </p:cNvSpPr>
          <p:nvPr/>
        </p:nvSpPr>
        <p:spPr>
          <a:xfrm>
            <a:off x="609600" y="2714625"/>
            <a:ext cx="3143250" cy="609600"/>
          </a:xfrm>
          <a:prstGeom prst="rect">
            <a:avLst/>
          </a:prstGeom>
          <a:noFill/>
          <a:ln w="0">
            <a:noFill/>
          </a:ln>
        </p:spPr>
        <p:txBody>
          <a:bodyPr>
            <a:noAutofit/>
          </a:bodyPr>
          <a:lstStyle/>
          <a:p>
            <a:pPr>
              <a:defRPr sz="3525" b="1">
                <a:solidFill>
                  <a:srgbClr val="FE5000"/>
                </a:solidFill>
                <a:latin typeface="DejaVu Sans"/>
                <a:ea typeface="DejaVu Sans"/>
                <a:cs typeface="DejaVu Sans"/>
              </a:defRPr>
            </a:pPr>
            <a:r>
              <a:rPr sz="3525" b="1">
                <a:solidFill>
                  <a:srgbClr val="FE5000"/>
                </a:solidFill>
                <a:latin typeface="DejaVu Sans"/>
                <a:ea typeface="DejaVu Sans"/>
                <a:cs typeface="DejaVu Sans"/>
              </a:rPr>
              <a:t>01</a:t>
            </a:r>
          </a:p>
        </p:txBody>
      </p:sp>
      <p:sp>
        <p:nvSpPr>
          <p:cNvPr id="5" name="Rectangle 4">
            <a:extLst>
              <a:ext uri="{FF2B5EF4-FFF2-40B4-BE49-F238E27FC236}">
                <a16:creationId xmlns:a16="http://schemas.microsoft.com/office/drawing/2014/main" id="{C81BB730-AEDE-4A4F-A45D-D86DA9B36C01}"/>
              </a:ext>
            </a:extLst>
          </p:cNvPr>
          <p:cNvSpPr>
            <a:spLocks noGrp="1"/>
          </p:cNvSpPr>
          <p:nvPr/>
        </p:nvSpPr>
        <p:spPr>
          <a:xfrm>
            <a:off x="609600" y="3533775"/>
            <a:ext cx="3181350" cy="742950"/>
          </a:xfrm>
          <a:prstGeom prst="rect">
            <a:avLst/>
          </a:prstGeom>
          <a:noFill/>
          <a:ln w="0">
            <a:noFill/>
          </a:ln>
        </p:spPr>
        <p:txBody>
          <a:bodyPr>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National masterclass</a:t>
            </a:r>
          </a:p>
        </p:txBody>
      </p:sp>
      <p:sp>
        <p:nvSpPr>
          <p:cNvPr id="6" name="Rectangle 5">
            <a:extLst>
              <a:ext uri="{FF2B5EF4-FFF2-40B4-BE49-F238E27FC236}">
                <a16:creationId xmlns:a16="http://schemas.microsoft.com/office/drawing/2014/main" id="{64BCBFB6-E88F-44C0-A36B-B654750C6749}"/>
              </a:ext>
            </a:extLst>
          </p:cNvPr>
          <p:cNvSpPr>
            <a:spLocks noGrp="1"/>
          </p:cNvSpPr>
          <p:nvPr/>
        </p:nvSpPr>
        <p:spPr>
          <a:xfrm>
            <a:off x="609600" y="4429125"/>
            <a:ext cx="3181350" cy="1571625"/>
          </a:xfrm>
          <a:prstGeom prst="rect">
            <a:avLst/>
          </a:prstGeom>
          <a:noFill/>
          <a:ln w="0">
            <a:noFill/>
          </a:ln>
        </p:spPr>
        <p:txBody>
          <a:bodyPr>
            <a:noAutofit/>
          </a:bodyPr>
          <a:lstStyle/>
          <a:p>
            <a:pPr>
              <a:defRPr sz="1800" b="0">
                <a:solidFill>
                  <a:srgbClr val="5E5E5E"/>
                </a:solidFill>
                <a:latin typeface="DejaVu Sans"/>
                <a:ea typeface="DejaVu Sans"/>
                <a:cs typeface="DejaVu Sans"/>
              </a:defRPr>
            </a:pPr>
            <a:r>
              <a:rPr sz="1800" b="0">
                <a:solidFill>
                  <a:srgbClr val="5E5E5E"/>
                </a:solidFill>
                <a:latin typeface="DejaVu Sans"/>
                <a:ea typeface="DejaVu Sans"/>
                <a:cs typeface="DejaVu Sans"/>
              </a:rPr>
              <a:t>GBfoods Quality, the National Quality Lead and Platform Lead train regional and cluster supervisors.</a:t>
            </a:r>
          </a:p>
        </p:txBody>
      </p:sp>
      <p:sp>
        <p:nvSpPr>
          <p:cNvPr id="7" name="Rectangle 6">
            <a:extLst>
              <a:ext uri="{FF2B5EF4-FFF2-40B4-BE49-F238E27FC236}">
                <a16:creationId xmlns:a16="http://schemas.microsoft.com/office/drawing/2014/main" id="{2FFA3AAF-0C74-407C-89CC-0995E7E48689}"/>
              </a:ext>
            </a:extLst>
          </p:cNvPr>
          <p:cNvSpPr>
            <a:spLocks noGrp="1"/>
          </p:cNvSpPr>
          <p:nvPr/>
        </p:nvSpPr>
        <p:spPr>
          <a:xfrm>
            <a:off x="4438650" y="2714625"/>
            <a:ext cx="3143250" cy="609600"/>
          </a:xfrm>
          <a:prstGeom prst="rect">
            <a:avLst/>
          </a:prstGeom>
          <a:noFill/>
          <a:ln w="0">
            <a:noFill/>
          </a:ln>
        </p:spPr>
        <p:txBody>
          <a:bodyPr>
            <a:noAutofit/>
          </a:bodyPr>
          <a:lstStyle/>
          <a:p>
            <a:pPr>
              <a:defRPr sz="3525" b="1">
                <a:solidFill>
                  <a:srgbClr val="FE5000"/>
                </a:solidFill>
                <a:latin typeface="DejaVu Sans"/>
                <a:ea typeface="DejaVu Sans"/>
                <a:cs typeface="DejaVu Sans"/>
              </a:defRPr>
            </a:pPr>
            <a:r>
              <a:rPr sz="3525" b="1">
                <a:solidFill>
                  <a:srgbClr val="FE5000"/>
                </a:solidFill>
                <a:latin typeface="DejaVu Sans"/>
                <a:ea typeface="DejaVu Sans"/>
                <a:cs typeface="DejaVu Sans"/>
              </a:rPr>
              <a:t>02</a:t>
            </a:r>
          </a:p>
        </p:txBody>
      </p:sp>
      <p:sp>
        <p:nvSpPr>
          <p:cNvPr id="8" name="Rectangle 7">
            <a:extLst>
              <a:ext uri="{FF2B5EF4-FFF2-40B4-BE49-F238E27FC236}">
                <a16:creationId xmlns:a16="http://schemas.microsoft.com/office/drawing/2014/main" id="{51050E39-A41E-41C9-9486-12405CCAC7C0}"/>
              </a:ext>
            </a:extLst>
          </p:cNvPr>
          <p:cNvSpPr>
            <a:spLocks noGrp="1"/>
          </p:cNvSpPr>
          <p:nvPr/>
        </p:nvSpPr>
        <p:spPr>
          <a:xfrm>
            <a:off x="4438650" y="3533775"/>
            <a:ext cx="3181350" cy="742950"/>
          </a:xfrm>
          <a:prstGeom prst="rect">
            <a:avLst/>
          </a:prstGeom>
          <a:noFill/>
          <a:ln w="0">
            <a:noFill/>
          </a:ln>
        </p:spPr>
        <p:txBody>
          <a:bodyPr>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Regional cascade</a:t>
            </a:r>
          </a:p>
        </p:txBody>
      </p:sp>
      <p:sp>
        <p:nvSpPr>
          <p:cNvPr id="9" name="Rectangle 8">
            <a:extLst>
              <a:ext uri="{FF2B5EF4-FFF2-40B4-BE49-F238E27FC236}">
                <a16:creationId xmlns:a16="http://schemas.microsoft.com/office/drawing/2014/main" id="{CAC665C0-E53C-4C14-AF85-E3BE8070CEC2}"/>
              </a:ext>
            </a:extLst>
          </p:cNvPr>
          <p:cNvSpPr>
            <a:spLocks noGrp="1"/>
          </p:cNvSpPr>
          <p:nvPr/>
        </p:nvSpPr>
        <p:spPr>
          <a:xfrm>
            <a:off x="4438650" y="4429125"/>
            <a:ext cx="3181350" cy="1571625"/>
          </a:xfrm>
          <a:prstGeom prst="rect">
            <a:avLst/>
          </a:prstGeom>
          <a:noFill/>
          <a:ln w="0">
            <a:noFill/>
          </a:ln>
        </p:spPr>
        <p:txBody>
          <a:bodyPr>
            <a:noAutofit/>
          </a:bodyPr>
          <a:lstStyle/>
          <a:p>
            <a:pPr>
              <a:defRPr sz="1800" b="0">
                <a:solidFill>
                  <a:srgbClr val="5E5E5E"/>
                </a:solidFill>
                <a:latin typeface="DejaVu Sans"/>
                <a:ea typeface="DejaVu Sans"/>
                <a:cs typeface="DejaVu Sans"/>
              </a:defRPr>
            </a:pPr>
            <a:r>
              <a:rPr sz="1800" b="0">
                <a:solidFill>
                  <a:srgbClr val="5E5E5E"/>
                </a:solidFill>
                <a:latin typeface="DejaVu Sans"/>
                <a:ea typeface="DejaVu Sans"/>
                <a:cs typeface="DejaVu Sans"/>
              </a:rPr>
              <a:t>Certified supervisors train their assigned QC persons and stock handlers using the same guide and samples.</a:t>
            </a:r>
          </a:p>
        </p:txBody>
      </p:sp>
      <p:sp>
        <p:nvSpPr>
          <p:cNvPr id="10" name="Rectangle 9">
            <a:extLst>
              <a:ext uri="{FF2B5EF4-FFF2-40B4-BE49-F238E27FC236}">
                <a16:creationId xmlns:a16="http://schemas.microsoft.com/office/drawing/2014/main" id="{AB74D6CA-AEAE-4D3C-9459-26E50AB3D206}"/>
              </a:ext>
            </a:extLst>
          </p:cNvPr>
          <p:cNvSpPr>
            <a:spLocks noGrp="1"/>
          </p:cNvSpPr>
          <p:nvPr/>
        </p:nvSpPr>
        <p:spPr>
          <a:xfrm>
            <a:off x="8267700" y="2714625"/>
            <a:ext cx="3143250" cy="609600"/>
          </a:xfrm>
          <a:prstGeom prst="rect">
            <a:avLst/>
          </a:prstGeom>
          <a:noFill/>
          <a:ln w="0">
            <a:noFill/>
          </a:ln>
        </p:spPr>
        <p:txBody>
          <a:bodyPr>
            <a:noAutofit/>
          </a:bodyPr>
          <a:lstStyle/>
          <a:p>
            <a:pPr>
              <a:defRPr sz="3525" b="1">
                <a:solidFill>
                  <a:srgbClr val="FE5000"/>
                </a:solidFill>
                <a:latin typeface="DejaVu Sans"/>
                <a:ea typeface="DejaVu Sans"/>
                <a:cs typeface="DejaVu Sans"/>
              </a:defRPr>
            </a:pPr>
            <a:r>
              <a:rPr sz="3525" b="1">
                <a:solidFill>
                  <a:srgbClr val="FE5000"/>
                </a:solidFill>
                <a:latin typeface="DejaVu Sans"/>
                <a:ea typeface="DejaVu Sans"/>
                <a:cs typeface="DejaVu Sans"/>
              </a:rPr>
              <a:t>03</a:t>
            </a:r>
          </a:p>
        </p:txBody>
      </p:sp>
      <p:sp>
        <p:nvSpPr>
          <p:cNvPr id="11" name="Rectangle 10">
            <a:extLst>
              <a:ext uri="{FF2B5EF4-FFF2-40B4-BE49-F238E27FC236}">
                <a16:creationId xmlns:a16="http://schemas.microsoft.com/office/drawing/2014/main" id="{DABBED10-C1F3-4C64-BB6B-B2A98768BAE4}"/>
              </a:ext>
            </a:extLst>
          </p:cNvPr>
          <p:cNvSpPr>
            <a:spLocks noGrp="1"/>
          </p:cNvSpPr>
          <p:nvPr/>
        </p:nvSpPr>
        <p:spPr>
          <a:xfrm>
            <a:off x="8267700" y="3533775"/>
            <a:ext cx="3181350" cy="742950"/>
          </a:xfrm>
          <a:prstGeom prst="rect">
            <a:avLst/>
          </a:prstGeom>
          <a:noFill/>
          <a:ln w="0">
            <a:noFill/>
          </a:ln>
        </p:spPr>
        <p:txBody>
          <a:bodyPr>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Field reinforcement</a:t>
            </a:r>
          </a:p>
        </p:txBody>
      </p:sp>
      <p:sp>
        <p:nvSpPr>
          <p:cNvPr id="12" name="Rectangle 11">
            <a:extLst>
              <a:ext uri="{FF2B5EF4-FFF2-40B4-BE49-F238E27FC236}">
                <a16:creationId xmlns:a16="http://schemas.microsoft.com/office/drawing/2014/main" id="{2EA05747-1D94-480D-AB60-2766D5326A59}"/>
              </a:ext>
            </a:extLst>
          </p:cNvPr>
          <p:cNvSpPr>
            <a:spLocks noGrp="1"/>
          </p:cNvSpPr>
          <p:nvPr/>
        </p:nvSpPr>
        <p:spPr>
          <a:xfrm>
            <a:off x="8267700" y="4429125"/>
            <a:ext cx="3181350" cy="1571625"/>
          </a:xfrm>
          <a:prstGeom prst="rect">
            <a:avLst/>
          </a:prstGeom>
          <a:noFill/>
          <a:ln w="0">
            <a:noFill/>
          </a:ln>
        </p:spPr>
        <p:txBody>
          <a:bodyPr>
            <a:noAutofit/>
          </a:bodyPr>
          <a:lstStyle/>
          <a:p>
            <a:pPr>
              <a:defRPr sz="1800" b="0">
                <a:solidFill>
                  <a:srgbClr val="5E5E5E"/>
                </a:solidFill>
                <a:latin typeface="DejaVu Sans"/>
                <a:ea typeface="DejaVu Sans"/>
                <a:cs typeface="DejaVu Sans"/>
              </a:defRPr>
            </a:pPr>
            <a:r>
              <a:rPr sz="1800" b="0">
                <a:solidFill>
                  <a:srgbClr val="5E5E5E"/>
                </a:solidFill>
                <a:latin typeface="DejaVu Sans"/>
                <a:ea typeface="DejaVu Sans"/>
                <a:cs typeface="DejaVu Sans"/>
              </a:rPr>
              <a:t>Cluster supervisors coach at the pilot, deliver daily refreshers and correct inconsistent practice.</a:t>
            </a:r>
          </a:p>
        </p:txBody>
      </p:sp>
      <p:sp>
        <p:nvSpPr>
          <p:cNvPr id="13" name="Rectangle 12">
            <a:extLst>
              <a:ext uri="{FF2B5EF4-FFF2-40B4-BE49-F238E27FC236}">
                <a16:creationId xmlns:a16="http://schemas.microsoft.com/office/drawing/2014/main" id="{12963A43-D153-49C7-95AF-0D8C9149E229}"/>
              </a:ext>
            </a:extLst>
          </p:cNvPr>
          <p:cNvSpPr>
            <a:spLocks noGrp="1"/>
          </p:cNvSpPr>
          <p:nvPr/>
        </p:nvSpPr>
        <p:spPr>
          <a:xfrm>
            <a:off x="609600" y="6238875"/>
            <a:ext cx="10972800" cy="361950"/>
          </a:xfrm>
          <a:prstGeom prst="rect">
            <a:avLst/>
          </a:prstGeom>
          <a:noFill/>
          <a:ln w="0">
            <a:noFill/>
          </a:ln>
        </p:spPr>
        <p:txBody>
          <a:bodyPr>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Trainer approval follows a teach-back and practical assessment led by the National Quality Lead.</a:t>
            </a:r>
          </a:p>
        </p:txBody>
      </p:sp>
    </p:spTree>
    <p:extLst>
      <p:ext uri="{BB962C8B-B14F-4D97-AF65-F5344CB8AC3E}">
        <p14:creationId xmlns:p14="http://schemas.microsoft.com/office/powerpoint/2010/main" val="275503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4BC8FFE-EAE9-4BDA-86F0-7765AEF6E991}"/>
              </a:ext>
            </a:extLst>
          </p:cNvPr>
          <p:cNvSpPr>
            <a:spLocks noGrp="1"/>
          </p:cNvSpPr>
          <p:nvPr/>
        </p:nvSpPr>
        <p:spPr>
          <a:xfrm>
            <a:off x="609600" y="266700"/>
            <a:ext cx="3810000" cy="342900"/>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E569ED16-681B-432F-85B8-1A12FA020FBD}"/>
              </a:ext>
            </a:extLst>
          </p:cNvPr>
          <p:cNvSpPr>
            <a:spLocks noGrp="1"/>
          </p:cNvSpPr>
          <p:nvPr/>
        </p:nvSpPr>
        <p:spPr>
          <a:xfrm>
            <a:off x="609600" y="885825"/>
            <a:ext cx="10972800" cy="990600"/>
          </a:xfrm>
          <a:prstGeom prst="rect">
            <a:avLst/>
          </a:prstGeom>
          <a:noFill/>
          <a:ln w="0">
            <a:noFill/>
          </a:ln>
        </p:spPr>
        <p:txBody>
          <a:bodyPr>
            <a:noAutofit/>
          </a:bodyPr>
          <a:lstStyle/>
          <a:p>
            <a:pPr>
              <a:defRPr sz="3000" b="1">
                <a:solidFill>
                  <a:srgbClr val="303030"/>
                </a:solidFill>
                <a:latin typeface="DejaVu Sans"/>
                <a:ea typeface="DejaVu Sans"/>
                <a:cs typeface="DejaVu Sans"/>
              </a:defRPr>
            </a:pPr>
            <a:r>
              <a:rPr sz="3000" b="1">
                <a:solidFill>
                  <a:srgbClr val="303030"/>
                </a:solidFill>
                <a:latin typeface="DejaVu Sans"/>
                <a:ea typeface="DejaVu Sans"/>
                <a:cs typeface="DejaVu Sans"/>
              </a:rPr>
              <a:t>What every trainer must teach</a:t>
            </a:r>
          </a:p>
        </p:txBody>
      </p:sp>
      <p:sp>
        <p:nvSpPr>
          <p:cNvPr id="3" name="Rectangle 2">
            <a:extLst>
              <a:ext uri="{FF2B5EF4-FFF2-40B4-BE49-F238E27FC236}">
                <a16:creationId xmlns:a16="http://schemas.microsoft.com/office/drawing/2014/main" id="{35C81776-C6FC-46A3-8E55-45CF8DC2F3BF}"/>
              </a:ext>
            </a:extLst>
          </p:cNvPr>
          <p:cNvSpPr>
            <a:spLocks noGrp="1"/>
          </p:cNvSpPr>
          <p:nvPr/>
        </p:nvSpPr>
        <p:spPr>
          <a:xfrm>
            <a:off x="609600" y="1847850"/>
            <a:ext cx="10972800" cy="609600"/>
          </a:xfrm>
          <a:prstGeom prst="rect">
            <a:avLst/>
          </a:prstGeom>
          <a:noFill/>
          <a:ln w="0">
            <a:noFill/>
          </a:ln>
        </p:spPr>
        <p:txBody>
          <a:bodyPr>
            <a:noAutofit/>
          </a:bodyPr>
          <a:lstStyle/>
          <a:p>
            <a:pPr>
              <a:defRPr sz="1650" b="0">
                <a:solidFill>
                  <a:srgbClr val="5E5E5E"/>
                </a:solidFill>
                <a:latin typeface="DejaVu Sans"/>
                <a:ea typeface="DejaVu Sans"/>
                <a:cs typeface="DejaVu Sans"/>
              </a:defRPr>
            </a:pPr>
            <a:r>
              <a:rPr sz="1650" b="0">
                <a:solidFill>
                  <a:srgbClr val="5E5E5E"/>
                </a:solidFill>
                <a:latin typeface="DejaVu Sans"/>
                <a:ea typeface="DejaVu Sans"/>
                <a:cs typeface="DejaVu Sans"/>
              </a:rPr>
              <a:t>A common facilitator guide, defect reference, sample records and practical exercises support each session.</a:t>
            </a:r>
          </a:p>
        </p:txBody>
      </p:sp>
      <p:sp>
        <p:nvSpPr>
          <p:cNvPr id="4" name="Rectangle 3">
            <a:extLst>
              <a:ext uri="{FF2B5EF4-FFF2-40B4-BE49-F238E27FC236}">
                <a16:creationId xmlns:a16="http://schemas.microsoft.com/office/drawing/2014/main" id="{D68FC7F4-8ED5-4754-A1AD-64CB44163511}"/>
              </a:ext>
            </a:extLst>
          </p:cNvPr>
          <p:cNvSpPr>
            <a:spLocks noGrp="1"/>
          </p:cNvSpPr>
          <p:nvPr/>
        </p:nvSpPr>
        <p:spPr>
          <a:xfrm>
            <a:off x="609600" y="26860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Product and quality</a:t>
            </a:r>
          </a:p>
        </p:txBody>
      </p:sp>
      <p:sp>
        <p:nvSpPr>
          <p:cNvPr id="5" name="Rectangle 4">
            <a:extLst>
              <a:ext uri="{FF2B5EF4-FFF2-40B4-BE49-F238E27FC236}">
                <a16:creationId xmlns:a16="http://schemas.microsoft.com/office/drawing/2014/main" id="{C2FBAC40-A294-4B21-81BC-75031F7CBD57}"/>
              </a:ext>
            </a:extLst>
          </p:cNvPr>
          <p:cNvSpPr>
            <a:spLocks noGrp="1"/>
          </p:cNvSpPr>
          <p:nvPr/>
        </p:nvSpPr>
        <p:spPr>
          <a:xfrm>
            <a:off x="4029075" y="26860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Gino, Pomo and other assigned SKUs. Defect recognition, batch checks and the limits of field authority.</a:t>
            </a:r>
          </a:p>
        </p:txBody>
      </p:sp>
      <p:sp>
        <p:nvSpPr>
          <p:cNvPr id="6" name="Rectangle 5">
            <a:extLst>
              <a:ext uri="{FF2B5EF4-FFF2-40B4-BE49-F238E27FC236}">
                <a16:creationId xmlns:a16="http://schemas.microsoft.com/office/drawing/2014/main" id="{60BC7524-9334-4362-B1C3-DCC0C553ED95}"/>
              </a:ext>
            </a:extLst>
          </p:cNvPr>
          <p:cNvSpPr>
            <a:spLocks noGrp="1"/>
          </p:cNvSpPr>
          <p:nvPr/>
        </p:nvSpPr>
        <p:spPr>
          <a:xfrm>
            <a:off x="609600" y="35052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Safe stock handling</a:t>
            </a:r>
          </a:p>
        </p:txBody>
      </p:sp>
      <p:sp>
        <p:nvSpPr>
          <p:cNvPr id="7" name="Rectangle 6">
            <a:extLst>
              <a:ext uri="{FF2B5EF4-FFF2-40B4-BE49-F238E27FC236}">
                <a16:creationId xmlns:a16="http://schemas.microsoft.com/office/drawing/2014/main" id="{4ADA1760-0F92-472E-BEDE-546AAD95F0EF}"/>
              </a:ext>
            </a:extLst>
          </p:cNvPr>
          <p:cNvSpPr>
            <a:spLocks noGrp="1"/>
          </p:cNvSpPr>
          <p:nvPr/>
        </p:nvSpPr>
        <p:spPr>
          <a:xfrm>
            <a:off x="4029075" y="35052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PPE, physical stock zones, lifting, contamination prevention and approved secondary repacking.</a:t>
            </a:r>
          </a:p>
        </p:txBody>
      </p:sp>
      <p:sp>
        <p:nvSpPr>
          <p:cNvPr id="8" name="Rectangle 7">
            <a:extLst>
              <a:ext uri="{FF2B5EF4-FFF2-40B4-BE49-F238E27FC236}">
                <a16:creationId xmlns:a16="http://schemas.microsoft.com/office/drawing/2014/main" id="{E5A90264-B9DF-462E-97A7-32D6B4628EB7}"/>
              </a:ext>
            </a:extLst>
          </p:cNvPr>
          <p:cNvSpPr>
            <a:spLocks noGrp="1"/>
          </p:cNvSpPr>
          <p:nvPr/>
        </p:nvSpPr>
        <p:spPr>
          <a:xfrm>
            <a:off x="609600" y="43243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Counts and evidence</a:t>
            </a:r>
          </a:p>
        </p:txBody>
      </p:sp>
      <p:sp>
        <p:nvSpPr>
          <p:cNvPr id="9" name="Rectangle 8">
            <a:extLst>
              <a:ext uri="{FF2B5EF4-FFF2-40B4-BE49-F238E27FC236}">
                <a16:creationId xmlns:a16="http://schemas.microsoft.com/office/drawing/2014/main" id="{EB28C1D0-2AA0-403E-94D8-3C89A0D48BB1}"/>
              </a:ext>
            </a:extLst>
          </p:cNvPr>
          <p:cNvSpPr>
            <a:spLocks noGrp="1"/>
          </p:cNvSpPr>
          <p:nvPr/>
        </p:nvSpPr>
        <p:spPr>
          <a:xfrm>
            <a:off x="4029075" y="43243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Opening counts, movements, reconciliation, pack units, batch references and clear product photos.</a:t>
            </a:r>
          </a:p>
        </p:txBody>
      </p:sp>
      <p:sp>
        <p:nvSpPr>
          <p:cNvPr id="10" name="Rectangle 9">
            <a:extLst>
              <a:ext uri="{FF2B5EF4-FFF2-40B4-BE49-F238E27FC236}">
                <a16:creationId xmlns:a16="http://schemas.microsoft.com/office/drawing/2014/main" id="{F2593AD5-B592-425B-B7A9-F42C435989E0}"/>
              </a:ext>
            </a:extLst>
          </p:cNvPr>
          <p:cNvSpPr>
            <a:spLocks noGrp="1"/>
          </p:cNvSpPr>
          <p:nvPr/>
        </p:nvSpPr>
        <p:spPr>
          <a:xfrm>
            <a:off x="609600" y="51435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Platform and escalation</a:t>
            </a:r>
          </a:p>
        </p:txBody>
      </p:sp>
      <p:sp>
        <p:nvSpPr>
          <p:cNvPr id="11" name="Rectangle 10">
            <a:extLst>
              <a:ext uri="{FF2B5EF4-FFF2-40B4-BE49-F238E27FC236}">
                <a16:creationId xmlns:a16="http://schemas.microsoft.com/office/drawing/2014/main" id="{F2B0FCD6-3352-469D-BE66-261ADFBBC45F}"/>
              </a:ext>
            </a:extLst>
          </p:cNvPr>
          <p:cNvSpPr>
            <a:spLocks noGrp="1"/>
          </p:cNvSpPr>
          <p:nvPr/>
        </p:nvSpPr>
        <p:spPr>
          <a:xfrm>
            <a:off x="4029075" y="51435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Photo ID attendance, GPS, offline sync, record review and the route for quality or safety concerns.</a:t>
            </a:r>
          </a:p>
        </p:txBody>
      </p:sp>
    </p:spTree>
    <p:extLst>
      <p:ext uri="{BB962C8B-B14F-4D97-AF65-F5344CB8AC3E}">
        <p14:creationId xmlns:p14="http://schemas.microsoft.com/office/powerpoint/2010/main" val="1764590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CD74DE8-1567-4FB4-B813-6572C10AA90A}"/>
              </a:ext>
            </a:extLst>
          </p:cNvPr>
          <p:cNvSpPr>
            <a:spLocks noGrp="1"/>
          </p:cNvSpPr>
          <p:nvPr/>
        </p:nvSpPr>
        <p:spPr>
          <a:xfrm>
            <a:off x="609600" y="266700"/>
            <a:ext cx="3810000" cy="342900"/>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FE0A370E-C275-4E64-AA64-6FFF2E3E62E7}"/>
              </a:ext>
            </a:extLst>
          </p:cNvPr>
          <p:cNvSpPr>
            <a:spLocks noGrp="1"/>
          </p:cNvSpPr>
          <p:nvPr/>
        </p:nvSpPr>
        <p:spPr>
          <a:xfrm>
            <a:off x="609600" y="885825"/>
            <a:ext cx="10972800" cy="990600"/>
          </a:xfrm>
          <a:prstGeom prst="rect">
            <a:avLst/>
          </a:prstGeom>
          <a:noFill/>
          <a:ln w="0">
            <a:noFill/>
          </a:ln>
        </p:spPr>
        <p:txBody>
          <a:bodyPr>
            <a:noAutofit/>
          </a:bodyPr>
          <a:lstStyle/>
          <a:p>
            <a:pPr>
              <a:defRPr sz="3000" b="1">
                <a:solidFill>
                  <a:srgbClr val="303030"/>
                </a:solidFill>
                <a:latin typeface="DejaVu Sans"/>
                <a:ea typeface="DejaVu Sans"/>
                <a:cs typeface="DejaVu Sans"/>
              </a:defRPr>
            </a:pPr>
            <a:r>
              <a:rPr sz="3000" b="1">
                <a:solidFill>
                  <a:srgbClr val="303030"/>
                </a:solidFill>
                <a:latin typeface="DejaVu Sans"/>
                <a:ea typeface="DejaVu Sans"/>
                <a:cs typeface="DejaVu Sans"/>
              </a:rPr>
              <a:t>Practical assessment before deployment</a:t>
            </a:r>
          </a:p>
        </p:txBody>
      </p:sp>
      <p:sp>
        <p:nvSpPr>
          <p:cNvPr id="3" name="Rectangle 2">
            <a:extLst>
              <a:ext uri="{FF2B5EF4-FFF2-40B4-BE49-F238E27FC236}">
                <a16:creationId xmlns:a16="http://schemas.microsoft.com/office/drawing/2014/main" id="{D69660B1-C657-453D-8D0E-0B9C40581833}"/>
              </a:ext>
            </a:extLst>
          </p:cNvPr>
          <p:cNvSpPr>
            <a:spLocks noGrp="1"/>
          </p:cNvSpPr>
          <p:nvPr/>
        </p:nvSpPr>
        <p:spPr>
          <a:xfrm>
            <a:off x="609600" y="1847850"/>
            <a:ext cx="10972800" cy="609600"/>
          </a:xfrm>
          <a:prstGeom prst="rect">
            <a:avLst/>
          </a:prstGeom>
          <a:noFill/>
          <a:ln w="0">
            <a:noFill/>
          </a:ln>
        </p:spPr>
        <p:txBody>
          <a:bodyPr>
            <a:noAutofit/>
          </a:bodyPr>
          <a:lstStyle/>
          <a:p>
            <a:pPr>
              <a:defRPr sz="1650" b="0">
                <a:solidFill>
                  <a:srgbClr val="5E5E5E"/>
                </a:solidFill>
                <a:latin typeface="DejaVu Sans"/>
                <a:ea typeface="DejaVu Sans"/>
                <a:cs typeface="DejaVu Sans"/>
              </a:defRPr>
            </a:pPr>
            <a:r>
              <a:rPr sz="1650" b="0">
                <a:solidFill>
                  <a:srgbClr val="5E5E5E"/>
                </a:solidFill>
                <a:latin typeface="DejaVu Sans"/>
                <a:ea typeface="DejaVu Sans"/>
                <a:cs typeface="DejaVu Sans"/>
              </a:rPr>
              <a:t>Proposed training sequence: Day 1 trainer workshop, Day 2 team training, Day 3 assessment and corrections.</a:t>
            </a:r>
          </a:p>
        </p:txBody>
      </p:sp>
      <p:sp>
        <p:nvSpPr>
          <p:cNvPr id="4" name="Rectangle 3">
            <a:extLst>
              <a:ext uri="{FF2B5EF4-FFF2-40B4-BE49-F238E27FC236}">
                <a16:creationId xmlns:a16="http://schemas.microsoft.com/office/drawing/2014/main" id="{0FBAE100-8788-4DD3-9621-4A557AA070F8}"/>
              </a:ext>
            </a:extLst>
          </p:cNvPr>
          <p:cNvSpPr>
            <a:spLocks noGrp="1"/>
          </p:cNvSpPr>
          <p:nvPr/>
        </p:nvSpPr>
        <p:spPr>
          <a:xfrm>
            <a:off x="609600" y="26860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Demonstrate the task</a:t>
            </a:r>
          </a:p>
        </p:txBody>
      </p:sp>
      <p:sp>
        <p:nvSpPr>
          <p:cNvPr id="5" name="Rectangle 4">
            <a:extLst>
              <a:ext uri="{FF2B5EF4-FFF2-40B4-BE49-F238E27FC236}">
                <a16:creationId xmlns:a16="http://schemas.microsoft.com/office/drawing/2014/main" id="{71C56C15-D711-4507-9440-B65A7D82B6D0}"/>
              </a:ext>
            </a:extLst>
          </p:cNvPr>
          <p:cNvSpPr>
            <a:spLocks noGrp="1"/>
          </p:cNvSpPr>
          <p:nvPr/>
        </p:nvSpPr>
        <p:spPr>
          <a:xfrm>
            <a:off x="4029075" y="26860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Each trainee classifies sample stock, records a count and completes a handover exercise.</a:t>
            </a:r>
          </a:p>
        </p:txBody>
      </p:sp>
      <p:sp>
        <p:nvSpPr>
          <p:cNvPr id="6" name="Rectangle 5">
            <a:extLst>
              <a:ext uri="{FF2B5EF4-FFF2-40B4-BE49-F238E27FC236}">
                <a16:creationId xmlns:a16="http://schemas.microsoft.com/office/drawing/2014/main" id="{62DDAA34-69FF-4009-9AD2-D65F7D118BE3}"/>
              </a:ext>
            </a:extLst>
          </p:cNvPr>
          <p:cNvSpPr>
            <a:spLocks noGrp="1"/>
          </p:cNvSpPr>
          <p:nvPr/>
        </p:nvSpPr>
        <p:spPr>
          <a:xfrm>
            <a:off x="609600" y="35052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Prove digital readiness</a:t>
            </a:r>
          </a:p>
        </p:txBody>
      </p:sp>
      <p:sp>
        <p:nvSpPr>
          <p:cNvPr id="7" name="Rectangle 6">
            <a:extLst>
              <a:ext uri="{FF2B5EF4-FFF2-40B4-BE49-F238E27FC236}">
                <a16:creationId xmlns:a16="http://schemas.microsoft.com/office/drawing/2014/main" id="{BCC27902-3D1B-41E6-8394-64D70B8EE0CE}"/>
              </a:ext>
            </a:extLst>
          </p:cNvPr>
          <p:cNvSpPr>
            <a:spLocks noGrp="1"/>
          </p:cNvSpPr>
          <p:nvPr/>
        </p:nvSpPr>
        <p:spPr>
          <a:xfrm>
            <a:off x="4029075" y="35052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Each QC person completes photo check-in, location capture, stock entry, photo upload and offline sync.</a:t>
            </a:r>
          </a:p>
        </p:txBody>
      </p:sp>
      <p:sp>
        <p:nvSpPr>
          <p:cNvPr id="8" name="Rectangle 7">
            <a:extLst>
              <a:ext uri="{FF2B5EF4-FFF2-40B4-BE49-F238E27FC236}">
                <a16:creationId xmlns:a16="http://schemas.microsoft.com/office/drawing/2014/main" id="{F381A1AF-246C-4A5D-AA3B-5F9C29660AAD}"/>
              </a:ext>
            </a:extLst>
          </p:cNvPr>
          <p:cNvSpPr>
            <a:spLocks noGrp="1"/>
          </p:cNvSpPr>
          <p:nvPr/>
        </p:nvSpPr>
        <p:spPr>
          <a:xfrm>
            <a:off x="609600" y="43243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Confirm competence</a:t>
            </a:r>
          </a:p>
        </p:txBody>
      </p:sp>
      <p:sp>
        <p:nvSpPr>
          <p:cNvPr id="9" name="Rectangle 8">
            <a:extLst>
              <a:ext uri="{FF2B5EF4-FFF2-40B4-BE49-F238E27FC236}">
                <a16:creationId xmlns:a16="http://schemas.microsoft.com/office/drawing/2014/main" id="{F7CCDA44-4452-440B-95E3-0764B18864CD}"/>
              </a:ext>
            </a:extLst>
          </p:cNvPr>
          <p:cNvSpPr>
            <a:spLocks noGrp="1"/>
          </p:cNvSpPr>
          <p:nvPr/>
        </p:nvSpPr>
        <p:spPr>
          <a:xfrm>
            <a:off x="4029075" y="43243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The Quality Lead approves trainers. Supervisors assess teams against the same GBfoods-approved checklist.</a:t>
            </a:r>
          </a:p>
        </p:txBody>
      </p:sp>
      <p:sp>
        <p:nvSpPr>
          <p:cNvPr id="10" name="Rectangle 9">
            <a:extLst>
              <a:ext uri="{FF2B5EF4-FFF2-40B4-BE49-F238E27FC236}">
                <a16:creationId xmlns:a16="http://schemas.microsoft.com/office/drawing/2014/main" id="{B4EB3046-5854-44DD-A317-6DF491B5E9D0}"/>
              </a:ext>
            </a:extLst>
          </p:cNvPr>
          <p:cNvSpPr>
            <a:spLocks noGrp="1"/>
          </p:cNvSpPr>
          <p:nvPr/>
        </p:nvSpPr>
        <p:spPr>
          <a:xfrm>
            <a:off x="609600" y="51435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Retrain and release</a:t>
            </a:r>
          </a:p>
        </p:txBody>
      </p:sp>
      <p:sp>
        <p:nvSpPr>
          <p:cNvPr id="11" name="Rectangle 10">
            <a:extLst>
              <a:ext uri="{FF2B5EF4-FFF2-40B4-BE49-F238E27FC236}">
                <a16:creationId xmlns:a16="http://schemas.microsoft.com/office/drawing/2014/main" id="{6FE231AE-040E-4FEB-BC6B-A93A1A2A992B}"/>
              </a:ext>
            </a:extLst>
          </p:cNvPr>
          <p:cNvSpPr>
            <a:spLocks noGrp="1"/>
          </p:cNvSpPr>
          <p:nvPr/>
        </p:nvSpPr>
        <p:spPr>
          <a:xfrm>
            <a:off x="4029075" y="51435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Log attendance and assessment results. Retrain and reassess gaps before adding personnel to the dispatch roster.</a:t>
            </a:r>
          </a:p>
        </p:txBody>
      </p:sp>
      <p:sp>
        <p:nvSpPr>
          <p:cNvPr id="12" name="Rectangle 11">
            <a:extLst>
              <a:ext uri="{FF2B5EF4-FFF2-40B4-BE49-F238E27FC236}">
                <a16:creationId xmlns:a16="http://schemas.microsoft.com/office/drawing/2014/main" id="{0550F42A-BF0D-4A21-9176-CBC2BBFD1BF3}"/>
              </a:ext>
            </a:extLst>
          </p:cNvPr>
          <p:cNvSpPr>
            <a:spLocks noGrp="1"/>
          </p:cNvSpPr>
          <p:nvPr/>
        </p:nvSpPr>
        <p:spPr>
          <a:xfrm>
            <a:off x="609600" y="6238875"/>
            <a:ext cx="10972800" cy="361950"/>
          </a:xfrm>
          <a:prstGeom prst="rect">
            <a:avLst/>
          </a:prstGeom>
          <a:noFill/>
          <a:ln w="0">
            <a:noFill/>
          </a:ln>
        </p:spPr>
        <p:txBody>
          <a:bodyPr>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No deployment until the trainee demonstrates all mandatory safety, quality and recordkeeping steps.</a:t>
            </a:r>
          </a:p>
        </p:txBody>
      </p:sp>
    </p:spTree>
    <p:extLst>
      <p:ext uri="{BB962C8B-B14F-4D97-AF65-F5344CB8AC3E}">
        <p14:creationId xmlns:p14="http://schemas.microsoft.com/office/powerpoint/2010/main" val="187910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21C130-468F-44BB-A7A3-6EBE48BCE565}"/>
              </a:ext>
            </a:extLst>
          </p:cNvPr>
          <p:cNvSpPr>
            <a:spLocks noGrp="1"/>
          </p:cNvSpPr>
          <p:nvPr/>
        </p:nvSpPr>
        <p:spPr>
          <a:xfrm>
            <a:off x="609600" y="266700"/>
            <a:ext cx="3810000" cy="342900"/>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B17A7C81-6B8F-46F0-A95D-A804C6F4823A}"/>
              </a:ext>
            </a:extLst>
          </p:cNvPr>
          <p:cNvSpPr>
            <a:spLocks noGrp="1"/>
          </p:cNvSpPr>
          <p:nvPr/>
        </p:nvSpPr>
        <p:spPr>
          <a:xfrm>
            <a:off x="609600" y="885825"/>
            <a:ext cx="10972800" cy="990600"/>
          </a:xfrm>
          <a:prstGeom prst="rect">
            <a:avLst/>
          </a:prstGeom>
          <a:noFill/>
          <a:ln w="0">
            <a:noFill/>
          </a:ln>
        </p:spPr>
        <p:txBody>
          <a:bodyPr>
            <a:noAutofit/>
          </a:bodyPr>
          <a:lstStyle/>
          <a:p>
            <a:pPr>
              <a:defRPr sz="3000" b="1">
                <a:solidFill>
                  <a:srgbClr val="303030"/>
                </a:solidFill>
                <a:latin typeface="DejaVu Sans"/>
                <a:ea typeface="DejaVu Sans"/>
                <a:cs typeface="DejaVu Sans"/>
              </a:defRPr>
            </a:pPr>
            <a:r>
              <a:rPr sz="3000" b="1">
                <a:solidFill>
                  <a:srgbClr val="303030"/>
                </a:solidFill>
                <a:latin typeface="DejaVu Sans"/>
                <a:ea typeface="DejaVu Sans"/>
                <a:cs typeface="DejaVu Sans"/>
              </a:rPr>
              <a:t>T-shirts and photo ID for every team member</a:t>
            </a:r>
          </a:p>
        </p:txBody>
      </p:sp>
      <p:sp>
        <p:nvSpPr>
          <p:cNvPr id="3" name="Rectangle 2">
            <a:extLst>
              <a:ext uri="{FF2B5EF4-FFF2-40B4-BE49-F238E27FC236}">
                <a16:creationId xmlns:a16="http://schemas.microsoft.com/office/drawing/2014/main" id="{96905994-B262-419A-A675-E8A4951378BC}"/>
              </a:ext>
            </a:extLst>
          </p:cNvPr>
          <p:cNvSpPr>
            <a:spLocks noGrp="1"/>
          </p:cNvSpPr>
          <p:nvPr/>
        </p:nvSpPr>
        <p:spPr>
          <a:xfrm>
            <a:off x="609600" y="1847850"/>
            <a:ext cx="10972800" cy="609600"/>
          </a:xfrm>
          <a:prstGeom prst="rect">
            <a:avLst/>
          </a:prstGeom>
          <a:noFill/>
          <a:ln w="0">
            <a:noFill/>
          </a:ln>
        </p:spPr>
        <p:txBody>
          <a:bodyPr>
            <a:noAutofit/>
          </a:bodyPr>
          <a:lstStyle/>
          <a:p>
            <a:pPr>
              <a:defRPr sz="1650" b="0">
                <a:solidFill>
                  <a:srgbClr val="5E5E5E"/>
                </a:solidFill>
                <a:latin typeface="DejaVu Sans"/>
                <a:ea typeface="DejaVu Sans"/>
                <a:cs typeface="DejaVu Sans"/>
              </a:defRPr>
            </a:pPr>
            <a:r>
              <a:rPr sz="1650" b="0">
                <a:solidFill>
                  <a:srgbClr val="5E5E5E"/>
                </a:solidFill>
                <a:latin typeface="DejaVu Sans"/>
                <a:ea typeface="DejaVu Sans"/>
                <a:cs typeface="DejaVu Sans"/>
              </a:rPr>
              <a:t>Visible project identification supports distributor confidence and controlled site access.</a:t>
            </a:r>
          </a:p>
        </p:txBody>
      </p:sp>
      <p:sp>
        <p:nvSpPr>
          <p:cNvPr id="4" name="Rectangle 3">
            <a:extLst>
              <a:ext uri="{FF2B5EF4-FFF2-40B4-BE49-F238E27FC236}">
                <a16:creationId xmlns:a16="http://schemas.microsoft.com/office/drawing/2014/main" id="{4D515CE0-5042-478F-9376-A27174372B62}"/>
              </a:ext>
            </a:extLst>
          </p:cNvPr>
          <p:cNvSpPr>
            <a:spLocks noGrp="1"/>
          </p:cNvSpPr>
          <p:nvPr/>
        </p:nvSpPr>
        <p:spPr>
          <a:xfrm>
            <a:off x="609600" y="26860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Branded T-shirts</a:t>
            </a:r>
          </a:p>
        </p:txBody>
      </p:sp>
      <p:sp>
        <p:nvSpPr>
          <p:cNvPr id="5" name="Rectangle 4">
            <a:extLst>
              <a:ext uri="{FF2B5EF4-FFF2-40B4-BE49-F238E27FC236}">
                <a16:creationId xmlns:a16="http://schemas.microsoft.com/office/drawing/2014/main" id="{D70D5B85-BBCE-419A-93C8-CA0A389614E4}"/>
              </a:ext>
            </a:extLst>
          </p:cNvPr>
          <p:cNvSpPr>
            <a:spLocks noGrp="1"/>
          </p:cNvSpPr>
          <p:nvPr/>
        </p:nvSpPr>
        <p:spPr>
          <a:xfrm>
            <a:off x="4029075" y="26860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Issue approved GBfoods project T-shirts before deployment. Confirm sizes and record each issue.</a:t>
            </a:r>
          </a:p>
        </p:txBody>
      </p:sp>
      <p:sp>
        <p:nvSpPr>
          <p:cNvPr id="6" name="Rectangle 5">
            <a:extLst>
              <a:ext uri="{FF2B5EF4-FFF2-40B4-BE49-F238E27FC236}">
                <a16:creationId xmlns:a16="http://schemas.microsoft.com/office/drawing/2014/main" id="{9C3EA1BD-C196-495E-8ED3-84ACC226C789}"/>
              </a:ext>
            </a:extLst>
          </p:cNvPr>
          <p:cNvSpPr>
            <a:spLocks noGrp="1"/>
          </p:cNvSpPr>
          <p:nvPr/>
        </p:nvSpPr>
        <p:spPr>
          <a:xfrm>
            <a:off x="609600" y="35052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Photo ID cards</a:t>
            </a:r>
          </a:p>
        </p:txBody>
      </p:sp>
      <p:sp>
        <p:nvSpPr>
          <p:cNvPr id="7" name="Rectangle 6">
            <a:extLst>
              <a:ext uri="{FF2B5EF4-FFF2-40B4-BE49-F238E27FC236}">
                <a16:creationId xmlns:a16="http://schemas.microsoft.com/office/drawing/2014/main" id="{FC2E3E3D-3BEC-4D46-836B-4779E1707BB7}"/>
              </a:ext>
            </a:extLst>
          </p:cNvPr>
          <p:cNvSpPr>
            <a:spLocks noGrp="1"/>
          </p:cNvSpPr>
          <p:nvPr/>
        </p:nvSpPr>
        <p:spPr>
          <a:xfrm>
            <a:off x="4029075" y="35052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Display the person’s photo, full name, staff number, role and project name, with a supervisor contact.</a:t>
            </a:r>
          </a:p>
        </p:txBody>
      </p:sp>
      <p:sp>
        <p:nvSpPr>
          <p:cNvPr id="8" name="Rectangle 7">
            <a:extLst>
              <a:ext uri="{FF2B5EF4-FFF2-40B4-BE49-F238E27FC236}">
                <a16:creationId xmlns:a16="http://schemas.microsoft.com/office/drawing/2014/main" id="{EB2ECCA5-EFD9-4E22-8AF0-0732C226DAB9}"/>
              </a:ext>
            </a:extLst>
          </p:cNvPr>
          <p:cNvSpPr>
            <a:spLocks noGrp="1"/>
          </p:cNvSpPr>
          <p:nvPr/>
        </p:nvSpPr>
        <p:spPr>
          <a:xfrm>
            <a:off x="609600" y="43243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Verified depot entry</a:t>
            </a:r>
          </a:p>
        </p:txBody>
      </p:sp>
      <p:sp>
        <p:nvSpPr>
          <p:cNvPr id="9" name="Rectangle 8">
            <a:extLst>
              <a:ext uri="{FF2B5EF4-FFF2-40B4-BE49-F238E27FC236}">
                <a16:creationId xmlns:a16="http://schemas.microsoft.com/office/drawing/2014/main" id="{58523C5F-593C-4E37-9057-7C978A4CFD5B}"/>
              </a:ext>
            </a:extLst>
          </p:cNvPr>
          <p:cNvSpPr>
            <a:spLocks noGrp="1"/>
          </p:cNvSpPr>
          <p:nvPr/>
        </p:nvSpPr>
        <p:spPr>
          <a:xfrm>
            <a:off x="4029075" y="43243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Match the ID card to the approved roster and platform profile. Confirm photo and GPS check-in.</a:t>
            </a:r>
          </a:p>
        </p:txBody>
      </p:sp>
      <p:sp>
        <p:nvSpPr>
          <p:cNvPr id="10" name="Rectangle 9">
            <a:extLst>
              <a:ext uri="{FF2B5EF4-FFF2-40B4-BE49-F238E27FC236}">
                <a16:creationId xmlns:a16="http://schemas.microsoft.com/office/drawing/2014/main" id="{3D824886-C09D-4ECF-939B-4AD26FD28C27}"/>
              </a:ext>
            </a:extLst>
          </p:cNvPr>
          <p:cNvSpPr>
            <a:spLocks noGrp="1"/>
          </p:cNvSpPr>
          <p:nvPr/>
        </p:nvSpPr>
        <p:spPr>
          <a:xfrm>
            <a:off x="609600" y="51435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Daily compliance</a:t>
            </a:r>
          </a:p>
        </p:txBody>
      </p:sp>
      <p:sp>
        <p:nvSpPr>
          <p:cNvPr id="11" name="Rectangle 10">
            <a:extLst>
              <a:ext uri="{FF2B5EF4-FFF2-40B4-BE49-F238E27FC236}">
                <a16:creationId xmlns:a16="http://schemas.microsoft.com/office/drawing/2014/main" id="{996220C9-D323-4CCB-B774-DDAFDC810392}"/>
              </a:ext>
            </a:extLst>
          </p:cNvPr>
          <p:cNvSpPr>
            <a:spLocks noGrp="1"/>
          </p:cNvSpPr>
          <p:nvPr/>
        </p:nvSpPr>
        <p:spPr>
          <a:xfrm>
            <a:off x="4029075" y="51435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Wear the T-shirt and visible ID throughout the visit, with required PPE. Report lost cards and remove access at exit.</a:t>
            </a:r>
          </a:p>
        </p:txBody>
      </p:sp>
      <p:sp>
        <p:nvSpPr>
          <p:cNvPr id="12" name="Rectangle 11">
            <a:extLst>
              <a:ext uri="{FF2B5EF4-FFF2-40B4-BE49-F238E27FC236}">
                <a16:creationId xmlns:a16="http://schemas.microsoft.com/office/drawing/2014/main" id="{198B0951-E7CA-4627-B8ED-A7F8F9E7C65C}"/>
              </a:ext>
            </a:extLst>
          </p:cNvPr>
          <p:cNvSpPr>
            <a:spLocks noGrp="1"/>
          </p:cNvSpPr>
          <p:nvPr/>
        </p:nvSpPr>
        <p:spPr>
          <a:xfrm>
            <a:off x="609600" y="6238875"/>
            <a:ext cx="10972800" cy="361950"/>
          </a:xfrm>
          <a:prstGeom prst="rect">
            <a:avLst/>
          </a:prstGeom>
          <a:noFill/>
          <a:ln w="0">
            <a:noFill/>
          </a:ln>
        </p:spPr>
        <p:txBody>
          <a:bodyPr>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GBfoods approves artwork before production. Identification supports access control and does not replace PPE.</a:t>
            </a:r>
          </a:p>
        </p:txBody>
      </p:sp>
    </p:spTree>
    <p:extLst>
      <p:ext uri="{BB962C8B-B14F-4D97-AF65-F5344CB8AC3E}">
        <p14:creationId xmlns:p14="http://schemas.microsoft.com/office/powerpoint/2010/main" val="1542825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68D2E8D-B733-482C-949B-A84EE06EBBAA}"/>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Route planning starts with workload</a:t>
            </a:r>
          </a:p>
        </p:txBody>
      </p:sp>
      <p:sp>
        <p:nvSpPr>
          <p:cNvPr id="2" name="Rectangle 1">
            <a:extLst>
              <a:ext uri="{FF2B5EF4-FFF2-40B4-BE49-F238E27FC236}">
                <a16:creationId xmlns:a16="http://schemas.microsoft.com/office/drawing/2014/main" id="{AC984234-9E0C-4862-B7DE-333A0658B627}"/>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PRE WORK</a:t>
            </a:r>
          </a:p>
        </p:txBody>
      </p:sp>
      <p:sp>
        <p:nvSpPr>
          <p:cNvPr id="3" name="Rectangle 2">
            <a:extLst>
              <a:ext uri="{FF2B5EF4-FFF2-40B4-BE49-F238E27FC236}">
                <a16:creationId xmlns:a16="http://schemas.microsoft.com/office/drawing/2014/main" id="{16D02B5A-B64D-4115-808C-311B9E00CBCE}"/>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22</a:t>
            </a:r>
          </a:p>
        </p:txBody>
      </p:sp>
      <p:sp>
        <p:nvSpPr>
          <p:cNvPr id="4" name="Rectangle 3">
            <a:extLst>
              <a:ext uri="{FF2B5EF4-FFF2-40B4-BE49-F238E27FC236}">
                <a16:creationId xmlns:a16="http://schemas.microsoft.com/office/drawing/2014/main" id="{99ACBC3F-D9D9-495E-A23F-3A4590A0489A}"/>
              </a:ext>
            </a:extLst>
          </p:cNvPr>
          <p:cNvSpPr>
            <a:spLocks noGrp="1"/>
          </p:cNvSpPr>
          <p:nvPr/>
        </p:nvSpPr>
        <p:spPr>
          <a:xfrm>
            <a:off x="609600" y="1838325"/>
            <a:ext cx="3302000" cy="857250"/>
          </a:xfrm>
          <a:prstGeom prst="rect">
            <a:avLst/>
          </a:prstGeom>
          <a:noFill/>
          <a:ln w="0">
            <a:noFill/>
          </a:ln>
        </p:spPr>
        <p:txBody>
          <a:bodyPr lIns="0" tIns="0" rIns="0" bIns="0">
            <a:noAutofit/>
          </a:bodyPr>
          <a:lstStyle/>
          <a:p>
            <a:pPr>
              <a:defRPr sz="5250" b="1">
                <a:solidFill>
                  <a:srgbClr val="FE5000"/>
                </a:solidFill>
                <a:latin typeface="DejaVu Sans"/>
                <a:ea typeface="DejaVu Sans"/>
                <a:cs typeface="DejaVu Sans"/>
              </a:defRPr>
            </a:pPr>
            <a:r>
              <a:rPr sz="5250" b="1">
                <a:solidFill>
                  <a:srgbClr val="FE5000"/>
                </a:solidFill>
                <a:latin typeface="DejaVu Sans"/>
                <a:ea typeface="DejaVu Sans"/>
                <a:cs typeface="DejaVu Sans"/>
              </a:rPr>
              <a:t>01</a:t>
            </a:r>
          </a:p>
        </p:txBody>
      </p:sp>
      <p:sp>
        <p:nvSpPr>
          <p:cNvPr id="5" name="Rectangle 4">
            <a:extLst>
              <a:ext uri="{FF2B5EF4-FFF2-40B4-BE49-F238E27FC236}">
                <a16:creationId xmlns:a16="http://schemas.microsoft.com/office/drawing/2014/main" id="{DFE443A4-7444-4B85-A640-6AEA02EF8BEF}"/>
              </a:ext>
            </a:extLst>
          </p:cNvPr>
          <p:cNvSpPr>
            <a:spLocks noGrp="1"/>
          </p:cNvSpPr>
          <p:nvPr/>
        </p:nvSpPr>
        <p:spPr>
          <a:xfrm>
            <a:off x="609600" y="2905125"/>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Rank the depots</a:t>
            </a:r>
          </a:p>
        </p:txBody>
      </p:sp>
      <p:sp>
        <p:nvSpPr>
          <p:cNvPr id="6" name="Rectangle 5">
            <a:extLst>
              <a:ext uri="{FF2B5EF4-FFF2-40B4-BE49-F238E27FC236}">
                <a16:creationId xmlns:a16="http://schemas.microsoft.com/office/drawing/2014/main" id="{7B5AA747-6853-4CC1-B2D1-9C4A494E109D}"/>
              </a:ext>
            </a:extLst>
          </p:cNvPr>
          <p:cNvSpPr>
            <a:spLocks noGrp="1"/>
          </p:cNvSpPr>
          <p:nvPr/>
        </p:nvSpPr>
        <p:spPr>
          <a:xfrm>
            <a:off x="609600" y="3743325"/>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Agree urgency and estimate team-hours from volume, SKU mix and access.</a:t>
            </a:r>
          </a:p>
        </p:txBody>
      </p:sp>
      <p:sp>
        <p:nvSpPr>
          <p:cNvPr id="7" name="Rectangle 6">
            <a:extLst>
              <a:ext uri="{FF2B5EF4-FFF2-40B4-BE49-F238E27FC236}">
                <a16:creationId xmlns:a16="http://schemas.microsoft.com/office/drawing/2014/main" id="{01DB1498-0DFE-4CA2-8D14-B9C0067D765F}"/>
              </a:ext>
            </a:extLst>
          </p:cNvPr>
          <p:cNvSpPr>
            <a:spLocks noGrp="1"/>
          </p:cNvSpPr>
          <p:nvPr/>
        </p:nvSpPr>
        <p:spPr>
          <a:xfrm>
            <a:off x="4267200" y="1838325"/>
            <a:ext cx="3302000" cy="857250"/>
          </a:xfrm>
          <a:prstGeom prst="rect">
            <a:avLst/>
          </a:prstGeom>
          <a:noFill/>
          <a:ln w="0">
            <a:noFill/>
          </a:ln>
        </p:spPr>
        <p:txBody>
          <a:bodyPr lIns="0" tIns="0" rIns="0" bIns="0">
            <a:noAutofit/>
          </a:bodyPr>
          <a:lstStyle/>
          <a:p>
            <a:pPr>
              <a:defRPr sz="5250" b="1">
                <a:solidFill>
                  <a:srgbClr val="FE5000"/>
                </a:solidFill>
                <a:latin typeface="DejaVu Sans"/>
                <a:ea typeface="DejaVu Sans"/>
                <a:cs typeface="DejaVu Sans"/>
              </a:defRPr>
            </a:pPr>
            <a:r>
              <a:rPr sz="5250" b="1">
                <a:solidFill>
                  <a:srgbClr val="FE5000"/>
                </a:solidFill>
                <a:latin typeface="DejaVu Sans"/>
                <a:ea typeface="DejaVu Sans"/>
                <a:cs typeface="DejaVu Sans"/>
              </a:rPr>
              <a:t>02</a:t>
            </a:r>
          </a:p>
        </p:txBody>
      </p:sp>
      <p:sp>
        <p:nvSpPr>
          <p:cNvPr id="8" name="Rectangle 7">
            <a:extLst>
              <a:ext uri="{FF2B5EF4-FFF2-40B4-BE49-F238E27FC236}">
                <a16:creationId xmlns:a16="http://schemas.microsoft.com/office/drawing/2014/main" id="{1ED3DFFA-2425-4738-8187-A7F0458604A4}"/>
              </a:ext>
            </a:extLst>
          </p:cNvPr>
          <p:cNvSpPr>
            <a:spLocks noGrp="1"/>
          </p:cNvSpPr>
          <p:nvPr/>
        </p:nvSpPr>
        <p:spPr>
          <a:xfrm>
            <a:off x="4267200" y="2905125"/>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Build corridors</a:t>
            </a:r>
          </a:p>
        </p:txBody>
      </p:sp>
      <p:sp>
        <p:nvSpPr>
          <p:cNvPr id="9" name="Rectangle 8">
            <a:extLst>
              <a:ext uri="{FF2B5EF4-FFF2-40B4-BE49-F238E27FC236}">
                <a16:creationId xmlns:a16="http://schemas.microsoft.com/office/drawing/2014/main" id="{3DAB8F9C-D78F-4EEF-AE4A-0C5E6FE7F063}"/>
              </a:ext>
            </a:extLst>
          </p:cNvPr>
          <p:cNvSpPr>
            <a:spLocks noGrp="1"/>
          </p:cNvSpPr>
          <p:nvPr/>
        </p:nvSpPr>
        <p:spPr>
          <a:xfrm>
            <a:off x="4267200" y="3743325"/>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Group nearby ready depots. Use local bases for distant locations.</a:t>
            </a:r>
          </a:p>
        </p:txBody>
      </p:sp>
      <p:sp>
        <p:nvSpPr>
          <p:cNvPr id="10" name="Rectangle 9">
            <a:extLst>
              <a:ext uri="{FF2B5EF4-FFF2-40B4-BE49-F238E27FC236}">
                <a16:creationId xmlns:a16="http://schemas.microsoft.com/office/drawing/2014/main" id="{765C2F7C-5A96-4CCC-B4A2-F26E67A66C60}"/>
              </a:ext>
            </a:extLst>
          </p:cNvPr>
          <p:cNvSpPr>
            <a:spLocks noGrp="1"/>
          </p:cNvSpPr>
          <p:nvPr/>
        </p:nvSpPr>
        <p:spPr>
          <a:xfrm>
            <a:off x="7924800" y="1838325"/>
            <a:ext cx="3302000" cy="857250"/>
          </a:xfrm>
          <a:prstGeom prst="rect">
            <a:avLst/>
          </a:prstGeom>
          <a:noFill/>
          <a:ln w="0">
            <a:noFill/>
          </a:ln>
        </p:spPr>
        <p:txBody>
          <a:bodyPr lIns="0" tIns="0" rIns="0" bIns="0">
            <a:noAutofit/>
          </a:bodyPr>
          <a:lstStyle/>
          <a:p>
            <a:pPr>
              <a:defRPr sz="5250" b="1">
                <a:solidFill>
                  <a:srgbClr val="FE5000"/>
                </a:solidFill>
                <a:latin typeface="DejaVu Sans"/>
                <a:ea typeface="DejaVu Sans"/>
                <a:cs typeface="DejaVu Sans"/>
              </a:defRPr>
            </a:pPr>
            <a:r>
              <a:rPr sz="5250" b="1">
                <a:solidFill>
                  <a:srgbClr val="FE5000"/>
                </a:solidFill>
                <a:latin typeface="DejaVu Sans"/>
                <a:ea typeface="DejaVu Sans"/>
                <a:cs typeface="DejaVu Sans"/>
              </a:rPr>
              <a:t>03</a:t>
            </a:r>
          </a:p>
        </p:txBody>
      </p:sp>
      <p:sp>
        <p:nvSpPr>
          <p:cNvPr id="11" name="Rectangle 10">
            <a:extLst>
              <a:ext uri="{FF2B5EF4-FFF2-40B4-BE49-F238E27FC236}">
                <a16:creationId xmlns:a16="http://schemas.microsoft.com/office/drawing/2014/main" id="{90336F74-C777-4D77-984A-948FBDC9782E}"/>
              </a:ext>
            </a:extLst>
          </p:cNvPr>
          <p:cNvSpPr>
            <a:spLocks noGrp="1"/>
          </p:cNvSpPr>
          <p:nvPr/>
        </p:nvSpPr>
        <p:spPr>
          <a:xfrm>
            <a:off x="7924800" y="2905125"/>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Confirm dispatch</a:t>
            </a:r>
          </a:p>
        </p:txBody>
      </p:sp>
      <p:sp>
        <p:nvSpPr>
          <p:cNvPr id="12" name="Rectangle 11">
            <a:extLst>
              <a:ext uri="{FF2B5EF4-FFF2-40B4-BE49-F238E27FC236}">
                <a16:creationId xmlns:a16="http://schemas.microsoft.com/office/drawing/2014/main" id="{4AFD4700-5770-4687-BBFD-98890CE71325}"/>
              </a:ext>
            </a:extLst>
          </p:cNvPr>
          <p:cNvSpPr>
            <a:spLocks noGrp="1"/>
          </p:cNvSpPr>
          <p:nvPr/>
        </p:nvSpPr>
        <p:spPr>
          <a:xfrm>
            <a:off x="7924800" y="3743325"/>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Freeze the next-day route at 17:00 after depot confirmation by 15:00.</a:t>
            </a:r>
          </a:p>
        </p:txBody>
      </p:sp>
      <p:sp>
        <p:nvSpPr>
          <p:cNvPr id="13" name="Rectangle 12">
            <a:extLst>
              <a:ext uri="{FF2B5EF4-FFF2-40B4-BE49-F238E27FC236}">
                <a16:creationId xmlns:a16="http://schemas.microsoft.com/office/drawing/2014/main" id="{67EAC0DC-7944-4F14-8A84-D3E1FEE6F208}"/>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QC persons stay assigned to their distributors. Cluster supervisors plan visits across up to five sites.</a:t>
            </a:r>
          </a:p>
        </p:txBody>
      </p:sp>
    </p:spTree>
    <p:extLst>
      <p:ext uri="{BB962C8B-B14F-4D97-AF65-F5344CB8AC3E}">
        <p14:creationId xmlns:p14="http://schemas.microsoft.com/office/powerpoint/2010/main" val="111370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D53FF2D-CC4C-4E9A-9483-B75E8983D593}"/>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Two pilot depots before full rollout</a:t>
            </a:r>
          </a:p>
        </p:txBody>
      </p:sp>
      <p:sp>
        <p:nvSpPr>
          <p:cNvPr id="2" name="Rectangle 1">
            <a:extLst>
              <a:ext uri="{FF2B5EF4-FFF2-40B4-BE49-F238E27FC236}">
                <a16:creationId xmlns:a16="http://schemas.microsoft.com/office/drawing/2014/main" id="{3AC13EDD-1211-487D-887F-796A6E4BA0FB}"/>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PRE WORK</a:t>
            </a:r>
          </a:p>
        </p:txBody>
      </p:sp>
      <p:sp>
        <p:nvSpPr>
          <p:cNvPr id="3" name="Rectangle 2">
            <a:extLst>
              <a:ext uri="{FF2B5EF4-FFF2-40B4-BE49-F238E27FC236}">
                <a16:creationId xmlns:a16="http://schemas.microsoft.com/office/drawing/2014/main" id="{BE54A117-554B-47CB-95EF-18F960E844BB}"/>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23</a:t>
            </a:r>
          </a:p>
        </p:txBody>
      </p:sp>
      <p:sp>
        <p:nvSpPr>
          <p:cNvPr id="4" name="Rectangle 3">
            <a:extLst>
              <a:ext uri="{FF2B5EF4-FFF2-40B4-BE49-F238E27FC236}">
                <a16:creationId xmlns:a16="http://schemas.microsoft.com/office/drawing/2014/main" id="{9D945E12-F45E-4B2E-B888-0762FB05A380}"/>
              </a:ext>
            </a:extLst>
          </p:cNvPr>
          <p:cNvSpPr>
            <a:spLocks noGrp="1"/>
          </p:cNvSpPr>
          <p:nvPr/>
        </p:nvSpPr>
        <p:spPr>
          <a:xfrm>
            <a:off x="609600" y="1771650"/>
            <a:ext cx="3333750" cy="1762125"/>
          </a:xfrm>
          <a:prstGeom prst="rect">
            <a:avLst/>
          </a:prstGeom>
          <a:noFill/>
          <a:ln w="0">
            <a:noFill/>
          </a:ln>
        </p:spPr>
        <p:txBody>
          <a:bodyPr lIns="0" tIns="0" rIns="0" bIns="0">
            <a:noAutofit/>
          </a:bodyPr>
          <a:lstStyle/>
          <a:p>
            <a:pPr>
              <a:defRPr sz="11625" b="1">
                <a:solidFill>
                  <a:srgbClr val="FE5000"/>
                </a:solidFill>
                <a:latin typeface="DejaVu Sans"/>
                <a:ea typeface="DejaVu Sans"/>
                <a:cs typeface="DejaVu Sans"/>
              </a:defRPr>
            </a:pPr>
            <a:r>
              <a:rPr sz="11625" b="1">
                <a:solidFill>
                  <a:srgbClr val="FE5000"/>
                </a:solidFill>
                <a:latin typeface="DejaVu Sans"/>
                <a:ea typeface="DejaVu Sans"/>
                <a:cs typeface="DejaVu Sans"/>
              </a:rPr>
              <a:t>2</a:t>
            </a:r>
          </a:p>
        </p:txBody>
      </p:sp>
      <p:sp>
        <p:nvSpPr>
          <p:cNvPr id="5" name="Rectangle 4">
            <a:extLst>
              <a:ext uri="{FF2B5EF4-FFF2-40B4-BE49-F238E27FC236}">
                <a16:creationId xmlns:a16="http://schemas.microsoft.com/office/drawing/2014/main" id="{6FC7F2BE-9B0B-4E27-88DB-56557AD128FE}"/>
              </a:ext>
            </a:extLst>
          </p:cNvPr>
          <p:cNvSpPr>
            <a:spLocks noGrp="1"/>
          </p:cNvSpPr>
          <p:nvPr/>
        </p:nvSpPr>
        <p:spPr>
          <a:xfrm>
            <a:off x="609600" y="3800475"/>
            <a:ext cx="4476750" cy="952500"/>
          </a:xfrm>
          <a:prstGeom prst="rect">
            <a:avLst/>
          </a:prstGeom>
          <a:noFill/>
          <a:ln w="0">
            <a:noFill/>
          </a:ln>
        </p:spPr>
        <p:txBody>
          <a:bodyPr lIns="0" tIns="0" rIns="0" bIns="0">
            <a:noAutofit/>
          </a:bodyPr>
          <a:lstStyle/>
          <a:p>
            <a:pPr>
              <a:defRPr sz="2325" b="1">
                <a:solidFill>
                  <a:srgbClr val="303030"/>
                </a:solidFill>
                <a:latin typeface="DejaVu Sans"/>
                <a:ea typeface="DejaVu Sans"/>
                <a:cs typeface="DejaVu Sans"/>
              </a:defRPr>
            </a:pPr>
            <a:r>
              <a:rPr sz="2325" b="1">
                <a:solidFill>
                  <a:srgbClr val="303030"/>
                </a:solidFill>
                <a:latin typeface="DejaVu Sans"/>
                <a:ea typeface="DejaVu Sans"/>
                <a:cs typeface="DejaVu Sans"/>
              </a:rPr>
              <a:t>different stock or access profiles</a:t>
            </a:r>
          </a:p>
        </p:txBody>
      </p:sp>
      <p:sp>
        <p:nvSpPr>
          <p:cNvPr id="6" name="Rectangle 5">
            <a:extLst>
              <a:ext uri="{FF2B5EF4-FFF2-40B4-BE49-F238E27FC236}">
                <a16:creationId xmlns:a16="http://schemas.microsoft.com/office/drawing/2014/main" id="{4BE85D2C-FDBA-4CA1-A9A9-C14393F4F10B}"/>
              </a:ext>
            </a:extLst>
          </p:cNvPr>
          <p:cNvSpPr>
            <a:spLocks noGrp="1"/>
          </p:cNvSpPr>
          <p:nvPr/>
        </p:nvSpPr>
        <p:spPr>
          <a:xfrm>
            <a:off x="5657850" y="1800225"/>
            <a:ext cx="5762625"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Measure</a:t>
            </a:r>
          </a:p>
        </p:txBody>
      </p:sp>
      <p:sp>
        <p:nvSpPr>
          <p:cNvPr id="7" name="Rectangle 6">
            <a:extLst>
              <a:ext uri="{FF2B5EF4-FFF2-40B4-BE49-F238E27FC236}">
                <a16:creationId xmlns:a16="http://schemas.microsoft.com/office/drawing/2014/main" id="{1697101A-3166-408D-9C4C-845CB91E1CEB}"/>
              </a:ext>
            </a:extLst>
          </p:cNvPr>
          <p:cNvSpPr>
            <a:spLocks noGrp="1"/>
          </p:cNvSpPr>
          <p:nvPr/>
        </p:nvSpPr>
        <p:spPr>
          <a:xfrm>
            <a:off x="5657850" y="2171700"/>
            <a:ext cx="5762625"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Units per team-hour, defect patterns and actual handling time.</a:t>
            </a:r>
          </a:p>
        </p:txBody>
      </p:sp>
      <p:sp>
        <p:nvSpPr>
          <p:cNvPr id="8" name="Rectangle 7">
            <a:extLst>
              <a:ext uri="{FF2B5EF4-FFF2-40B4-BE49-F238E27FC236}">
                <a16:creationId xmlns:a16="http://schemas.microsoft.com/office/drawing/2014/main" id="{F49DF969-3D33-4CDF-8CD8-B1C6F6E46DC5}"/>
              </a:ext>
            </a:extLst>
          </p:cNvPr>
          <p:cNvSpPr>
            <a:spLocks noGrp="1"/>
          </p:cNvSpPr>
          <p:nvPr/>
        </p:nvSpPr>
        <p:spPr>
          <a:xfrm>
            <a:off x="5657850" y="3067050"/>
            <a:ext cx="5762625"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Validate</a:t>
            </a:r>
          </a:p>
        </p:txBody>
      </p:sp>
      <p:sp>
        <p:nvSpPr>
          <p:cNvPr id="9" name="Rectangle 8">
            <a:extLst>
              <a:ext uri="{FF2B5EF4-FFF2-40B4-BE49-F238E27FC236}">
                <a16:creationId xmlns:a16="http://schemas.microsoft.com/office/drawing/2014/main" id="{6B4C2F1C-2012-4880-9907-D1BDB3FAB647}"/>
              </a:ext>
            </a:extLst>
          </p:cNvPr>
          <p:cNvSpPr>
            <a:spLocks noGrp="1"/>
          </p:cNvSpPr>
          <p:nvPr/>
        </p:nvSpPr>
        <p:spPr>
          <a:xfrm>
            <a:off x="5657850" y="3438525"/>
            <a:ext cx="5762625"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Classification consistency, count accuracy and evidence capture.</a:t>
            </a:r>
          </a:p>
        </p:txBody>
      </p:sp>
      <p:sp>
        <p:nvSpPr>
          <p:cNvPr id="10" name="Rectangle 9">
            <a:extLst>
              <a:ext uri="{FF2B5EF4-FFF2-40B4-BE49-F238E27FC236}">
                <a16:creationId xmlns:a16="http://schemas.microsoft.com/office/drawing/2014/main" id="{4A1D14C8-E7BE-4BCB-BAE9-848B3990C328}"/>
              </a:ext>
            </a:extLst>
          </p:cNvPr>
          <p:cNvSpPr>
            <a:spLocks noGrp="1"/>
          </p:cNvSpPr>
          <p:nvPr/>
        </p:nvSpPr>
        <p:spPr>
          <a:xfrm>
            <a:off x="5657850" y="4333875"/>
            <a:ext cx="5762625"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Approve</a:t>
            </a:r>
          </a:p>
        </p:txBody>
      </p:sp>
      <p:sp>
        <p:nvSpPr>
          <p:cNvPr id="11" name="Rectangle 10">
            <a:extLst>
              <a:ext uri="{FF2B5EF4-FFF2-40B4-BE49-F238E27FC236}">
                <a16:creationId xmlns:a16="http://schemas.microsoft.com/office/drawing/2014/main" id="{592DB761-F83F-479F-BCB0-0206BEF969A8}"/>
              </a:ext>
            </a:extLst>
          </p:cNvPr>
          <p:cNvSpPr>
            <a:spLocks noGrp="1"/>
          </p:cNvSpPr>
          <p:nvPr/>
        </p:nvSpPr>
        <p:spPr>
          <a:xfrm>
            <a:off x="5657850" y="4705350"/>
            <a:ext cx="5762625"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GBfoods accepts the method and revised forecast before rollout.</a:t>
            </a:r>
          </a:p>
        </p:txBody>
      </p:sp>
      <p:sp>
        <p:nvSpPr>
          <p:cNvPr id="12" name="Rectangle 11">
            <a:extLst>
              <a:ext uri="{FF2B5EF4-FFF2-40B4-BE49-F238E27FC236}">
                <a16:creationId xmlns:a16="http://schemas.microsoft.com/office/drawing/2014/main" id="{3FAE2AFB-0AA4-4E38-8FF5-FAD02E17FD72}"/>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Pilot results confirm QC days, handling support and supervisor travel. Unit throughput remains subject to measurement.</a:t>
            </a:r>
          </a:p>
        </p:txBody>
      </p:sp>
    </p:spTree>
    <p:extLst>
      <p:ext uri="{BB962C8B-B14F-4D97-AF65-F5344CB8AC3E}">
        <p14:creationId xmlns:p14="http://schemas.microsoft.com/office/powerpoint/2010/main" val="969946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E5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8E0A6F-6090-4CE2-8547-B585B68258DA}"/>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24</a:t>
            </a:r>
          </a:p>
        </p:txBody>
      </p:sp>
      <p:sp>
        <p:nvSpPr>
          <p:cNvPr id="2" name="Rectangle 1">
            <a:extLst>
              <a:ext uri="{FF2B5EF4-FFF2-40B4-BE49-F238E27FC236}">
                <a16:creationId xmlns:a16="http://schemas.microsoft.com/office/drawing/2014/main" id="{DFFA19B3-1826-40B9-969D-F51BAD1BC85B}"/>
              </a:ext>
            </a:extLst>
          </p:cNvPr>
          <p:cNvSpPr>
            <a:spLocks noGrp="1"/>
          </p:cNvSpPr>
          <p:nvPr/>
        </p:nvSpPr>
        <p:spPr>
          <a:xfrm>
            <a:off x="609600" y="790575"/>
            <a:ext cx="4762500" cy="895350"/>
          </a:xfrm>
          <a:prstGeom prst="rect">
            <a:avLst/>
          </a:prstGeom>
          <a:noFill/>
          <a:ln w="0">
            <a:noFill/>
          </a:ln>
        </p:spPr>
        <p:txBody>
          <a:bodyPr lIns="0" tIns="0" rIns="0" bIns="0">
            <a:noAutofit/>
          </a:bodyPr>
          <a:lstStyle/>
          <a:p>
            <a:pPr>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04</a:t>
            </a:r>
          </a:p>
        </p:txBody>
      </p:sp>
      <p:sp>
        <p:nvSpPr>
          <p:cNvPr id="3" name="Rectangle 2">
            <a:extLst>
              <a:ext uri="{FF2B5EF4-FFF2-40B4-BE49-F238E27FC236}">
                <a16:creationId xmlns:a16="http://schemas.microsoft.com/office/drawing/2014/main" id="{B9D2F144-EC04-405B-B1E8-25C9DDF7780F}"/>
              </a:ext>
            </a:extLst>
          </p:cNvPr>
          <p:cNvSpPr>
            <a:spLocks noGrp="1"/>
          </p:cNvSpPr>
          <p:nvPr/>
        </p:nvSpPr>
        <p:spPr>
          <a:xfrm>
            <a:off x="609600" y="2390775"/>
            <a:ext cx="10763250" cy="1200150"/>
          </a:xfrm>
          <a:prstGeom prst="rect">
            <a:avLst/>
          </a:prstGeom>
          <a:noFill/>
          <a:ln w="0">
            <a:noFill/>
          </a:ln>
        </p:spPr>
        <p:txBody>
          <a:bodyPr lIns="0" tIns="0" rIns="0" bIns="0">
            <a:noAutofit/>
          </a:bodyPr>
          <a:lstStyle/>
          <a:p>
            <a:pPr>
              <a:defRPr sz="4950" b="1">
                <a:solidFill>
                  <a:srgbClr val="FFFFFF"/>
                </a:solidFill>
                <a:latin typeface="DejaVu Sans"/>
                <a:ea typeface="DejaVu Sans"/>
                <a:cs typeface="DejaVu Sans"/>
              </a:defRPr>
            </a:pPr>
            <a:r>
              <a:rPr sz="4950" b="1">
                <a:solidFill>
                  <a:srgbClr val="FFFFFF"/>
                </a:solidFill>
                <a:latin typeface="DejaVu Sans"/>
                <a:ea typeface="DejaVu Sans"/>
                <a:cs typeface="DejaVu Sans"/>
              </a:rPr>
              <a:t>The field data platform</a:t>
            </a:r>
          </a:p>
        </p:txBody>
      </p:sp>
      <p:sp>
        <p:nvSpPr>
          <p:cNvPr id="4" name="Rectangle 3">
            <a:extLst>
              <a:ext uri="{FF2B5EF4-FFF2-40B4-BE49-F238E27FC236}">
                <a16:creationId xmlns:a16="http://schemas.microsoft.com/office/drawing/2014/main" id="{1B801694-733C-4AA2-99C9-7F7921FEB955}"/>
              </a:ext>
            </a:extLst>
          </p:cNvPr>
          <p:cNvSpPr>
            <a:spLocks noGrp="1"/>
          </p:cNvSpPr>
          <p:nvPr/>
        </p:nvSpPr>
        <p:spPr>
          <a:xfrm>
            <a:off x="609600" y="4267200"/>
            <a:ext cx="9620250" cy="1295400"/>
          </a:xfrm>
          <a:prstGeom prst="rect">
            <a:avLst/>
          </a:prstGeom>
          <a:noFill/>
          <a:ln w="0">
            <a:noFill/>
          </a:ln>
        </p:spPr>
        <p:txBody>
          <a:bodyPr lIns="0" tIns="0" rIns="0" bIns="0">
            <a:noAutofit/>
          </a:bodyPr>
          <a:lstStyle/>
          <a:p>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One platform for field input, evidence uploads and direct client access.</a:t>
            </a:r>
          </a:p>
        </p:txBody>
      </p:sp>
    </p:spTree>
    <p:extLst>
      <p:ext uri="{BB962C8B-B14F-4D97-AF65-F5344CB8AC3E}">
        <p14:creationId xmlns:p14="http://schemas.microsoft.com/office/powerpoint/2010/main" val="102197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0ECC8E3-398D-48F0-982C-4632A12F37CC}"/>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A shared view of every depot</a:t>
            </a:r>
          </a:p>
        </p:txBody>
      </p:sp>
      <p:sp>
        <p:nvSpPr>
          <p:cNvPr id="2" name="Rectangle 1">
            <a:extLst>
              <a:ext uri="{FF2B5EF4-FFF2-40B4-BE49-F238E27FC236}">
                <a16:creationId xmlns:a16="http://schemas.microsoft.com/office/drawing/2014/main" id="{545B2A67-406A-46AC-A845-2863116DC03F}"/>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PROPOSED PLATFORM</a:t>
            </a:r>
          </a:p>
        </p:txBody>
      </p:sp>
      <p:sp>
        <p:nvSpPr>
          <p:cNvPr id="3" name="Rectangle 2">
            <a:extLst>
              <a:ext uri="{FF2B5EF4-FFF2-40B4-BE49-F238E27FC236}">
                <a16:creationId xmlns:a16="http://schemas.microsoft.com/office/drawing/2014/main" id="{93A3B689-FC7D-44C6-B97A-CC3274FF5712}"/>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25</a:t>
            </a:r>
          </a:p>
        </p:txBody>
      </p:sp>
      <p:sp>
        <p:nvSpPr>
          <p:cNvPr id="4" name="Rectangle 3">
            <a:extLst>
              <a:ext uri="{FF2B5EF4-FFF2-40B4-BE49-F238E27FC236}">
                <a16:creationId xmlns:a16="http://schemas.microsoft.com/office/drawing/2014/main" id="{BCAE300E-ABFE-43B1-A52B-3E29AD0C37DA}"/>
              </a:ext>
            </a:extLst>
          </p:cNvPr>
          <p:cNvSpPr>
            <a:spLocks noGrp="1"/>
          </p:cNvSpPr>
          <p:nvPr/>
        </p:nvSpPr>
        <p:spPr>
          <a:xfrm>
            <a:off x="609600" y="1828800"/>
            <a:ext cx="3302000" cy="857250"/>
          </a:xfrm>
          <a:prstGeom prst="rect">
            <a:avLst/>
          </a:prstGeom>
          <a:noFill/>
          <a:ln w="0">
            <a:noFill/>
          </a:ln>
        </p:spPr>
        <p:txBody>
          <a:bodyPr lIns="0" tIns="0" rIns="0" bIns="0">
            <a:noAutofit/>
          </a:bodyPr>
          <a:lstStyle/>
          <a:p>
            <a:pPr>
              <a:defRPr sz="3375" b="1">
                <a:solidFill>
                  <a:srgbClr val="FE5000"/>
                </a:solidFill>
                <a:latin typeface="DejaVu Sans"/>
                <a:ea typeface="DejaVu Sans"/>
                <a:cs typeface="DejaVu Sans"/>
              </a:defRPr>
            </a:pPr>
            <a:r>
              <a:rPr sz="3375" b="1">
                <a:solidFill>
                  <a:srgbClr val="FE5000"/>
                </a:solidFill>
                <a:latin typeface="DejaVu Sans"/>
                <a:ea typeface="DejaVu Sans"/>
                <a:cs typeface="DejaVu Sans"/>
              </a:rPr>
              <a:t>FIELD</a:t>
            </a:r>
          </a:p>
        </p:txBody>
      </p:sp>
      <p:sp>
        <p:nvSpPr>
          <p:cNvPr id="5" name="Rectangle 4">
            <a:extLst>
              <a:ext uri="{FF2B5EF4-FFF2-40B4-BE49-F238E27FC236}">
                <a16:creationId xmlns:a16="http://schemas.microsoft.com/office/drawing/2014/main" id="{DB2F2FC3-3F57-4273-B479-DCD8378BF335}"/>
              </a:ext>
            </a:extLst>
          </p:cNvPr>
          <p:cNvSpPr>
            <a:spLocks noGrp="1"/>
          </p:cNvSpPr>
          <p:nvPr/>
        </p:nvSpPr>
        <p:spPr>
          <a:xfrm>
            <a:off x="609600" y="289560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Capture at source</a:t>
            </a:r>
          </a:p>
        </p:txBody>
      </p:sp>
      <p:sp>
        <p:nvSpPr>
          <p:cNvPr id="6" name="Rectangle 5">
            <a:extLst>
              <a:ext uri="{FF2B5EF4-FFF2-40B4-BE49-F238E27FC236}">
                <a16:creationId xmlns:a16="http://schemas.microsoft.com/office/drawing/2014/main" id="{10BE2F03-049F-4F1C-8709-086DAFBC2BE7}"/>
              </a:ext>
            </a:extLst>
          </p:cNvPr>
          <p:cNvSpPr>
            <a:spLocks noGrp="1"/>
          </p:cNvSpPr>
          <p:nvPr/>
        </p:nvSpPr>
        <p:spPr>
          <a:xfrm>
            <a:off x="609600" y="373380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Personnel submit attendance, counts, stock status and photographic evidence.</a:t>
            </a:r>
          </a:p>
        </p:txBody>
      </p:sp>
      <p:sp>
        <p:nvSpPr>
          <p:cNvPr id="7" name="Rectangle 6">
            <a:extLst>
              <a:ext uri="{FF2B5EF4-FFF2-40B4-BE49-F238E27FC236}">
                <a16:creationId xmlns:a16="http://schemas.microsoft.com/office/drawing/2014/main" id="{D72D17ED-893A-462C-BE24-C766EB648AC3}"/>
              </a:ext>
            </a:extLst>
          </p:cNvPr>
          <p:cNvSpPr>
            <a:spLocks noGrp="1"/>
          </p:cNvSpPr>
          <p:nvPr/>
        </p:nvSpPr>
        <p:spPr>
          <a:xfrm>
            <a:off x="4267200" y="1828800"/>
            <a:ext cx="3302000" cy="857250"/>
          </a:xfrm>
          <a:prstGeom prst="rect">
            <a:avLst/>
          </a:prstGeom>
          <a:noFill/>
          <a:ln w="0">
            <a:noFill/>
          </a:ln>
        </p:spPr>
        <p:txBody>
          <a:bodyPr lIns="0" tIns="0" rIns="0" bIns="0">
            <a:noAutofit/>
          </a:bodyPr>
          <a:lstStyle/>
          <a:p>
            <a:pPr>
              <a:defRPr sz="3375" b="1">
                <a:solidFill>
                  <a:srgbClr val="FE5000"/>
                </a:solidFill>
                <a:latin typeface="DejaVu Sans"/>
                <a:ea typeface="DejaVu Sans"/>
                <a:cs typeface="DejaVu Sans"/>
              </a:defRPr>
            </a:pPr>
            <a:r>
              <a:rPr sz="3375" b="1">
                <a:solidFill>
                  <a:srgbClr val="FE5000"/>
                </a:solidFill>
                <a:latin typeface="DejaVu Sans"/>
                <a:ea typeface="DejaVu Sans"/>
                <a:cs typeface="DejaVu Sans"/>
              </a:rPr>
              <a:t>REVIEW</a:t>
            </a:r>
          </a:p>
        </p:txBody>
      </p:sp>
      <p:sp>
        <p:nvSpPr>
          <p:cNvPr id="8" name="Rectangle 7">
            <a:extLst>
              <a:ext uri="{FF2B5EF4-FFF2-40B4-BE49-F238E27FC236}">
                <a16:creationId xmlns:a16="http://schemas.microsoft.com/office/drawing/2014/main" id="{72012ACE-55D7-4CEA-9E8D-A35DB6533DB9}"/>
              </a:ext>
            </a:extLst>
          </p:cNvPr>
          <p:cNvSpPr>
            <a:spLocks noGrp="1"/>
          </p:cNvSpPr>
          <p:nvPr/>
        </p:nvSpPr>
        <p:spPr>
          <a:xfrm>
            <a:off x="4267200" y="289560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Validate the record</a:t>
            </a:r>
          </a:p>
        </p:txBody>
      </p:sp>
      <p:sp>
        <p:nvSpPr>
          <p:cNvPr id="9" name="Rectangle 8">
            <a:extLst>
              <a:ext uri="{FF2B5EF4-FFF2-40B4-BE49-F238E27FC236}">
                <a16:creationId xmlns:a16="http://schemas.microsoft.com/office/drawing/2014/main" id="{7D665E91-DB29-4586-B27F-D9898FFD4ADD}"/>
              </a:ext>
            </a:extLst>
          </p:cNvPr>
          <p:cNvSpPr>
            <a:spLocks noGrp="1"/>
          </p:cNvSpPr>
          <p:nvPr/>
        </p:nvSpPr>
        <p:spPr>
          <a:xfrm>
            <a:off x="4267200" y="373380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Supervisors verify quantities and evidence, with a traceable review history.</a:t>
            </a:r>
          </a:p>
        </p:txBody>
      </p:sp>
      <p:sp>
        <p:nvSpPr>
          <p:cNvPr id="10" name="Rectangle 9">
            <a:extLst>
              <a:ext uri="{FF2B5EF4-FFF2-40B4-BE49-F238E27FC236}">
                <a16:creationId xmlns:a16="http://schemas.microsoft.com/office/drawing/2014/main" id="{D1F7B8BF-69EA-4C87-A436-6008726579BB}"/>
              </a:ext>
            </a:extLst>
          </p:cNvPr>
          <p:cNvSpPr>
            <a:spLocks noGrp="1"/>
          </p:cNvSpPr>
          <p:nvPr/>
        </p:nvSpPr>
        <p:spPr>
          <a:xfrm>
            <a:off x="7924800" y="1828800"/>
            <a:ext cx="3302000" cy="857250"/>
          </a:xfrm>
          <a:prstGeom prst="rect">
            <a:avLst/>
          </a:prstGeom>
          <a:noFill/>
          <a:ln w="0">
            <a:noFill/>
          </a:ln>
        </p:spPr>
        <p:txBody>
          <a:bodyPr lIns="0" tIns="0" rIns="0" bIns="0">
            <a:noAutofit/>
          </a:bodyPr>
          <a:lstStyle/>
          <a:p>
            <a:pPr>
              <a:defRPr sz="3375" b="1">
                <a:solidFill>
                  <a:srgbClr val="FE5000"/>
                </a:solidFill>
                <a:latin typeface="DejaVu Sans"/>
                <a:ea typeface="DejaVu Sans"/>
                <a:cs typeface="DejaVu Sans"/>
              </a:defRPr>
            </a:pPr>
            <a:r>
              <a:rPr sz="3375" b="1">
                <a:solidFill>
                  <a:srgbClr val="FE5000"/>
                </a:solidFill>
                <a:latin typeface="DejaVu Sans"/>
                <a:ea typeface="DejaVu Sans"/>
                <a:cs typeface="DejaVu Sans"/>
              </a:rPr>
              <a:t>CLIENT</a:t>
            </a:r>
          </a:p>
        </p:txBody>
      </p:sp>
      <p:sp>
        <p:nvSpPr>
          <p:cNvPr id="11" name="Rectangle 10">
            <a:extLst>
              <a:ext uri="{FF2B5EF4-FFF2-40B4-BE49-F238E27FC236}">
                <a16:creationId xmlns:a16="http://schemas.microsoft.com/office/drawing/2014/main" id="{EA1696CF-CAB4-4A7E-AD22-450925E19480}"/>
              </a:ext>
            </a:extLst>
          </p:cNvPr>
          <p:cNvSpPr>
            <a:spLocks noGrp="1"/>
          </p:cNvSpPr>
          <p:nvPr/>
        </p:nvSpPr>
        <p:spPr>
          <a:xfrm>
            <a:off x="7924800" y="289560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Access live progress</a:t>
            </a:r>
          </a:p>
        </p:txBody>
      </p:sp>
      <p:sp>
        <p:nvSpPr>
          <p:cNvPr id="12" name="Rectangle 11">
            <a:extLst>
              <a:ext uri="{FF2B5EF4-FFF2-40B4-BE49-F238E27FC236}">
                <a16:creationId xmlns:a16="http://schemas.microsoft.com/office/drawing/2014/main" id="{E35AB0FC-5BE6-406C-92CD-0E6B27B88FB2}"/>
              </a:ext>
            </a:extLst>
          </p:cNvPr>
          <p:cNvSpPr>
            <a:spLocks noGrp="1"/>
          </p:cNvSpPr>
          <p:nvPr/>
        </p:nvSpPr>
        <p:spPr>
          <a:xfrm>
            <a:off x="7924800" y="373380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GBfoods sees synchronised records and their review or approval status.</a:t>
            </a:r>
          </a:p>
        </p:txBody>
      </p:sp>
      <p:sp>
        <p:nvSpPr>
          <p:cNvPr id="13" name="Rectangle 12">
            <a:extLst>
              <a:ext uri="{FF2B5EF4-FFF2-40B4-BE49-F238E27FC236}">
                <a16:creationId xmlns:a16="http://schemas.microsoft.com/office/drawing/2014/main" id="{FCA86257-218E-4919-AB01-CDDCB7E4E5D9}"/>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Proposed build. Offline records appear in the client view after synchronisation, with the last sync time visible.</a:t>
            </a:r>
          </a:p>
        </p:txBody>
      </p:sp>
    </p:spTree>
    <p:extLst>
      <p:ext uri="{BB962C8B-B14F-4D97-AF65-F5344CB8AC3E}">
        <p14:creationId xmlns:p14="http://schemas.microsoft.com/office/powerpoint/2010/main" val="1838114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CE354578-D10F-4B63-9F32-BC0F0814201B}"/>
              </a:ext>
            </a:extLst>
          </p:cNvPr>
          <p:cNvSpPr>
            <a:spLocks noGrp="1"/>
          </p:cNvSpPr>
          <p:nvPr/>
        </p:nvSpPr>
        <p:spPr>
          <a:xfrm>
            <a:off x="457200" y="247650"/>
            <a:ext cx="10477500" cy="238125"/>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GBfoods  /  PLATFORM EXPERIENCE</a:t>
            </a:r>
          </a:p>
        </p:txBody>
      </p:sp>
      <p:sp>
        <p:nvSpPr>
          <p:cNvPr id="2" name="Rectangle 1">
            <a:extLst>
              <a:ext uri="{FF2B5EF4-FFF2-40B4-BE49-F238E27FC236}">
                <a16:creationId xmlns:a16="http://schemas.microsoft.com/office/drawing/2014/main" id="{ECB28D1B-B7AD-436C-BAD0-BB0F697AEC56}"/>
              </a:ext>
            </a:extLst>
          </p:cNvPr>
          <p:cNvSpPr>
            <a:spLocks noGrp="1"/>
          </p:cNvSpPr>
          <p:nvPr/>
        </p:nvSpPr>
        <p:spPr>
          <a:xfrm>
            <a:off x="457200" y="590550"/>
            <a:ext cx="11239500" cy="542925"/>
          </a:xfrm>
          <a:prstGeom prst="rect">
            <a:avLst/>
          </a:prstGeom>
          <a:noFill/>
          <a:ln w="0">
            <a:noFill/>
          </a:ln>
        </p:spPr>
        <p:txBody>
          <a:bodyPr lIns="0" tIns="0" rIns="0" bIns="0">
            <a:noAutofit/>
          </a:bodyPr>
          <a:lstStyle/>
          <a:p>
            <a:pPr>
              <a:defRPr sz="3000" b="1">
                <a:solidFill>
                  <a:srgbClr val="303030"/>
                </a:solidFill>
                <a:latin typeface="DejaVu Sans"/>
                <a:ea typeface="DejaVu Sans"/>
                <a:cs typeface="DejaVu Sans"/>
              </a:defRPr>
            </a:pPr>
            <a:r>
              <a:rPr sz="3000" b="1">
                <a:solidFill>
                  <a:srgbClr val="303030"/>
                </a:solidFill>
                <a:latin typeface="DejaVu Sans"/>
                <a:ea typeface="DejaVu Sans"/>
                <a:cs typeface="DejaVu Sans"/>
              </a:rPr>
              <a:t>Field attendance and depot access</a:t>
            </a:r>
          </a:p>
        </p:txBody>
      </p:sp>
      <p:sp>
        <p:nvSpPr>
          <p:cNvPr id="3" name="Rectangle 2">
            <a:extLst>
              <a:ext uri="{FF2B5EF4-FFF2-40B4-BE49-F238E27FC236}">
                <a16:creationId xmlns:a16="http://schemas.microsoft.com/office/drawing/2014/main" id="{1319F2F8-3A09-4228-98D3-B8A90A5D46D0}"/>
              </a:ext>
            </a:extLst>
          </p:cNvPr>
          <p:cNvSpPr>
            <a:spLocks noGrp="1"/>
          </p:cNvSpPr>
          <p:nvPr/>
        </p:nvSpPr>
        <p:spPr>
          <a:xfrm>
            <a:off x="457200" y="1143000"/>
            <a:ext cx="11239500" cy="266700"/>
          </a:xfrm>
          <a:prstGeom prst="rect">
            <a:avLst/>
          </a:prstGeom>
          <a:noFill/>
          <a:ln w="0">
            <a:noFill/>
          </a:ln>
        </p:spPr>
        <p:txBody>
          <a:bodyPr lIns="0" tIns="0" rIns="0" bIns="0">
            <a:noAutofit/>
          </a:bodyPr>
          <a:lstStyle/>
          <a:p>
            <a:pPr>
              <a:defRPr sz="1425" b="0">
                <a:solidFill>
                  <a:srgbClr val="5E5E5E"/>
                </a:solidFill>
                <a:latin typeface="DejaVu Sans"/>
                <a:ea typeface="DejaVu Sans"/>
                <a:cs typeface="DejaVu Sans"/>
              </a:defRPr>
            </a:pPr>
            <a:r>
              <a:rPr sz="1425" b="0">
                <a:solidFill>
                  <a:srgbClr val="5E5E5E"/>
                </a:solidFill>
                <a:latin typeface="DejaVu Sans"/>
                <a:ea typeface="DejaVu Sans"/>
                <a:cs typeface="DejaVu Sans"/>
              </a:rPr>
              <a:t>A short mobile journey connects each person to the right depot and shift.</a:t>
            </a:r>
          </a:p>
        </p:txBody>
      </p:sp>
      <p:sp>
        <p:nvSpPr>
          <p:cNvPr id="4" name="Rectangle 3">
            <a:extLst>
              <a:ext uri="{FF2B5EF4-FFF2-40B4-BE49-F238E27FC236}">
                <a16:creationId xmlns:a16="http://schemas.microsoft.com/office/drawing/2014/main" id="{CC48A8AB-F2C5-4E2F-949F-02DA1C634E48}"/>
              </a:ext>
            </a:extLst>
          </p:cNvPr>
          <p:cNvSpPr>
            <a:spLocks noGrp="1"/>
          </p:cNvSpPr>
          <p:nvPr/>
        </p:nvSpPr>
        <p:spPr>
          <a:xfrm>
            <a:off x="457200" y="6457950"/>
            <a:ext cx="10572750" cy="219075"/>
          </a:xfrm>
          <a:prstGeom prst="rect">
            <a:avLst/>
          </a:prstGeom>
          <a:noFill/>
          <a:ln w="0">
            <a:noFill/>
          </a:ln>
        </p:spPr>
        <p:txBody>
          <a:bodyPr lIns="0" tIns="0" rIns="0" bIns="0">
            <a:noAutofit/>
          </a:bodyPr>
          <a:lstStyle/>
          <a:p>
            <a:pPr>
              <a:defRPr sz="975" b="0">
                <a:solidFill>
                  <a:srgbClr val="5E5E5E"/>
                </a:solidFill>
                <a:latin typeface="DejaVu Sans"/>
                <a:ea typeface="DejaVu Sans"/>
                <a:cs typeface="DejaVu Sans"/>
              </a:defRPr>
            </a:pPr>
            <a:r>
              <a:rPr sz="975" b="0">
                <a:solidFill>
                  <a:srgbClr val="5E5E5E"/>
                </a:solidFill>
                <a:latin typeface="DejaVu Sans"/>
                <a:ea typeface="DejaVu Sans"/>
                <a:cs typeface="DejaVu Sans"/>
              </a:rPr>
              <a:t>UI/UX concept. All names, locations and figures are illustrative.</a:t>
            </a:r>
          </a:p>
        </p:txBody>
      </p:sp>
      <p:sp>
        <p:nvSpPr>
          <p:cNvPr id="5" name="Rectangle 4">
            <a:extLst>
              <a:ext uri="{FF2B5EF4-FFF2-40B4-BE49-F238E27FC236}">
                <a16:creationId xmlns:a16="http://schemas.microsoft.com/office/drawing/2014/main" id="{45B77304-6890-4366-A96E-7298F88F6055}"/>
              </a:ext>
            </a:extLst>
          </p:cNvPr>
          <p:cNvSpPr>
            <a:spLocks noGrp="1"/>
          </p:cNvSpPr>
          <p:nvPr/>
        </p:nvSpPr>
        <p:spPr>
          <a:xfrm>
            <a:off x="11334750" y="6419850"/>
            <a:ext cx="476250" cy="247650"/>
          </a:xfrm>
          <a:prstGeom prst="rect">
            <a:avLst/>
          </a:prstGeom>
          <a:noFill/>
          <a:ln w="0">
            <a:noFill/>
          </a:ln>
        </p:spPr>
        <p:txBody>
          <a:bodyPr lIns="0" tIns="0" rIns="0" bIns="0">
            <a:noAutofit/>
          </a:bodyPr>
          <a:lstStyle/>
          <a:p>
            <a:pPr>
              <a:defRPr sz="1200" b="0">
                <a:solidFill>
                  <a:srgbClr val="5E5E5E"/>
                </a:solidFill>
                <a:latin typeface="DejaVu Sans"/>
                <a:ea typeface="DejaVu Sans"/>
                <a:cs typeface="DejaVu Sans"/>
              </a:defRPr>
            </a:pPr>
            <a:r>
              <a:rPr sz="1200" b="0">
                <a:solidFill>
                  <a:srgbClr val="5E5E5E"/>
                </a:solidFill>
                <a:latin typeface="DejaVu Sans"/>
                <a:ea typeface="DejaVu Sans"/>
                <a:cs typeface="DejaVu Sans"/>
              </a:rPr>
              <a:t>26</a:t>
            </a:r>
          </a:p>
        </p:txBody>
      </p:sp>
      <p:sp>
        <p:nvSpPr>
          <p:cNvPr id="6" name="Rectangle 5">
            <a:extLst>
              <a:ext uri="{FF2B5EF4-FFF2-40B4-BE49-F238E27FC236}">
                <a16:creationId xmlns:a16="http://schemas.microsoft.com/office/drawing/2014/main" id="{DFB84A2A-2B12-4435-BBC7-EC72FD161A35}"/>
              </a:ext>
            </a:extLst>
          </p:cNvPr>
          <p:cNvSpPr>
            <a:spLocks noGrp="1"/>
          </p:cNvSpPr>
          <p:nvPr/>
        </p:nvSpPr>
        <p:spPr>
          <a:xfrm>
            <a:off x="457200" y="1809750"/>
            <a:ext cx="457200" cy="381000"/>
          </a:xfrm>
          <a:prstGeom prst="rect">
            <a:avLst/>
          </a:prstGeom>
          <a:noFill/>
          <a:ln w="0">
            <a:noFill/>
          </a:ln>
        </p:spPr>
        <p:txBody>
          <a:bodyPr lIns="0" tIns="0" rIns="0" bIns="0">
            <a:noAutofit/>
          </a:bodyPr>
          <a:lstStyle/>
          <a:p>
            <a:pPr>
              <a:defRPr sz="2025" b="1">
                <a:solidFill>
                  <a:srgbClr val="FE5000"/>
                </a:solidFill>
                <a:latin typeface="DejaVu Sans"/>
                <a:ea typeface="DejaVu Sans"/>
                <a:cs typeface="DejaVu Sans"/>
              </a:defRPr>
            </a:pPr>
            <a:r>
              <a:rPr sz="2025" b="1">
                <a:solidFill>
                  <a:srgbClr val="FE5000"/>
                </a:solidFill>
                <a:latin typeface="DejaVu Sans"/>
                <a:ea typeface="DejaVu Sans"/>
                <a:cs typeface="DejaVu Sans"/>
              </a:rPr>
              <a:t>01</a:t>
            </a:r>
          </a:p>
        </p:txBody>
      </p:sp>
      <p:sp>
        <p:nvSpPr>
          <p:cNvPr id="7" name="Rectangle 6">
            <a:extLst>
              <a:ext uri="{FF2B5EF4-FFF2-40B4-BE49-F238E27FC236}">
                <a16:creationId xmlns:a16="http://schemas.microsoft.com/office/drawing/2014/main" id="{59FA054B-7647-4998-AD08-18880EF606F5}"/>
              </a:ext>
            </a:extLst>
          </p:cNvPr>
          <p:cNvSpPr>
            <a:spLocks noGrp="1"/>
          </p:cNvSpPr>
          <p:nvPr/>
        </p:nvSpPr>
        <p:spPr>
          <a:xfrm>
            <a:off x="952500" y="1828800"/>
            <a:ext cx="2524125" cy="361950"/>
          </a:xfrm>
          <a:prstGeom prst="rect">
            <a:avLst/>
          </a:prstGeom>
          <a:noFill/>
          <a:ln w="0">
            <a:noFill/>
          </a:ln>
        </p:spPr>
        <p:txBody>
          <a:bodyPr lIns="0" tIns="0" rIns="0" bIns="0">
            <a:noAutofit/>
          </a:bodyPr>
          <a:lstStyle/>
          <a:p>
            <a:pPr>
              <a:defRPr sz="1650" b="1">
                <a:solidFill>
                  <a:srgbClr val="303030"/>
                </a:solidFill>
                <a:latin typeface="DejaVu Sans"/>
                <a:ea typeface="DejaVu Sans"/>
                <a:cs typeface="DejaVu Sans"/>
              </a:defRPr>
            </a:pPr>
            <a:r>
              <a:rPr sz="1650" b="1">
                <a:solidFill>
                  <a:srgbClr val="303030"/>
                </a:solidFill>
                <a:latin typeface="DejaVu Sans"/>
                <a:ea typeface="DejaVu Sans"/>
                <a:cs typeface="DejaVu Sans"/>
              </a:rPr>
              <a:t>Sign in</a:t>
            </a:r>
          </a:p>
        </p:txBody>
      </p:sp>
      <p:sp>
        <p:nvSpPr>
          <p:cNvPr id="8" name="Rectangle 7">
            <a:extLst>
              <a:ext uri="{FF2B5EF4-FFF2-40B4-BE49-F238E27FC236}">
                <a16:creationId xmlns:a16="http://schemas.microsoft.com/office/drawing/2014/main" id="{4BBA071D-D1CD-48BD-836D-7F0190D46034}"/>
              </a:ext>
            </a:extLst>
          </p:cNvPr>
          <p:cNvSpPr>
            <a:spLocks noGrp="1"/>
          </p:cNvSpPr>
          <p:nvPr/>
        </p:nvSpPr>
        <p:spPr>
          <a:xfrm>
            <a:off x="952500" y="2228850"/>
            <a:ext cx="2476500" cy="781050"/>
          </a:xfrm>
          <a:prstGeom prst="rect">
            <a:avLst/>
          </a:prstGeom>
          <a:noFill/>
          <a:ln w="0">
            <a:noFill/>
          </a:ln>
        </p:spPr>
        <p:txBody>
          <a:bodyPr lIns="0" tIns="0" rIns="0" bIns="0">
            <a:noAutofit/>
          </a:bodyPr>
          <a:lstStyle/>
          <a:p>
            <a:pPr>
              <a:defRPr sz="1350" b="0">
                <a:solidFill>
                  <a:srgbClr val="5E5E5E"/>
                </a:solidFill>
                <a:latin typeface="DejaVu Sans"/>
                <a:ea typeface="DejaVu Sans"/>
                <a:cs typeface="DejaVu Sans"/>
              </a:defRPr>
            </a:pPr>
            <a:r>
              <a:rPr sz="1350" b="0">
                <a:solidFill>
                  <a:srgbClr val="5E5E5E"/>
                </a:solidFill>
                <a:latin typeface="DejaVu Sans"/>
                <a:ea typeface="DejaVu Sans"/>
                <a:cs typeface="DejaVu Sans"/>
              </a:rPr>
              <a:t>Enter staff ID and PIN. The app opens the assigned depot and role.</a:t>
            </a:r>
          </a:p>
        </p:txBody>
      </p:sp>
      <p:sp>
        <p:nvSpPr>
          <p:cNvPr id="9" name="Rectangle 8">
            <a:extLst>
              <a:ext uri="{FF2B5EF4-FFF2-40B4-BE49-F238E27FC236}">
                <a16:creationId xmlns:a16="http://schemas.microsoft.com/office/drawing/2014/main" id="{42642CC5-96E4-4087-92B2-F68A45C60D81}"/>
              </a:ext>
            </a:extLst>
          </p:cNvPr>
          <p:cNvSpPr>
            <a:spLocks noGrp="1"/>
          </p:cNvSpPr>
          <p:nvPr/>
        </p:nvSpPr>
        <p:spPr>
          <a:xfrm>
            <a:off x="457200" y="3143250"/>
            <a:ext cx="457200" cy="381000"/>
          </a:xfrm>
          <a:prstGeom prst="rect">
            <a:avLst/>
          </a:prstGeom>
          <a:noFill/>
          <a:ln w="0">
            <a:noFill/>
          </a:ln>
        </p:spPr>
        <p:txBody>
          <a:bodyPr lIns="0" tIns="0" rIns="0" bIns="0">
            <a:noAutofit/>
          </a:bodyPr>
          <a:lstStyle/>
          <a:p>
            <a:pPr>
              <a:defRPr sz="2025" b="1">
                <a:solidFill>
                  <a:srgbClr val="FE5000"/>
                </a:solidFill>
                <a:latin typeface="DejaVu Sans"/>
                <a:ea typeface="DejaVu Sans"/>
                <a:cs typeface="DejaVu Sans"/>
              </a:defRPr>
            </a:pPr>
            <a:r>
              <a:rPr sz="2025" b="1">
                <a:solidFill>
                  <a:srgbClr val="FE5000"/>
                </a:solidFill>
                <a:latin typeface="DejaVu Sans"/>
                <a:ea typeface="DejaVu Sans"/>
                <a:cs typeface="DejaVu Sans"/>
              </a:rPr>
              <a:t>02</a:t>
            </a:r>
          </a:p>
        </p:txBody>
      </p:sp>
      <p:sp>
        <p:nvSpPr>
          <p:cNvPr id="10" name="Rectangle 9">
            <a:extLst>
              <a:ext uri="{FF2B5EF4-FFF2-40B4-BE49-F238E27FC236}">
                <a16:creationId xmlns:a16="http://schemas.microsoft.com/office/drawing/2014/main" id="{AF2D63DB-89C4-4B50-8C92-A0D3611CC32B}"/>
              </a:ext>
            </a:extLst>
          </p:cNvPr>
          <p:cNvSpPr>
            <a:spLocks noGrp="1"/>
          </p:cNvSpPr>
          <p:nvPr/>
        </p:nvSpPr>
        <p:spPr>
          <a:xfrm>
            <a:off x="952500" y="3162300"/>
            <a:ext cx="2524125" cy="361950"/>
          </a:xfrm>
          <a:prstGeom prst="rect">
            <a:avLst/>
          </a:prstGeom>
          <a:noFill/>
          <a:ln w="0">
            <a:noFill/>
          </a:ln>
        </p:spPr>
        <p:txBody>
          <a:bodyPr lIns="0" tIns="0" rIns="0" bIns="0">
            <a:noAutofit/>
          </a:bodyPr>
          <a:lstStyle/>
          <a:p>
            <a:pPr>
              <a:defRPr sz="1650" b="1">
                <a:solidFill>
                  <a:srgbClr val="303030"/>
                </a:solidFill>
                <a:latin typeface="DejaVu Sans"/>
                <a:ea typeface="DejaVu Sans"/>
                <a:cs typeface="DejaVu Sans"/>
              </a:defRPr>
            </a:pPr>
            <a:r>
              <a:rPr sz="1650" b="1">
                <a:solidFill>
                  <a:srgbClr val="303030"/>
                </a:solidFill>
                <a:latin typeface="DejaVu Sans"/>
                <a:ea typeface="DejaVu Sans"/>
                <a:cs typeface="DejaVu Sans"/>
              </a:rPr>
              <a:t>Confirm presence</a:t>
            </a:r>
          </a:p>
        </p:txBody>
      </p:sp>
      <p:sp>
        <p:nvSpPr>
          <p:cNvPr id="11" name="Rectangle 10">
            <a:extLst>
              <a:ext uri="{FF2B5EF4-FFF2-40B4-BE49-F238E27FC236}">
                <a16:creationId xmlns:a16="http://schemas.microsoft.com/office/drawing/2014/main" id="{49749F1C-7753-4212-8E41-A30EF7598ECA}"/>
              </a:ext>
            </a:extLst>
          </p:cNvPr>
          <p:cNvSpPr>
            <a:spLocks noGrp="1"/>
          </p:cNvSpPr>
          <p:nvPr/>
        </p:nvSpPr>
        <p:spPr>
          <a:xfrm>
            <a:off x="952500" y="3562350"/>
            <a:ext cx="2476500" cy="781050"/>
          </a:xfrm>
          <a:prstGeom prst="rect">
            <a:avLst/>
          </a:prstGeom>
          <a:noFill/>
          <a:ln w="0">
            <a:noFill/>
          </a:ln>
        </p:spPr>
        <p:txBody>
          <a:bodyPr lIns="0" tIns="0" rIns="0" bIns="0">
            <a:noAutofit/>
          </a:bodyPr>
          <a:lstStyle/>
          <a:p>
            <a:pPr>
              <a:defRPr sz="1350" b="0">
                <a:solidFill>
                  <a:srgbClr val="5E5E5E"/>
                </a:solidFill>
                <a:latin typeface="DejaVu Sans"/>
                <a:ea typeface="DejaVu Sans"/>
                <a:cs typeface="DejaVu Sans"/>
              </a:defRPr>
            </a:pPr>
            <a:r>
              <a:rPr sz="1350" b="0">
                <a:solidFill>
                  <a:srgbClr val="5E5E5E"/>
                </a:solidFill>
                <a:latin typeface="DejaVu Sans"/>
                <a:ea typeface="DejaVu Sans"/>
                <a:cs typeface="DejaVu Sans"/>
              </a:rPr>
              <a:t>Take an attendance photo and confirm the GPS location.</a:t>
            </a:r>
          </a:p>
        </p:txBody>
      </p:sp>
      <p:sp>
        <p:nvSpPr>
          <p:cNvPr id="12" name="Rectangle 11">
            <a:extLst>
              <a:ext uri="{FF2B5EF4-FFF2-40B4-BE49-F238E27FC236}">
                <a16:creationId xmlns:a16="http://schemas.microsoft.com/office/drawing/2014/main" id="{90B44A7B-CCF8-4F70-8EB5-99C5C9F02366}"/>
              </a:ext>
            </a:extLst>
          </p:cNvPr>
          <p:cNvSpPr>
            <a:spLocks noGrp="1"/>
          </p:cNvSpPr>
          <p:nvPr/>
        </p:nvSpPr>
        <p:spPr>
          <a:xfrm>
            <a:off x="457200" y="4476750"/>
            <a:ext cx="457200" cy="381000"/>
          </a:xfrm>
          <a:prstGeom prst="rect">
            <a:avLst/>
          </a:prstGeom>
          <a:noFill/>
          <a:ln w="0">
            <a:noFill/>
          </a:ln>
        </p:spPr>
        <p:txBody>
          <a:bodyPr lIns="0" tIns="0" rIns="0" bIns="0">
            <a:noAutofit/>
          </a:bodyPr>
          <a:lstStyle/>
          <a:p>
            <a:pPr>
              <a:defRPr sz="2025" b="1">
                <a:solidFill>
                  <a:srgbClr val="FE5000"/>
                </a:solidFill>
                <a:latin typeface="DejaVu Sans"/>
                <a:ea typeface="DejaVu Sans"/>
                <a:cs typeface="DejaVu Sans"/>
              </a:defRPr>
            </a:pPr>
            <a:r>
              <a:rPr sz="2025" b="1">
                <a:solidFill>
                  <a:srgbClr val="FE5000"/>
                </a:solidFill>
                <a:latin typeface="DejaVu Sans"/>
                <a:ea typeface="DejaVu Sans"/>
                <a:cs typeface="DejaVu Sans"/>
              </a:rPr>
              <a:t>03</a:t>
            </a:r>
          </a:p>
        </p:txBody>
      </p:sp>
      <p:sp>
        <p:nvSpPr>
          <p:cNvPr id="13" name="Rectangle 12">
            <a:extLst>
              <a:ext uri="{FF2B5EF4-FFF2-40B4-BE49-F238E27FC236}">
                <a16:creationId xmlns:a16="http://schemas.microsoft.com/office/drawing/2014/main" id="{0C2A87A6-AF98-49B6-B266-C7C67329BFB0}"/>
              </a:ext>
            </a:extLst>
          </p:cNvPr>
          <p:cNvSpPr>
            <a:spLocks noGrp="1"/>
          </p:cNvSpPr>
          <p:nvPr/>
        </p:nvSpPr>
        <p:spPr>
          <a:xfrm>
            <a:off x="952500" y="4495800"/>
            <a:ext cx="2524125" cy="361950"/>
          </a:xfrm>
          <a:prstGeom prst="rect">
            <a:avLst/>
          </a:prstGeom>
          <a:noFill/>
          <a:ln w="0">
            <a:noFill/>
          </a:ln>
        </p:spPr>
        <p:txBody>
          <a:bodyPr lIns="0" tIns="0" rIns="0" bIns="0">
            <a:noAutofit/>
          </a:bodyPr>
          <a:lstStyle/>
          <a:p>
            <a:pPr>
              <a:defRPr sz="1650" b="1">
                <a:solidFill>
                  <a:srgbClr val="303030"/>
                </a:solidFill>
                <a:latin typeface="DejaVu Sans"/>
                <a:ea typeface="DejaVu Sans"/>
                <a:cs typeface="DejaVu Sans"/>
              </a:defRPr>
            </a:pPr>
            <a:r>
              <a:rPr sz="1650" b="1">
                <a:solidFill>
                  <a:srgbClr val="303030"/>
                </a:solidFill>
                <a:latin typeface="DejaVu Sans"/>
                <a:ea typeface="DejaVu Sans"/>
                <a:cs typeface="DejaVu Sans"/>
              </a:rPr>
              <a:t>Start the visit</a:t>
            </a:r>
          </a:p>
        </p:txBody>
      </p:sp>
      <p:sp>
        <p:nvSpPr>
          <p:cNvPr id="14" name="Rectangle 13">
            <a:extLst>
              <a:ext uri="{FF2B5EF4-FFF2-40B4-BE49-F238E27FC236}">
                <a16:creationId xmlns:a16="http://schemas.microsoft.com/office/drawing/2014/main" id="{E2C44A54-4434-4196-9D15-0C2C6458FD3B}"/>
              </a:ext>
            </a:extLst>
          </p:cNvPr>
          <p:cNvSpPr>
            <a:spLocks noGrp="1"/>
          </p:cNvSpPr>
          <p:nvPr/>
        </p:nvSpPr>
        <p:spPr>
          <a:xfrm>
            <a:off x="952500" y="4895850"/>
            <a:ext cx="2476500" cy="781050"/>
          </a:xfrm>
          <a:prstGeom prst="rect">
            <a:avLst/>
          </a:prstGeom>
          <a:noFill/>
          <a:ln w="0">
            <a:noFill/>
          </a:ln>
        </p:spPr>
        <p:txBody>
          <a:bodyPr lIns="0" tIns="0" rIns="0" bIns="0">
            <a:noAutofit/>
          </a:bodyPr>
          <a:lstStyle/>
          <a:p>
            <a:pPr>
              <a:defRPr sz="1350" b="0">
                <a:solidFill>
                  <a:srgbClr val="5E5E5E"/>
                </a:solidFill>
                <a:latin typeface="DejaVu Sans"/>
                <a:ea typeface="DejaVu Sans"/>
                <a:cs typeface="DejaVu Sans"/>
              </a:defRPr>
            </a:pPr>
            <a:r>
              <a:rPr sz="1350" b="0">
                <a:solidFill>
                  <a:srgbClr val="5E5E5E"/>
                </a:solidFill>
                <a:latin typeface="DejaVu Sans"/>
                <a:ea typeface="DejaVu Sans"/>
                <a:cs typeface="DejaVu Sans"/>
              </a:rPr>
              <a:t>A supervisor reviews exceptions before the visit proceeds.</a:t>
            </a:r>
          </a:p>
        </p:txBody>
      </p:sp>
      <p:sp>
        <p:nvSpPr>
          <p:cNvPr id="15" name="Rectangle 14">
            <a:extLst>
              <a:ext uri="{FF2B5EF4-FFF2-40B4-BE49-F238E27FC236}">
                <a16:creationId xmlns:a16="http://schemas.microsoft.com/office/drawing/2014/main" id="{B67C3521-3C24-4061-80F9-D962DEC5CF80}"/>
              </a:ext>
            </a:extLst>
          </p:cNvPr>
          <p:cNvSpPr>
            <a:spLocks noGrp="1"/>
          </p:cNvSpPr>
          <p:nvPr/>
        </p:nvSpPr>
        <p:spPr>
          <a:xfrm>
            <a:off x="4019550" y="1524000"/>
            <a:ext cx="2857500" cy="4533900"/>
          </a:xfrm>
          <a:prstGeom prst="rect">
            <a:avLst/>
          </a:prstGeom>
          <a:solidFill>
            <a:srgbClr val="303030"/>
          </a:solidFill>
          <a:ln w="0">
            <a:noFill/>
          </a:ln>
        </p:spPr>
        <p:txBody>
          <a:bodyPr/>
          <a:lstStyle/>
          <a:p>
            <a:endParaRPr lang="en-GH"/>
          </a:p>
        </p:txBody>
      </p:sp>
      <p:sp>
        <p:nvSpPr>
          <p:cNvPr id="16" name="Rectangle 15">
            <a:extLst>
              <a:ext uri="{FF2B5EF4-FFF2-40B4-BE49-F238E27FC236}">
                <a16:creationId xmlns:a16="http://schemas.microsoft.com/office/drawing/2014/main" id="{57A433A1-BBD8-4E87-A9AB-EDC0741DB85D}"/>
              </a:ext>
            </a:extLst>
          </p:cNvPr>
          <p:cNvSpPr>
            <a:spLocks noGrp="1"/>
          </p:cNvSpPr>
          <p:nvPr/>
        </p:nvSpPr>
        <p:spPr>
          <a:xfrm>
            <a:off x="4086225" y="1590675"/>
            <a:ext cx="2724150" cy="4400550"/>
          </a:xfrm>
          <a:prstGeom prst="rect">
            <a:avLst/>
          </a:prstGeom>
          <a:solidFill>
            <a:srgbClr val="F5F5F5"/>
          </a:solidFill>
          <a:ln w="0">
            <a:noFill/>
          </a:ln>
        </p:spPr>
        <p:txBody>
          <a:bodyPr/>
          <a:lstStyle/>
          <a:p>
            <a:endParaRPr lang="en-GH"/>
          </a:p>
        </p:txBody>
      </p:sp>
      <p:sp>
        <p:nvSpPr>
          <p:cNvPr id="17" name="Rectangle 16">
            <a:extLst>
              <a:ext uri="{FF2B5EF4-FFF2-40B4-BE49-F238E27FC236}">
                <a16:creationId xmlns:a16="http://schemas.microsoft.com/office/drawing/2014/main" id="{FC948180-A9E9-43FA-9DCF-85288433E3DC}"/>
              </a:ext>
            </a:extLst>
          </p:cNvPr>
          <p:cNvSpPr>
            <a:spLocks noGrp="1"/>
          </p:cNvSpPr>
          <p:nvPr/>
        </p:nvSpPr>
        <p:spPr>
          <a:xfrm>
            <a:off x="4086225" y="1590675"/>
            <a:ext cx="2724150" cy="371475"/>
          </a:xfrm>
          <a:prstGeom prst="rect">
            <a:avLst/>
          </a:prstGeom>
          <a:solidFill>
            <a:srgbClr val="FE5000"/>
          </a:solidFill>
          <a:ln w="0">
            <a:noFill/>
          </a:ln>
        </p:spPr>
        <p:txBody>
          <a:bodyPr/>
          <a:lstStyle/>
          <a:p>
            <a:endParaRPr lang="en-GH"/>
          </a:p>
        </p:txBody>
      </p:sp>
      <p:sp>
        <p:nvSpPr>
          <p:cNvPr id="18" name="Rectangle 17">
            <a:extLst>
              <a:ext uri="{FF2B5EF4-FFF2-40B4-BE49-F238E27FC236}">
                <a16:creationId xmlns:a16="http://schemas.microsoft.com/office/drawing/2014/main" id="{C19F3322-4443-456A-A91A-65E7C827B7AB}"/>
              </a:ext>
            </a:extLst>
          </p:cNvPr>
          <p:cNvSpPr>
            <a:spLocks noGrp="1"/>
          </p:cNvSpPr>
          <p:nvPr/>
        </p:nvSpPr>
        <p:spPr>
          <a:xfrm>
            <a:off x="4219575" y="1704975"/>
            <a:ext cx="1847850" cy="209550"/>
          </a:xfrm>
          <a:prstGeom prst="rect">
            <a:avLst/>
          </a:prstGeom>
          <a:noFill/>
          <a:ln w="0">
            <a:noFill/>
          </a:ln>
        </p:spPr>
        <p:txBody>
          <a:bodyPr lIns="0" tIns="0" rIns="0" bIns="0">
            <a:noAutofit/>
          </a:bodyPr>
          <a:lstStyle/>
          <a:p>
            <a:pP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STOCKCONTROL</a:t>
            </a:r>
          </a:p>
        </p:txBody>
      </p:sp>
      <p:sp>
        <p:nvSpPr>
          <p:cNvPr id="19" name="Rectangle 18">
            <a:extLst>
              <a:ext uri="{FF2B5EF4-FFF2-40B4-BE49-F238E27FC236}">
                <a16:creationId xmlns:a16="http://schemas.microsoft.com/office/drawing/2014/main" id="{6CAEAD35-6B90-4161-B153-F1DDE533F311}"/>
              </a:ext>
            </a:extLst>
          </p:cNvPr>
          <p:cNvSpPr>
            <a:spLocks noGrp="1"/>
          </p:cNvSpPr>
          <p:nvPr/>
        </p:nvSpPr>
        <p:spPr>
          <a:xfrm>
            <a:off x="6286500" y="1714500"/>
            <a:ext cx="438150" cy="171450"/>
          </a:xfrm>
          <a:prstGeom prst="rect">
            <a:avLst/>
          </a:prstGeom>
          <a:noFill/>
          <a:ln w="0">
            <a:noFill/>
          </a:ln>
        </p:spPr>
        <p:txBody>
          <a:bodyPr lIns="0" tIns="0" rIns="0" bIns="0">
            <a:noAutofit/>
          </a:bodyPr>
          <a:lstStyle/>
          <a:p>
            <a:pPr>
              <a:defRPr sz="900" b="0">
                <a:solidFill>
                  <a:srgbClr val="FFFFFF"/>
                </a:solidFill>
                <a:latin typeface="DejaVu Sans"/>
                <a:ea typeface="DejaVu Sans"/>
                <a:cs typeface="DejaVu Sans"/>
              </a:defRPr>
            </a:pPr>
            <a:r>
              <a:rPr sz="900" b="0">
                <a:solidFill>
                  <a:srgbClr val="FFFFFF"/>
                </a:solidFill>
                <a:latin typeface="DejaVu Sans"/>
                <a:ea typeface="DejaVu Sans"/>
                <a:cs typeface="DejaVu Sans"/>
              </a:rPr>
              <a:t>08:10</a:t>
            </a:r>
          </a:p>
        </p:txBody>
      </p:sp>
      <p:sp>
        <p:nvSpPr>
          <p:cNvPr id="20" name="Rectangle 19">
            <a:extLst>
              <a:ext uri="{FF2B5EF4-FFF2-40B4-BE49-F238E27FC236}">
                <a16:creationId xmlns:a16="http://schemas.microsoft.com/office/drawing/2014/main" id="{24115AB8-AFFB-4637-BD86-FA20D676C60E}"/>
              </a:ext>
            </a:extLst>
          </p:cNvPr>
          <p:cNvSpPr>
            <a:spLocks noGrp="1"/>
          </p:cNvSpPr>
          <p:nvPr/>
        </p:nvSpPr>
        <p:spPr>
          <a:xfrm>
            <a:off x="4238625" y="2152650"/>
            <a:ext cx="2409825" cy="361950"/>
          </a:xfrm>
          <a:prstGeom prst="rect">
            <a:avLst/>
          </a:prstGeom>
          <a:noFill/>
          <a:ln w="0">
            <a:noFill/>
          </a:ln>
        </p:spPr>
        <p:txBody>
          <a:bodyPr lIns="0" tIns="0" rIns="0" bIns="0">
            <a:noAutofit/>
          </a:bodyPr>
          <a:lstStyle/>
          <a:p>
            <a:pPr>
              <a:defRPr sz="1800" b="1">
                <a:solidFill>
                  <a:srgbClr val="303030"/>
                </a:solidFill>
                <a:latin typeface="DejaVu Sans"/>
                <a:ea typeface="DejaVu Sans"/>
                <a:cs typeface="DejaVu Sans"/>
              </a:defRPr>
            </a:pPr>
            <a:r>
              <a:rPr sz="1800" b="1">
                <a:solidFill>
                  <a:srgbClr val="303030"/>
                </a:solidFill>
                <a:latin typeface="DejaVu Sans"/>
                <a:ea typeface="DejaVu Sans"/>
                <a:cs typeface="DejaVu Sans"/>
              </a:rPr>
              <a:t>Welcome, Abena</a:t>
            </a:r>
          </a:p>
        </p:txBody>
      </p:sp>
      <p:sp>
        <p:nvSpPr>
          <p:cNvPr id="21" name="Rectangle 20">
            <a:extLst>
              <a:ext uri="{FF2B5EF4-FFF2-40B4-BE49-F238E27FC236}">
                <a16:creationId xmlns:a16="http://schemas.microsoft.com/office/drawing/2014/main" id="{9EC9E070-5F77-4917-9080-286E705AEBBE}"/>
              </a:ext>
            </a:extLst>
          </p:cNvPr>
          <p:cNvSpPr>
            <a:spLocks noGrp="1"/>
          </p:cNvSpPr>
          <p:nvPr/>
        </p:nvSpPr>
        <p:spPr>
          <a:xfrm>
            <a:off x="4238625" y="2543175"/>
            <a:ext cx="2390775" cy="247650"/>
          </a:xfrm>
          <a:prstGeom prst="rect">
            <a:avLst/>
          </a:prstGeom>
          <a:noFill/>
          <a:ln w="0">
            <a:noFill/>
          </a:ln>
        </p:spPr>
        <p:txBody>
          <a:bodyPr lIns="0" tIns="0" rIns="0" bIns="0">
            <a:noAutofit/>
          </a:bodyPr>
          <a:lstStyle/>
          <a:p>
            <a:pPr>
              <a:defRPr sz="975" b="0">
                <a:solidFill>
                  <a:srgbClr val="5E5E5E"/>
                </a:solidFill>
                <a:latin typeface="DejaVu Sans"/>
                <a:ea typeface="DejaVu Sans"/>
                <a:cs typeface="DejaVu Sans"/>
              </a:defRPr>
            </a:pPr>
            <a:r>
              <a:rPr sz="975" b="0">
                <a:solidFill>
                  <a:srgbClr val="5E5E5E"/>
                </a:solidFill>
                <a:latin typeface="DejaVu Sans"/>
                <a:ea typeface="DejaVu Sans"/>
                <a:cs typeface="DejaVu Sans"/>
              </a:rPr>
              <a:t>Assigned QC   /   Depot 03</a:t>
            </a:r>
          </a:p>
        </p:txBody>
      </p:sp>
      <p:sp>
        <p:nvSpPr>
          <p:cNvPr id="22" name="Rectangle 21">
            <a:extLst>
              <a:ext uri="{FF2B5EF4-FFF2-40B4-BE49-F238E27FC236}">
                <a16:creationId xmlns:a16="http://schemas.microsoft.com/office/drawing/2014/main" id="{925B3B97-72AD-413A-998E-4E1F0097453B}"/>
              </a:ext>
            </a:extLst>
          </p:cNvPr>
          <p:cNvSpPr>
            <a:spLocks noGrp="1"/>
          </p:cNvSpPr>
          <p:nvPr/>
        </p:nvSpPr>
        <p:spPr>
          <a:xfrm>
            <a:off x="4238625" y="2952750"/>
            <a:ext cx="2419350" cy="190500"/>
          </a:xfrm>
          <a:prstGeom prst="rect">
            <a:avLst/>
          </a:prstGeom>
          <a:noFill/>
          <a:ln w="0">
            <a:noFill/>
          </a:ln>
        </p:spPr>
        <p:txBody>
          <a:bodyPr lIns="0" tIns="0" rIns="0" bIns="0">
            <a:noAutofit/>
          </a:bodyPr>
          <a:lstStyle/>
          <a:p>
            <a:pPr>
              <a:defRPr sz="975" b="1">
                <a:solidFill>
                  <a:srgbClr val="5E5E5E"/>
                </a:solidFill>
                <a:latin typeface="DejaVu Sans"/>
                <a:ea typeface="DejaVu Sans"/>
                <a:cs typeface="DejaVu Sans"/>
              </a:defRPr>
            </a:pPr>
            <a:r>
              <a:rPr sz="975" b="1">
                <a:solidFill>
                  <a:srgbClr val="5E5E5E"/>
                </a:solidFill>
                <a:latin typeface="DejaVu Sans"/>
                <a:ea typeface="DejaVu Sans"/>
                <a:cs typeface="DejaVu Sans"/>
              </a:rPr>
              <a:t>STAFF ID</a:t>
            </a:r>
          </a:p>
        </p:txBody>
      </p:sp>
      <p:sp>
        <p:nvSpPr>
          <p:cNvPr id="23" name="Rectangle 22">
            <a:extLst>
              <a:ext uri="{FF2B5EF4-FFF2-40B4-BE49-F238E27FC236}">
                <a16:creationId xmlns:a16="http://schemas.microsoft.com/office/drawing/2014/main" id="{445C8559-FCC4-4946-B77A-CAB56F161AD3}"/>
              </a:ext>
            </a:extLst>
          </p:cNvPr>
          <p:cNvSpPr>
            <a:spLocks noGrp="1"/>
          </p:cNvSpPr>
          <p:nvPr/>
        </p:nvSpPr>
        <p:spPr>
          <a:xfrm>
            <a:off x="4238625" y="3171825"/>
            <a:ext cx="2419350" cy="352425"/>
          </a:xfrm>
          <a:prstGeom prst="rect">
            <a:avLst/>
          </a:prstGeom>
          <a:solidFill>
            <a:srgbClr val="FFFFFF"/>
          </a:solidFill>
          <a:ln w="9525">
            <a:solidFill>
              <a:srgbClr val="E0E0E0"/>
            </a:solidFill>
          </a:ln>
        </p:spPr>
        <p:txBody>
          <a:bodyPr/>
          <a:lstStyle/>
          <a:p>
            <a:endParaRPr lang="en-GH"/>
          </a:p>
        </p:txBody>
      </p:sp>
      <p:sp>
        <p:nvSpPr>
          <p:cNvPr id="24" name="Rectangle 23">
            <a:extLst>
              <a:ext uri="{FF2B5EF4-FFF2-40B4-BE49-F238E27FC236}">
                <a16:creationId xmlns:a16="http://schemas.microsoft.com/office/drawing/2014/main" id="{F6C7830B-E7B1-472B-A4EF-E57AA91F003C}"/>
              </a:ext>
            </a:extLst>
          </p:cNvPr>
          <p:cNvSpPr>
            <a:spLocks noGrp="1"/>
          </p:cNvSpPr>
          <p:nvPr/>
        </p:nvSpPr>
        <p:spPr>
          <a:xfrm>
            <a:off x="4333875" y="3257550"/>
            <a:ext cx="2228850" cy="228600"/>
          </a:xfrm>
          <a:prstGeom prst="rect">
            <a:avLst/>
          </a:prstGeom>
          <a:noFill/>
          <a:ln w="0">
            <a:noFill/>
          </a:ln>
        </p:spPr>
        <p:txBody>
          <a:bodyPr lIns="0" tIns="0" rIns="0" bIns="0">
            <a:noAutofit/>
          </a:bodyPr>
          <a:lstStyle/>
          <a:p>
            <a:pPr>
              <a:defRPr sz="1200" b="0">
                <a:solidFill>
                  <a:srgbClr val="303030"/>
                </a:solidFill>
                <a:latin typeface="DejaVu Sans"/>
                <a:ea typeface="DejaVu Sans"/>
                <a:cs typeface="DejaVu Sans"/>
              </a:defRPr>
            </a:pPr>
            <a:r>
              <a:rPr sz="1200" b="0">
                <a:solidFill>
                  <a:srgbClr val="303030"/>
                </a:solidFill>
                <a:latin typeface="DejaVu Sans"/>
                <a:ea typeface="DejaVu Sans"/>
                <a:cs typeface="DejaVu Sans"/>
              </a:rPr>
              <a:t>BTL 0031</a:t>
            </a:r>
          </a:p>
        </p:txBody>
      </p:sp>
      <p:sp>
        <p:nvSpPr>
          <p:cNvPr id="25" name="Rectangle 24">
            <a:extLst>
              <a:ext uri="{FF2B5EF4-FFF2-40B4-BE49-F238E27FC236}">
                <a16:creationId xmlns:a16="http://schemas.microsoft.com/office/drawing/2014/main" id="{EAA9A08D-8549-4AB2-8AA4-B825AB4CA4EB}"/>
              </a:ext>
            </a:extLst>
          </p:cNvPr>
          <p:cNvSpPr>
            <a:spLocks noGrp="1"/>
          </p:cNvSpPr>
          <p:nvPr/>
        </p:nvSpPr>
        <p:spPr>
          <a:xfrm>
            <a:off x="4238625" y="3657600"/>
            <a:ext cx="2419350" cy="190500"/>
          </a:xfrm>
          <a:prstGeom prst="rect">
            <a:avLst/>
          </a:prstGeom>
          <a:noFill/>
          <a:ln w="0">
            <a:noFill/>
          </a:ln>
        </p:spPr>
        <p:txBody>
          <a:bodyPr lIns="0" tIns="0" rIns="0" bIns="0">
            <a:noAutofit/>
          </a:bodyPr>
          <a:lstStyle/>
          <a:p>
            <a:pPr>
              <a:defRPr sz="975" b="1">
                <a:solidFill>
                  <a:srgbClr val="5E5E5E"/>
                </a:solidFill>
                <a:latin typeface="DejaVu Sans"/>
                <a:ea typeface="DejaVu Sans"/>
                <a:cs typeface="DejaVu Sans"/>
              </a:defRPr>
            </a:pPr>
            <a:r>
              <a:rPr sz="975" b="1">
                <a:solidFill>
                  <a:srgbClr val="5E5E5E"/>
                </a:solidFill>
                <a:latin typeface="DejaVu Sans"/>
                <a:ea typeface="DejaVu Sans"/>
                <a:cs typeface="DejaVu Sans"/>
              </a:rPr>
              <a:t>PIN</a:t>
            </a:r>
          </a:p>
        </p:txBody>
      </p:sp>
      <p:sp>
        <p:nvSpPr>
          <p:cNvPr id="26" name="Rectangle 25">
            <a:extLst>
              <a:ext uri="{FF2B5EF4-FFF2-40B4-BE49-F238E27FC236}">
                <a16:creationId xmlns:a16="http://schemas.microsoft.com/office/drawing/2014/main" id="{41C4A776-9645-4267-BC78-60CD569ABF45}"/>
              </a:ext>
            </a:extLst>
          </p:cNvPr>
          <p:cNvSpPr>
            <a:spLocks noGrp="1"/>
          </p:cNvSpPr>
          <p:nvPr/>
        </p:nvSpPr>
        <p:spPr>
          <a:xfrm>
            <a:off x="4238625" y="3876675"/>
            <a:ext cx="2419350" cy="352425"/>
          </a:xfrm>
          <a:prstGeom prst="rect">
            <a:avLst/>
          </a:prstGeom>
          <a:solidFill>
            <a:srgbClr val="FFFFFF"/>
          </a:solidFill>
          <a:ln w="9525">
            <a:solidFill>
              <a:srgbClr val="E0E0E0"/>
            </a:solidFill>
          </a:ln>
        </p:spPr>
        <p:txBody>
          <a:bodyPr/>
          <a:lstStyle/>
          <a:p>
            <a:endParaRPr lang="en-GH"/>
          </a:p>
        </p:txBody>
      </p:sp>
      <p:sp>
        <p:nvSpPr>
          <p:cNvPr id="27" name="Rectangle 26">
            <a:extLst>
              <a:ext uri="{FF2B5EF4-FFF2-40B4-BE49-F238E27FC236}">
                <a16:creationId xmlns:a16="http://schemas.microsoft.com/office/drawing/2014/main" id="{DE8514DC-0827-45AA-8585-90FE104F2A93}"/>
              </a:ext>
            </a:extLst>
          </p:cNvPr>
          <p:cNvSpPr>
            <a:spLocks noGrp="1"/>
          </p:cNvSpPr>
          <p:nvPr/>
        </p:nvSpPr>
        <p:spPr>
          <a:xfrm>
            <a:off x="4333875" y="3962400"/>
            <a:ext cx="2228850" cy="228600"/>
          </a:xfrm>
          <a:prstGeom prst="rect">
            <a:avLst/>
          </a:prstGeom>
          <a:noFill/>
          <a:ln w="0">
            <a:noFill/>
          </a:ln>
        </p:spPr>
        <p:txBody>
          <a:bodyPr lIns="0" tIns="0" rIns="0" bIns="0">
            <a:noAutofit/>
          </a:bodyPr>
          <a:lstStyle/>
          <a:p>
            <a:pPr>
              <a:defRPr sz="1200" b="0">
                <a:solidFill>
                  <a:srgbClr val="303030"/>
                </a:solidFill>
                <a:latin typeface="DejaVu Sans"/>
                <a:ea typeface="DejaVu Sans"/>
                <a:cs typeface="DejaVu Sans"/>
              </a:defRPr>
            </a:pPr>
            <a:r>
              <a:rPr sz="1200" b="0">
                <a:solidFill>
                  <a:srgbClr val="303030"/>
                </a:solidFill>
                <a:latin typeface="DejaVu Sans"/>
                <a:ea typeface="DejaVu Sans"/>
                <a:cs typeface="DejaVu Sans"/>
              </a:rPr>
              <a:t>••••••</a:t>
            </a:r>
          </a:p>
        </p:txBody>
      </p:sp>
      <p:sp>
        <p:nvSpPr>
          <p:cNvPr id="28" name="Rectangle 27">
            <a:extLst>
              <a:ext uri="{FF2B5EF4-FFF2-40B4-BE49-F238E27FC236}">
                <a16:creationId xmlns:a16="http://schemas.microsoft.com/office/drawing/2014/main" id="{84846214-91A1-4983-AEC8-B6876F389B95}"/>
              </a:ext>
            </a:extLst>
          </p:cNvPr>
          <p:cNvSpPr>
            <a:spLocks noGrp="1"/>
          </p:cNvSpPr>
          <p:nvPr/>
        </p:nvSpPr>
        <p:spPr>
          <a:xfrm>
            <a:off x="4238625" y="4448175"/>
            <a:ext cx="2419350" cy="381000"/>
          </a:xfrm>
          <a:prstGeom prst="rect">
            <a:avLst/>
          </a:prstGeom>
          <a:solidFill>
            <a:srgbClr val="FE5000"/>
          </a:solidFill>
          <a:ln w="0">
            <a:noFill/>
          </a:ln>
        </p:spPr>
        <p:txBody>
          <a:bodyPr/>
          <a:lstStyle/>
          <a:p>
            <a:endParaRPr lang="en-GH"/>
          </a:p>
        </p:txBody>
      </p:sp>
      <p:sp>
        <p:nvSpPr>
          <p:cNvPr id="29" name="Rectangle 28">
            <a:extLst>
              <a:ext uri="{FF2B5EF4-FFF2-40B4-BE49-F238E27FC236}">
                <a16:creationId xmlns:a16="http://schemas.microsoft.com/office/drawing/2014/main" id="{607BDEA1-0B34-48B0-94DE-C4939045651E}"/>
              </a:ext>
            </a:extLst>
          </p:cNvPr>
          <p:cNvSpPr>
            <a:spLocks noGrp="1"/>
          </p:cNvSpPr>
          <p:nvPr/>
        </p:nvSpPr>
        <p:spPr>
          <a:xfrm>
            <a:off x="4352925" y="4543425"/>
            <a:ext cx="2190750" cy="228600"/>
          </a:xfrm>
          <a:prstGeom prst="rect">
            <a:avLst/>
          </a:prstGeom>
          <a:noFill/>
          <a:ln w="0">
            <a:noFill/>
          </a:ln>
        </p:spPr>
        <p:txBody>
          <a:bodyPr lIns="0" tIns="0" rIns="0" bIns="0">
            <a:noAutofit/>
          </a:bodyPr>
          <a:lstStyle/>
          <a:p>
            <a:pP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Sign in</a:t>
            </a:r>
          </a:p>
        </p:txBody>
      </p:sp>
      <p:sp>
        <p:nvSpPr>
          <p:cNvPr id="30" name="Rectangle 29">
            <a:extLst>
              <a:ext uri="{FF2B5EF4-FFF2-40B4-BE49-F238E27FC236}">
                <a16:creationId xmlns:a16="http://schemas.microsoft.com/office/drawing/2014/main" id="{36151DC4-81EF-49F1-82BE-956935CC9230}"/>
              </a:ext>
            </a:extLst>
          </p:cNvPr>
          <p:cNvSpPr>
            <a:spLocks noGrp="1"/>
          </p:cNvSpPr>
          <p:nvPr/>
        </p:nvSpPr>
        <p:spPr>
          <a:xfrm>
            <a:off x="4238625" y="4981575"/>
            <a:ext cx="2419350" cy="228600"/>
          </a:xfrm>
          <a:prstGeom prst="rect">
            <a:avLst/>
          </a:prstGeom>
          <a:noFill/>
          <a:ln w="0">
            <a:noFill/>
          </a:ln>
        </p:spPr>
        <p:txBody>
          <a:bodyPr lIns="0" tIns="0" rIns="0" bIns="0">
            <a:noAutofit/>
          </a:bodyPr>
          <a:lstStyle/>
          <a:p>
            <a:pPr>
              <a:defRPr sz="975" b="0">
                <a:solidFill>
                  <a:srgbClr val="FE5000"/>
                </a:solidFill>
                <a:latin typeface="DejaVu Sans"/>
                <a:ea typeface="DejaVu Sans"/>
                <a:cs typeface="DejaVu Sans"/>
              </a:defRPr>
            </a:pPr>
            <a:r>
              <a:rPr sz="975" b="0">
                <a:solidFill>
                  <a:srgbClr val="FE5000"/>
                </a:solidFill>
                <a:latin typeface="DejaVu Sans"/>
                <a:ea typeface="DejaVu Sans"/>
                <a:cs typeface="DejaVu Sans"/>
              </a:rPr>
              <a:t>Need help? Contact supervisor</a:t>
            </a:r>
          </a:p>
        </p:txBody>
      </p:sp>
      <p:sp>
        <p:nvSpPr>
          <p:cNvPr id="31" name="Rectangle 30">
            <a:extLst>
              <a:ext uri="{FF2B5EF4-FFF2-40B4-BE49-F238E27FC236}">
                <a16:creationId xmlns:a16="http://schemas.microsoft.com/office/drawing/2014/main" id="{5FBCA4EF-E7FA-4EE2-B692-BC51B866D54B}"/>
              </a:ext>
            </a:extLst>
          </p:cNvPr>
          <p:cNvSpPr>
            <a:spLocks noGrp="1"/>
          </p:cNvSpPr>
          <p:nvPr/>
        </p:nvSpPr>
        <p:spPr>
          <a:xfrm>
            <a:off x="4238625" y="5438775"/>
            <a:ext cx="2419350" cy="247650"/>
          </a:xfrm>
          <a:prstGeom prst="rect">
            <a:avLst/>
          </a:prstGeom>
          <a:solidFill>
            <a:srgbClr val="F5F5F5"/>
          </a:solidFill>
          <a:ln w="0">
            <a:noFill/>
          </a:ln>
        </p:spPr>
        <p:txBody>
          <a:bodyPr/>
          <a:lstStyle/>
          <a:p>
            <a:endParaRPr lang="en-GH"/>
          </a:p>
        </p:txBody>
      </p:sp>
      <p:sp>
        <p:nvSpPr>
          <p:cNvPr id="32" name="Rectangle 31">
            <a:extLst>
              <a:ext uri="{FF2B5EF4-FFF2-40B4-BE49-F238E27FC236}">
                <a16:creationId xmlns:a16="http://schemas.microsoft.com/office/drawing/2014/main" id="{0279DBD5-68E8-4C90-9F6A-80339AD9E200}"/>
              </a:ext>
            </a:extLst>
          </p:cNvPr>
          <p:cNvSpPr>
            <a:spLocks noGrp="1"/>
          </p:cNvSpPr>
          <p:nvPr/>
        </p:nvSpPr>
        <p:spPr>
          <a:xfrm>
            <a:off x="4314825" y="5486400"/>
            <a:ext cx="2266950" cy="190500"/>
          </a:xfrm>
          <a:prstGeom prst="rect">
            <a:avLst/>
          </a:prstGeom>
          <a:noFill/>
          <a:ln w="0">
            <a:noFill/>
          </a:ln>
        </p:spPr>
        <p:txBody>
          <a:bodyPr lIns="0" tIns="0" rIns="0" bIns="0">
            <a:noAutofit/>
          </a:bodyPr>
          <a:lstStyle/>
          <a:p>
            <a:pPr>
              <a:defRPr sz="900" b="1">
                <a:solidFill>
                  <a:srgbClr val="FE5000"/>
                </a:solidFill>
                <a:latin typeface="DejaVu Sans"/>
                <a:ea typeface="DejaVu Sans"/>
                <a:cs typeface="DejaVu Sans"/>
              </a:defRPr>
            </a:pPr>
            <a:r>
              <a:rPr sz="900" b="1">
                <a:solidFill>
                  <a:srgbClr val="FE5000"/>
                </a:solidFill>
                <a:latin typeface="DejaVu Sans"/>
                <a:ea typeface="DejaVu Sans"/>
                <a:cs typeface="DejaVu Sans"/>
              </a:rPr>
              <a:t>Access limited to your role</a:t>
            </a:r>
          </a:p>
        </p:txBody>
      </p:sp>
      <p:sp>
        <p:nvSpPr>
          <p:cNvPr id="33" name="Rectangle 32">
            <a:extLst>
              <a:ext uri="{FF2B5EF4-FFF2-40B4-BE49-F238E27FC236}">
                <a16:creationId xmlns:a16="http://schemas.microsoft.com/office/drawing/2014/main" id="{CCF68ECF-380B-4FF7-9EBA-8D40A0D05E95}"/>
              </a:ext>
            </a:extLst>
          </p:cNvPr>
          <p:cNvSpPr>
            <a:spLocks noGrp="1"/>
          </p:cNvSpPr>
          <p:nvPr/>
        </p:nvSpPr>
        <p:spPr>
          <a:xfrm>
            <a:off x="7524750" y="1524000"/>
            <a:ext cx="2857500" cy="4533900"/>
          </a:xfrm>
          <a:prstGeom prst="rect">
            <a:avLst/>
          </a:prstGeom>
          <a:solidFill>
            <a:srgbClr val="303030"/>
          </a:solidFill>
          <a:ln w="0">
            <a:noFill/>
          </a:ln>
        </p:spPr>
        <p:txBody>
          <a:bodyPr/>
          <a:lstStyle/>
          <a:p>
            <a:endParaRPr lang="en-GH"/>
          </a:p>
        </p:txBody>
      </p:sp>
      <p:sp>
        <p:nvSpPr>
          <p:cNvPr id="34" name="Rectangle 33">
            <a:extLst>
              <a:ext uri="{FF2B5EF4-FFF2-40B4-BE49-F238E27FC236}">
                <a16:creationId xmlns:a16="http://schemas.microsoft.com/office/drawing/2014/main" id="{22F56B7C-69F5-47F8-9CB4-BE6E37446BA1}"/>
              </a:ext>
            </a:extLst>
          </p:cNvPr>
          <p:cNvSpPr>
            <a:spLocks noGrp="1"/>
          </p:cNvSpPr>
          <p:nvPr/>
        </p:nvSpPr>
        <p:spPr>
          <a:xfrm>
            <a:off x="7591425" y="1590675"/>
            <a:ext cx="2724150" cy="4400550"/>
          </a:xfrm>
          <a:prstGeom prst="rect">
            <a:avLst/>
          </a:prstGeom>
          <a:solidFill>
            <a:srgbClr val="F5F5F5"/>
          </a:solidFill>
          <a:ln w="0">
            <a:noFill/>
          </a:ln>
        </p:spPr>
        <p:txBody>
          <a:bodyPr/>
          <a:lstStyle/>
          <a:p>
            <a:endParaRPr lang="en-GH"/>
          </a:p>
        </p:txBody>
      </p:sp>
      <p:sp>
        <p:nvSpPr>
          <p:cNvPr id="35" name="Rectangle 34">
            <a:extLst>
              <a:ext uri="{FF2B5EF4-FFF2-40B4-BE49-F238E27FC236}">
                <a16:creationId xmlns:a16="http://schemas.microsoft.com/office/drawing/2014/main" id="{A3F7AEF8-C553-4C73-AF7E-B53933F22A4F}"/>
              </a:ext>
            </a:extLst>
          </p:cNvPr>
          <p:cNvSpPr>
            <a:spLocks noGrp="1"/>
          </p:cNvSpPr>
          <p:nvPr/>
        </p:nvSpPr>
        <p:spPr>
          <a:xfrm>
            <a:off x="7591425" y="1590675"/>
            <a:ext cx="2724150" cy="371475"/>
          </a:xfrm>
          <a:prstGeom prst="rect">
            <a:avLst/>
          </a:prstGeom>
          <a:solidFill>
            <a:srgbClr val="FE5000"/>
          </a:solidFill>
          <a:ln w="0">
            <a:noFill/>
          </a:ln>
        </p:spPr>
        <p:txBody>
          <a:bodyPr/>
          <a:lstStyle/>
          <a:p>
            <a:endParaRPr lang="en-GH"/>
          </a:p>
        </p:txBody>
      </p:sp>
      <p:sp>
        <p:nvSpPr>
          <p:cNvPr id="36" name="Rectangle 35">
            <a:extLst>
              <a:ext uri="{FF2B5EF4-FFF2-40B4-BE49-F238E27FC236}">
                <a16:creationId xmlns:a16="http://schemas.microsoft.com/office/drawing/2014/main" id="{C7886074-8A1B-4089-A695-DC6B1E2D1BD2}"/>
              </a:ext>
            </a:extLst>
          </p:cNvPr>
          <p:cNvSpPr>
            <a:spLocks noGrp="1"/>
          </p:cNvSpPr>
          <p:nvPr/>
        </p:nvSpPr>
        <p:spPr>
          <a:xfrm>
            <a:off x="7724775" y="1704975"/>
            <a:ext cx="1847850" cy="209550"/>
          </a:xfrm>
          <a:prstGeom prst="rect">
            <a:avLst/>
          </a:prstGeom>
          <a:noFill/>
          <a:ln w="0">
            <a:noFill/>
          </a:ln>
        </p:spPr>
        <p:txBody>
          <a:bodyPr lIns="0" tIns="0" rIns="0" bIns="0">
            <a:noAutofit/>
          </a:bodyPr>
          <a:lstStyle/>
          <a:p>
            <a:pP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STOCKCONTROL</a:t>
            </a:r>
          </a:p>
        </p:txBody>
      </p:sp>
      <p:sp>
        <p:nvSpPr>
          <p:cNvPr id="37" name="Rectangle 36">
            <a:extLst>
              <a:ext uri="{FF2B5EF4-FFF2-40B4-BE49-F238E27FC236}">
                <a16:creationId xmlns:a16="http://schemas.microsoft.com/office/drawing/2014/main" id="{E1E32960-602E-4A53-BC8A-2EDFFC384330}"/>
              </a:ext>
            </a:extLst>
          </p:cNvPr>
          <p:cNvSpPr>
            <a:spLocks noGrp="1"/>
          </p:cNvSpPr>
          <p:nvPr/>
        </p:nvSpPr>
        <p:spPr>
          <a:xfrm>
            <a:off x="9791700" y="1714500"/>
            <a:ext cx="438150" cy="171450"/>
          </a:xfrm>
          <a:prstGeom prst="rect">
            <a:avLst/>
          </a:prstGeom>
          <a:noFill/>
          <a:ln w="0">
            <a:noFill/>
          </a:ln>
        </p:spPr>
        <p:txBody>
          <a:bodyPr lIns="0" tIns="0" rIns="0" bIns="0">
            <a:noAutofit/>
          </a:bodyPr>
          <a:lstStyle/>
          <a:p>
            <a:pPr>
              <a:defRPr sz="900" b="0">
                <a:solidFill>
                  <a:srgbClr val="FFFFFF"/>
                </a:solidFill>
                <a:latin typeface="DejaVu Sans"/>
                <a:ea typeface="DejaVu Sans"/>
                <a:cs typeface="DejaVu Sans"/>
              </a:defRPr>
            </a:pPr>
            <a:r>
              <a:rPr sz="900" b="0">
                <a:solidFill>
                  <a:srgbClr val="FFFFFF"/>
                </a:solidFill>
                <a:latin typeface="DejaVu Sans"/>
                <a:ea typeface="DejaVu Sans"/>
                <a:cs typeface="DejaVu Sans"/>
              </a:rPr>
              <a:t>08:10</a:t>
            </a:r>
          </a:p>
        </p:txBody>
      </p:sp>
      <p:sp>
        <p:nvSpPr>
          <p:cNvPr id="38" name="Rectangle 37">
            <a:extLst>
              <a:ext uri="{FF2B5EF4-FFF2-40B4-BE49-F238E27FC236}">
                <a16:creationId xmlns:a16="http://schemas.microsoft.com/office/drawing/2014/main" id="{86B0FE2F-179E-4C24-A2C7-7D3AABEBF6BD}"/>
              </a:ext>
            </a:extLst>
          </p:cNvPr>
          <p:cNvSpPr>
            <a:spLocks noGrp="1"/>
          </p:cNvSpPr>
          <p:nvPr/>
        </p:nvSpPr>
        <p:spPr>
          <a:xfrm>
            <a:off x="7743825" y="2152650"/>
            <a:ext cx="2409825" cy="361950"/>
          </a:xfrm>
          <a:prstGeom prst="rect">
            <a:avLst/>
          </a:prstGeom>
          <a:noFill/>
          <a:ln w="0">
            <a:noFill/>
          </a:ln>
        </p:spPr>
        <p:txBody>
          <a:bodyPr lIns="0" tIns="0" rIns="0" bIns="0">
            <a:noAutofit/>
          </a:bodyPr>
          <a:lstStyle/>
          <a:p>
            <a:pPr>
              <a:defRPr sz="1800" b="1">
                <a:solidFill>
                  <a:srgbClr val="303030"/>
                </a:solidFill>
                <a:latin typeface="DejaVu Sans"/>
                <a:ea typeface="DejaVu Sans"/>
                <a:cs typeface="DejaVu Sans"/>
              </a:defRPr>
            </a:pPr>
            <a:r>
              <a:rPr sz="1800" b="1">
                <a:solidFill>
                  <a:srgbClr val="303030"/>
                </a:solidFill>
                <a:latin typeface="DejaVu Sans"/>
                <a:ea typeface="DejaVu Sans"/>
                <a:cs typeface="DejaVu Sans"/>
              </a:rPr>
              <a:t>Depot check in</a:t>
            </a:r>
          </a:p>
        </p:txBody>
      </p:sp>
      <p:sp>
        <p:nvSpPr>
          <p:cNvPr id="39" name="Rectangle 38">
            <a:extLst>
              <a:ext uri="{FF2B5EF4-FFF2-40B4-BE49-F238E27FC236}">
                <a16:creationId xmlns:a16="http://schemas.microsoft.com/office/drawing/2014/main" id="{7AAF657E-0A56-4096-BF19-2A25D536E36F}"/>
              </a:ext>
            </a:extLst>
          </p:cNvPr>
          <p:cNvSpPr>
            <a:spLocks noGrp="1"/>
          </p:cNvSpPr>
          <p:nvPr/>
        </p:nvSpPr>
        <p:spPr>
          <a:xfrm>
            <a:off x="7743825" y="2543175"/>
            <a:ext cx="2390775" cy="247650"/>
          </a:xfrm>
          <a:prstGeom prst="rect">
            <a:avLst/>
          </a:prstGeom>
          <a:noFill/>
          <a:ln w="0">
            <a:noFill/>
          </a:ln>
        </p:spPr>
        <p:txBody>
          <a:bodyPr lIns="0" tIns="0" rIns="0" bIns="0">
            <a:noAutofit/>
          </a:bodyPr>
          <a:lstStyle/>
          <a:p>
            <a:pPr>
              <a:defRPr sz="975" b="0">
                <a:solidFill>
                  <a:srgbClr val="5E5E5E"/>
                </a:solidFill>
                <a:latin typeface="DejaVu Sans"/>
                <a:ea typeface="DejaVu Sans"/>
                <a:cs typeface="DejaVu Sans"/>
              </a:defRPr>
            </a:pPr>
            <a:r>
              <a:rPr sz="975" b="0">
                <a:solidFill>
                  <a:srgbClr val="5E5E5E"/>
                </a:solidFill>
                <a:latin typeface="DejaVu Sans"/>
                <a:ea typeface="DejaVu Sans"/>
                <a:cs typeface="DejaVu Sans"/>
              </a:rPr>
              <a:t>Visit GH 014   /   Accra depot</a:t>
            </a:r>
          </a:p>
        </p:txBody>
      </p:sp>
      <p:sp>
        <p:nvSpPr>
          <p:cNvPr id="40" name="Rectangle 39">
            <a:extLst>
              <a:ext uri="{FF2B5EF4-FFF2-40B4-BE49-F238E27FC236}">
                <a16:creationId xmlns:a16="http://schemas.microsoft.com/office/drawing/2014/main" id="{2BCBD966-B833-42C9-852C-7431823122EB}"/>
              </a:ext>
            </a:extLst>
          </p:cNvPr>
          <p:cNvSpPr>
            <a:spLocks noGrp="1"/>
          </p:cNvSpPr>
          <p:nvPr/>
        </p:nvSpPr>
        <p:spPr>
          <a:xfrm>
            <a:off x="7743825" y="2905125"/>
            <a:ext cx="2419350" cy="771525"/>
          </a:xfrm>
          <a:prstGeom prst="rect">
            <a:avLst/>
          </a:prstGeom>
          <a:solidFill>
            <a:srgbClr val="FFFFFF"/>
          </a:solidFill>
          <a:ln w="9525">
            <a:solidFill>
              <a:srgbClr val="E0E0E0"/>
            </a:solidFill>
          </a:ln>
        </p:spPr>
        <p:txBody>
          <a:bodyPr/>
          <a:lstStyle/>
          <a:p>
            <a:endParaRPr lang="en-GH"/>
          </a:p>
        </p:txBody>
      </p:sp>
      <p:sp>
        <p:nvSpPr>
          <p:cNvPr id="41" name="Rectangle 40">
            <a:extLst>
              <a:ext uri="{FF2B5EF4-FFF2-40B4-BE49-F238E27FC236}">
                <a16:creationId xmlns:a16="http://schemas.microsoft.com/office/drawing/2014/main" id="{74AFCE17-68D0-4902-8DF0-20CE10E109C0}"/>
              </a:ext>
            </a:extLst>
          </p:cNvPr>
          <p:cNvSpPr>
            <a:spLocks noGrp="1"/>
          </p:cNvSpPr>
          <p:nvPr/>
        </p:nvSpPr>
        <p:spPr>
          <a:xfrm>
            <a:off x="7867650" y="3028950"/>
            <a:ext cx="2143125" cy="238125"/>
          </a:xfrm>
          <a:prstGeom prst="rect">
            <a:avLst/>
          </a:prstGeom>
          <a:noFill/>
          <a:ln w="0">
            <a:noFill/>
          </a:ln>
        </p:spPr>
        <p:txBody>
          <a:bodyPr lIns="0" tIns="0" rIns="0" bIns="0">
            <a:noAutofit/>
          </a:bodyPr>
          <a:lstStyle/>
          <a:p>
            <a:pPr>
              <a:defRPr sz="1200" b="1">
                <a:solidFill>
                  <a:srgbClr val="303030"/>
                </a:solidFill>
                <a:latin typeface="DejaVu Sans"/>
                <a:ea typeface="DejaVu Sans"/>
                <a:cs typeface="DejaVu Sans"/>
              </a:defRPr>
            </a:pPr>
            <a:r>
              <a:rPr sz="1200" b="1">
                <a:solidFill>
                  <a:srgbClr val="303030"/>
                </a:solidFill>
                <a:latin typeface="DejaVu Sans"/>
                <a:ea typeface="DejaVu Sans"/>
                <a:cs typeface="DejaVu Sans"/>
              </a:rPr>
              <a:t>Attendance photo</a:t>
            </a:r>
          </a:p>
        </p:txBody>
      </p:sp>
      <p:sp>
        <p:nvSpPr>
          <p:cNvPr id="42" name="Rectangle 41">
            <a:extLst>
              <a:ext uri="{FF2B5EF4-FFF2-40B4-BE49-F238E27FC236}">
                <a16:creationId xmlns:a16="http://schemas.microsoft.com/office/drawing/2014/main" id="{22BEBBDB-780C-49A0-929C-E40144284BF6}"/>
              </a:ext>
            </a:extLst>
          </p:cNvPr>
          <p:cNvSpPr>
            <a:spLocks noGrp="1"/>
          </p:cNvSpPr>
          <p:nvPr/>
        </p:nvSpPr>
        <p:spPr>
          <a:xfrm>
            <a:off x="7867650" y="3343275"/>
            <a:ext cx="2143125" cy="209550"/>
          </a:xfrm>
          <a:prstGeom prst="rect">
            <a:avLst/>
          </a:prstGeom>
          <a:noFill/>
          <a:ln w="0">
            <a:noFill/>
          </a:ln>
        </p:spPr>
        <p:txBody>
          <a:bodyPr lIns="0" tIns="0" rIns="0" bIns="0">
            <a:noAutofit/>
          </a:bodyPr>
          <a:lstStyle/>
          <a:p>
            <a:pPr>
              <a:defRPr sz="975" b="0">
                <a:solidFill>
                  <a:srgbClr val="5E5E5E"/>
                </a:solidFill>
                <a:latin typeface="DejaVu Sans"/>
                <a:ea typeface="DejaVu Sans"/>
                <a:cs typeface="DejaVu Sans"/>
              </a:defRPr>
            </a:pPr>
            <a:r>
              <a:rPr sz="975" b="0">
                <a:solidFill>
                  <a:srgbClr val="5E5E5E"/>
                </a:solidFill>
                <a:latin typeface="DejaVu Sans"/>
                <a:ea typeface="DejaVu Sans"/>
                <a:cs typeface="DejaVu Sans"/>
              </a:rPr>
              <a:t>Camera preview opens here</a:t>
            </a:r>
          </a:p>
        </p:txBody>
      </p:sp>
      <p:sp>
        <p:nvSpPr>
          <p:cNvPr id="43" name="Rectangle 42">
            <a:extLst>
              <a:ext uri="{FF2B5EF4-FFF2-40B4-BE49-F238E27FC236}">
                <a16:creationId xmlns:a16="http://schemas.microsoft.com/office/drawing/2014/main" id="{F068ECAD-6F81-47C8-A29C-1DC815E828FA}"/>
              </a:ext>
            </a:extLst>
          </p:cNvPr>
          <p:cNvSpPr>
            <a:spLocks noGrp="1"/>
          </p:cNvSpPr>
          <p:nvPr/>
        </p:nvSpPr>
        <p:spPr>
          <a:xfrm>
            <a:off x="7743825" y="3800475"/>
            <a:ext cx="2419350" cy="381000"/>
          </a:xfrm>
          <a:prstGeom prst="rect">
            <a:avLst/>
          </a:prstGeom>
          <a:solidFill>
            <a:srgbClr val="FE5000"/>
          </a:solidFill>
          <a:ln w="0">
            <a:noFill/>
          </a:ln>
        </p:spPr>
        <p:txBody>
          <a:bodyPr/>
          <a:lstStyle/>
          <a:p>
            <a:endParaRPr lang="en-GH"/>
          </a:p>
        </p:txBody>
      </p:sp>
      <p:sp>
        <p:nvSpPr>
          <p:cNvPr id="44" name="Rectangle 43">
            <a:extLst>
              <a:ext uri="{FF2B5EF4-FFF2-40B4-BE49-F238E27FC236}">
                <a16:creationId xmlns:a16="http://schemas.microsoft.com/office/drawing/2014/main" id="{1C147206-1E92-43B2-891A-BFF95B4582B5}"/>
              </a:ext>
            </a:extLst>
          </p:cNvPr>
          <p:cNvSpPr>
            <a:spLocks noGrp="1"/>
          </p:cNvSpPr>
          <p:nvPr/>
        </p:nvSpPr>
        <p:spPr>
          <a:xfrm>
            <a:off x="7858125" y="3895725"/>
            <a:ext cx="2190750" cy="228600"/>
          </a:xfrm>
          <a:prstGeom prst="rect">
            <a:avLst/>
          </a:prstGeom>
          <a:noFill/>
          <a:ln w="0">
            <a:noFill/>
          </a:ln>
        </p:spPr>
        <p:txBody>
          <a:bodyPr lIns="0" tIns="0" rIns="0" bIns="0">
            <a:noAutofit/>
          </a:bodyPr>
          <a:lstStyle/>
          <a:p>
            <a:pP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Take photo</a:t>
            </a:r>
          </a:p>
        </p:txBody>
      </p:sp>
      <p:sp>
        <p:nvSpPr>
          <p:cNvPr id="45" name="Rectangle 44">
            <a:extLst>
              <a:ext uri="{FF2B5EF4-FFF2-40B4-BE49-F238E27FC236}">
                <a16:creationId xmlns:a16="http://schemas.microsoft.com/office/drawing/2014/main" id="{A4E65811-628D-437F-A82D-1F998C5BB5EC}"/>
              </a:ext>
            </a:extLst>
          </p:cNvPr>
          <p:cNvSpPr>
            <a:spLocks noGrp="1"/>
          </p:cNvSpPr>
          <p:nvPr/>
        </p:nvSpPr>
        <p:spPr>
          <a:xfrm>
            <a:off x="7743825" y="4305300"/>
            <a:ext cx="2419350" cy="247650"/>
          </a:xfrm>
          <a:prstGeom prst="rect">
            <a:avLst/>
          </a:prstGeom>
          <a:solidFill>
            <a:srgbClr val="F5F5F5"/>
          </a:solidFill>
          <a:ln w="0">
            <a:noFill/>
          </a:ln>
        </p:spPr>
        <p:txBody>
          <a:bodyPr/>
          <a:lstStyle/>
          <a:p>
            <a:endParaRPr lang="en-GH"/>
          </a:p>
        </p:txBody>
      </p:sp>
      <p:sp>
        <p:nvSpPr>
          <p:cNvPr id="46" name="Rectangle 45">
            <a:extLst>
              <a:ext uri="{FF2B5EF4-FFF2-40B4-BE49-F238E27FC236}">
                <a16:creationId xmlns:a16="http://schemas.microsoft.com/office/drawing/2014/main" id="{70C4412D-B55C-4C11-B39C-0D4C5387BA4B}"/>
              </a:ext>
            </a:extLst>
          </p:cNvPr>
          <p:cNvSpPr>
            <a:spLocks noGrp="1"/>
          </p:cNvSpPr>
          <p:nvPr/>
        </p:nvSpPr>
        <p:spPr>
          <a:xfrm>
            <a:off x="7820025" y="4352925"/>
            <a:ext cx="2266950" cy="190500"/>
          </a:xfrm>
          <a:prstGeom prst="rect">
            <a:avLst/>
          </a:prstGeom>
          <a:noFill/>
          <a:ln w="0">
            <a:noFill/>
          </a:ln>
        </p:spPr>
        <p:txBody>
          <a:bodyPr lIns="0" tIns="0" rIns="0" bIns="0">
            <a:noAutofit/>
          </a:bodyPr>
          <a:lstStyle/>
          <a:p>
            <a:pPr>
              <a:defRPr sz="900" b="1">
                <a:solidFill>
                  <a:srgbClr val="FE5000"/>
                </a:solidFill>
                <a:latin typeface="DejaVu Sans"/>
                <a:ea typeface="DejaVu Sans"/>
                <a:cs typeface="DejaVu Sans"/>
              </a:defRPr>
            </a:pPr>
            <a:r>
              <a:rPr sz="900" b="1">
                <a:solidFill>
                  <a:srgbClr val="FE5000"/>
                </a:solidFill>
                <a:latin typeface="DejaVu Sans"/>
                <a:ea typeface="DejaVu Sans"/>
                <a:cs typeface="DejaVu Sans"/>
              </a:rPr>
              <a:t>GPS ready   /   Within depot radius</a:t>
            </a:r>
          </a:p>
        </p:txBody>
      </p:sp>
      <p:sp>
        <p:nvSpPr>
          <p:cNvPr id="47" name="Rectangle 46">
            <a:extLst>
              <a:ext uri="{FF2B5EF4-FFF2-40B4-BE49-F238E27FC236}">
                <a16:creationId xmlns:a16="http://schemas.microsoft.com/office/drawing/2014/main" id="{97171920-1B2C-46E8-91BC-90DE6389AC2D}"/>
              </a:ext>
            </a:extLst>
          </p:cNvPr>
          <p:cNvSpPr>
            <a:spLocks noGrp="1"/>
          </p:cNvSpPr>
          <p:nvPr/>
        </p:nvSpPr>
        <p:spPr>
          <a:xfrm>
            <a:off x="7743825" y="4638675"/>
            <a:ext cx="2419350" cy="238125"/>
          </a:xfrm>
          <a:prstGeom prst="rect">
            <a:avLst/>
          </a:prstGeom>
          <a:noFill/>
          <a:ln w="0">
            <a:noFill/>
          </a:ln>
        </p:spPr>
        <p:txBody>
          <a:bodyPr lIns="0" tIns="0" rIns="0" bIns="0">
            <a:noAutofit/>
          </a:bodyPr>
          <a:lstStyle/>
          <a:p>
            <a:pPr>
              <a:defRPr sz="975" b="0">
                <a:solidFill>
                  <a:srgbClr val="5E5E5E"/>
                </a:solidFill>
                <a:latin typeface="DejaVu Sans"/>
                <a:ea typeface="DejaVu Sans"/>
                <a:cs typeface="DejaVu Sans"/>
              </a:defRPr>
            </a:pPr>
            <a:r>
              <a:rPr sz="975" b="0">
                <a:solidFill>
                  <a:srgbClr val="5E5E5E"/>
                </a:solidFill>
                <a:latin typeface="DejaVu Sans"/>
                <a:ea typeface="DejaVu Sans"/>
                <a:cs typeface="DejaVu Sans"/>
              </a:rPr>
              <a:t>Accuracy ±12 m    Captured 08:10</a:t>
            </a:r>
          </a:p>
        </p:txBody>
      </p:sp>
      <p:sp>
        <p:nvSpPr>
          <p:cNvPr id="48" name="Rectangle 47">
            <a:extLst>
              <a:ext uri="{FF2B5EF4-FFF2-40B4-BE49-F238E27FC236}">
                <a16:creationId xmlns:a16="http://schemas.microsoft.com/office/drawing/2014/main" id="{FEFA304B-7761-4322-9AAE-3E33F6522882}"/>
              </a:ext>
            </a:extLst>
          </p:cNvPr>
          <p:cNvSpPr>
            <a:spLocks noGrp="1"/>
          </p:cNvSpPr>
          <p:nvPr/>
        </p:nvSpPr>
        <p:spPr>
          <a:xfrm>
            <a:off x="7743825" y="5067300"/>
            <a:ext cx="2419350" cy="381000"/>
          </a:xfrm>
          <a:prstGeom prst="rect">
            <a:avLst/>
          </a:prstGeom>
          <a:solidFill>
            <a:srgbClr val="FE5000"/>
          </a:solidFill>
          <a:ln w="0">
            <a:noFill/>
          </a:ln>
        </p:spPr>
        <p:txBody>
          <a:bodyPr/>
          <a:lstStyle/>
          <a:p>
            <a:endParaRPr lang="en-GH"/>
          </a:p>
        </p:txBody>
      </p:sp>
      <p:sp>
        <p:nvSpPr>
          <p:cNvPr id="49" name="Rectangle 48">
            <a:extLst>
              <a:ext uri="{FF2B5EF4-FFF2-40B4-BE49-F238E27FC236}">
                <a16:creationId xmlns:a16="http://schemas.microsoft.com/office/drawing/2014/main" id="{8331FC1F-F031-4010-A7D0-616E35D35294}"/>
              </a:ext>
            </a:extLst>
          </p:cNvPr>
          <p:cNvSpPr>
            <a:spLocks noGrp="1"/>
          </p:cNvSpPr>
          <p:nvPr/>
        </p:nvSpPr>
        <p:spPr>
          <a:xfrm>
            <a:off x="7858125" y="5162550"/>
            <a:ext cx="2190750" cy="228600"/>
          </a:xfrm>
          <a:prstGeom prst="rect">
            <a:avLst/>
          </a:prstGeom>
          <a:noFill/>
          <a:ln w="0">
            <a:noFill/>
          </a:ln>
        </p:spPr>
        <p:txBody>
          <a:bodyPr lIns="0" tIns="0" rIns="0" bIns="0">
            <a:noAutofit/>
          </a:bodyPr>
          <a:lstStyle/>
          <a:p>
            <a:pP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Confirm check in</a:t>
            </a:r>
          </a:p>
        </p:txBody>
      </p:sp>
      <p:sp>
        <p:nvSpPr>
          <p:cNvPr id="50" name="Rectangle 49">
            <a:extLst>
              <a:ext uri="{FF2B5EF4-FFF2-40B4-BE49-F238E27FC236}">
                <a16:creationId xmlns:a16="http://schemas.microsoft.com/office/drawing/2014/main" id="{8B2AF010-0C76-4599-A11A-7725E06EDA3C}"/>
              </a:ext>
            </a:extLst>
          </p:cNvPr>
          <p:cNvSpPr>
            <a:spLocks noGrp="1"/>
          </p:cNvSpPr>
          <p:nvPr/>
        </p:nvSpPr>
        <p:spPr>
          <a:xfrm>
            <a:off x="7743825" y="5591175"/>
            <a:ext cx="2419350" cy="209550"/>
          </a:xfrm>
          <a:prstGeom prst="rect">
            <a:avLst/>
          </a:prstGeom>
          <a:noFill/>
          <a:ln w="0">
            <a:noFill/>
          </a:ln>
        </p:spPr>
        <p:txBody>
          <a:bodyPr lIns="0" tIns="0" rIns="0" bIns="0">
            <a:noAutofit/>
          </a:bodyPr>
          <a:lstStyle/>
          <a:p>
            <a:pPr>
              <a:defRPr sz="975" b="0">
                <a:solidFill>
                  <a:srgbClr val="FE5000"/>
                </a:solidFill>
                <a:latin typeface="DejaVu Sans"/>
                <a:ea typeface="DejaVu Sans"/>
                <a:cs typeface="DejaVu Sans"/>
              </a:defRPr>
            </a:pPr>
            <a:r>
              <a:rPr sz="975" b="0">
                <a:solidFill>
                  <a:srgbClr val="FE5000"/>
                </a:solidFill>
                <a:latin typeface="DejaVu Sans"/>
                <a:ea typeface="DejaVu Sans"/>
                <a:cs typeface="DejaVu Sans"/>
              </a:rPr>
              <a:t>Location issue? Send for review</a:t>
            </a:r>
          </a:p>
        </p:txBody>
      </p:sp>
      <p:sp>
        <p:nvSpPr>
          <p:cNvPr id="51" name="Rectangle 50">
            <a:extLst>
              <a:ext uri="{FF2B5EF4-FFF2-40B4-BE49-F238E27FC236}">
                <a16:creationId xmlns:a16="http://schemas.microsoft.com/office/drawing/2014/main" id="{AD1EA6C7-C718-4A3C-B79E-013214863CAE}"/>
              </a:ext>
            </a:extLst>
          </p:cNvPr>
          <p:cNvSpPr>
            <a:spLocks noGrp="1"/>
          </p:cNvSpPr>
          <p:nvPr/>
        </p:nvSpPr>
        <p:spPr>
          <a:xfrm>
            <a:off x="10572750" y="2124075"/>
            <a:ext cx="1190625" cy="666750"/>
          </a:xfrm>
          <a:prstGeom prst="rect">
            <a:avLst/>
          </a:prstGeom>
          <a:noFill/>
          <a:ln w="0">
            <a:noFill/>
          </a:ln>
        </p:spPr>
        <p:txBody>
          <a:bodyPr lIns="0" tIns="0" rIns="0" bIns="0">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Photo ID + location</a:t>
            </a:r>
          </a:p>
        </p:txBody>
      </p:sp>
      <p:sp>
        <p:nvSpPr>
          <p:cNvPr id="52" name="Rectangle 51">
            <a:extLst>
              <a:ext uri="{FF2B5EF4-FFF2-40B4-BE49-F238E27FC236}">
                <a16:creationId xmlns:a16="http://schemas.microsoft.com/office/drawing/2014/main" id="{49F7AFA5-E539-448A-BAF5-43F0107D8F79}"/>
              </a:ext>
            </a:extLst>
          </p:cNvPr>
          <p:cNvSpPr>
            <a:spLocks noGrp="1"/>
          </p:cNvSpPr>
          <p:nvPr/>
        </p:nvSpPr>
        <p:spPr>
          <a:xfrm>
            <a:off x="10572750" y="3000375"/>
            <a:ext cx="1200150" cy="2286000"/>
          </a:xfrm>
          <a:prstGeom prst="rect">
            <a:avLst/>
          </a:prstGeom>
          <a:noFill/>
          <a:ln w="0">
            <a:noFill/>
          </a:ln>
        </p:spPr>
        <p:txBody>
          <a:bodyPr lIns="0" tIns="0" rIns="0" bIns="0">
            <a:noAutofit/>
          </a:bodyPr>
          <a:lstStyle/>
          <a:p>
            <a:pPr>
              <a:defRPr sz="1200" b="0">
                <a:solidFill>
                  <a:srgbClr val="5E5E5E"/>
                </a:solidFill>
                <a:latin typeface="DejaVu Sans"/>
                <a:ea typeface="DejaVu Sans"/>
                <a:cs typeface="DejaVu Sans"/>
              </a:defRPr>
            </a:pPr>
            <a:r>
              <a:rPr sz="1200" b="0">
                <a:solidFill>
                  <a:srgbClr val="5E5E5E"/>
                </a:solidFill>
                <a:latin typeface="DejaVu Sans"/>
                <a:ea typeface="DejaVu Sans"/>
                <a:cs typeface="DejaVu Sans"/>
              </a:rPr>
              <a:t>Photo preview includes retake.</a:t>
            </a:r>
          </a:p>
          <a:p>
            <a:endParaRPr sz="1200" b="0">
              <a:solidFill>
                <a:srgbClr val="5E5E5E"/>
              </a:solidFill>
              <a:latin typeface="DejaVu Sans"/>
              <a:ea typeface="DejaVu Sans"/>
              <a:cs typeface="DejaVu Sans"/>
            </a:endParaRPr>
          </a:p>
          <a:p>
            <a:pPr>
              <a:defRPr sz="1200" b="0">
                <a:solidFill>
                  <a:srgbClr val="5E5E5E"/>
                </a:solidFill>
                <a:latin typeface="DejaVu Sans"/>
                <a:ea typeface="DejaVu Sans"/>
                <a:cs typeface="DejaVu Sans"/>
              </a:defRPr>
            </a:pPr>
            <a:r>
              <a:rPr sz="1200" b="0">
                <a:solidFill>
                  <a:srgbClr val="5E5E5E"/>
                </a:solidFill>
                <a:latin typeface="DejaVu Sans"/>
                <a:ea typeface="DejaVu Sans"/>
                <a:cs typeface="DejaVu Sans"/>
              </a:rPr>
              <a:t>Weak GPS prompts retry or supervisor review.</a:t>
            </a:r>
          </a:p>
        </p:txBody>
      </p:sp>
    </p:spTree>
    <p:extLst>
      <p:ext uri="{BB962C8B-B14F-4D97-AF65-F5344CB8AC3E}">
        <p14:creationId xmlns:p14="http://schemas.microsoft.com/office/powerpoint/2010/main" val="6554983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954BD3C3-EC76-4170-AE31-CFEABD628AED}"/>
              </a:ext>
            </a:extLst>
          </p:cNvPr>
          <p:cNvSpPr>
            <a:spLocks noGrp="1"/>
          </p:cNvSpPr>
          <p:nvPr/>
        </p:nvSpPr>
        <p:spPr>
          <a:xfrm>
            <a:off x="457200" y="247650"/>
            <a:ext cx="10477500" cy="238125"/>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GBfoods  /  PLATFORM EXPERIENCE</a:t>
            </a:r>
          </a:p>
        </p:txBody>
      </p:sp>
      <p:sp>
        <p:nvSpPr>
          <p:cNvPr id="2" name="Rectangle 1">
            <a:extLst>
              <a:ext uri="{FF2B5EF4-FFF2-40B4-BE49-F238E27FC236}">
                <a16:creationId xmlns:a16="http://schemas.microsoft.com/office/drawing/2014/main" id="{7CB51B49-96D5-4D7A-91DD-660368680552}"/>
              </a:ext>
            </a:extLst>
          </p:cNvPr>
          <p:cNvSpPr>
            <a:spLocks noGrp="1"/>
          </p:cNvSpPr>
          <p:nvPr/>
        </p:nvSpPr>
        <p:spPr>
          <a:xfrm>
            <a:off x="457200" y="590550"/>
            <a:ext cx="11239500" cy="542925"/>
          </a:xfrm>
          <a:prstGeom prst="rect">
            <a:avLst/>
          </a:prstGeom>
          <a:noFill/>
          <a:ln w="0">
            <a:noFill/>
          </a:ln>
        </p:spPr>
        <p:txBody>
          <a:bodyPr lIns="0" tIns="0" rIns="0" bIns="0">
            <a:noAutofit/>
          </a:bodyPr>
          <a:lstStyle/>
          <a:p>
            <a:pPr>
              <a:defRPr sz="3000" b="1">
                <a:solidFill>
                  <a:srgbClr val="303030"/>
                </a:solidFill>
                <a:latin typeface="DejaVu Sans"/>
                <a:ea typeface="DejaVu Sans"/>
                <a:cs typeface="DejaVu Sans"/>
              </a:defRPr>
            </a:pPr>
            <a:r>
              <a:rPr sz="3000" b="1">
                <a:solidFill>
                  <a:srgbClr val="303030"/>
                </a:solidFill>
                <a:latin typeface="DejaVu Sans"/>
                <a:ea typeface="DejaVu Sans"/>
                <a:cs typeface="DejaVu Sans"/>
              </a:rPr>
              <a:t>Stock capture and photographic evidence</a:t>
            </a:r>
          </a:p>
        </p:txBody>
      </p:sp>
      <p:sp>
        <p:nvSpPr>
          <p:cNvPr id="3" name="Rectangle 2">
            <a:extLst>
              <a:ext uri="{FF2B5EF4-FFF2-40B4-BE49-F238E27FC236}">
                <a16:creationId xmlns:a16="http://schemas.microsoft.com/office/drawing/2014/main" id="{51653D7D-F876-48B0-9DE0-7F705DB78368}"/>
              </a:ext>
            </a:extLst>
          </p:cNvPr>
          <p:cNvSpPr>
            <a:spLocks noGrp="1"/>
          </p:cNvSpPr>
          <p:nvPr/>
        </p:nvSpPr>
        <p:spPr>
          <a:xfrm>
            <a:off x="457200" y="1143000"/>
            <a:ext cx="11239500" cy="266700"/>
          </a:xfrm>
          <a:prstGeom prst="rect">
            <a:avLst/>
          </a:prstGeom>
          <a:noFill/>
          <a:ln w="0">
            <a:noFill/>
          </a:ln>
        </p:spPr>
        <p:txBody>
          <a:bodyPr lIns="0" tIns="0" rIns="0" bIns="0">
            <a:noAutofit/>
          </a:bodyPr>
          <a:lstStyle/>
          <a:p>
            <a:pPr>
              <a:defRPr sz="1425" b="0">
                <a:solidFill>
                  <a:srgbClr val="5E5E5E"/>
                </a:solidFill>
                <a:latin typeface="DejaVu Sans"/>
                <a:ea typeface="DejaVu Sans"/>
                <a:cs typeface="DejaVu Sans"/>
              </a:defRPr>
            </a:pPr>
            <a:r>
              <a:rPr sz="1425" b="0">
                <a:solidFill>
                  <a:srgbClr val="5E5E5E"/>
                </a:solidFill>
                <a:latin typeface="DejaVu Sans"/>
                <a:ea typeface="DejaVu Sans"/>
                <a:cs typeface="DejaVu Sans"/>
              </a:rPr>
              <a:t>Guided entry links every count and photograph to its depot, SKU and batch.</a:t>
            </a:r>
          </a:p>
        </p:txBody>
      </p:sp>
      <p:sp>
        <p:nvSpPr>
          <p:cNvPr id="4" name="Rectangle 3">
            <a:extLst>
              <a:ext uri="{FF2B5EF4-FFF2-40B4-BE49-F238E27FC236}">
                <a16:creationId xmlns:a16="http://schemas.microsoft.com/office/drawing/2014/main" id="{279BA4ED-AACA-4B90-85D6-7448905E06DE}"/>
              </a:ext>
            </a:extLst>
          </p:cNvPr>
          <p:cNvSpPr>
            <a:spLocks noGrp="1"/>
          </p:cNvSpPr>
          <p:nvPr/>
        </p:nvSpPr>
        <p:spPr>
          <a:xfrm>
            <a:off x="457200" y="6457950"/>
            <a:ext cx="10572750" cy="219075"/>
          </a:xfrm>
          <a:prstGeom prst="rect">
            <a:avLst/>
          </a:prstGeom>
          <a:noFill/>
          <a:ln w="0">
            <a:noFill/>
          </a:ln>
        </p:spPr>
        <p:txBody>
          <a:bodyPr lIns="0" tIns="0" rIns="0" bIns="0">
            <a:noAutofit/>
          </a:bodyPr>
          <a:lstStyle/>
          <a:p>
            <a:pPr>
              <a:defRPr sz="975" b="0">
                <a:solidFill>
                  <a:srgbClr val="5E5E5E"/>
                </a:solidFill>
                <a:latin typeface="DejaVu Sans"/>
                <a:ea typeface="DejaVu Sans"/>
                <a:cs typeface="DejaVu Sans"/>
              </a:defRPr>
            </a:pPr>
            <a:r>
              <a:rPr sz="975" b="0">
                <a:solidFill>
                  <a:srgbClr val="5E5E5E"/>
                </a:solidFill>
                <a:latin typeface="DejaVu Sans"/>
                <a:ea typeface="DejaVu Sans"/>
                <a:cs typeface="DejaVu Sans"/>
              </a:rPr>
              <a:t>UI/UX concept. All names, locations and figures are illustrative.</a:t>
            </a:r>
          </a:p>
        </p:txBody>
      </p:sp>
      <p:sp>
        <p:nvSpPr>
          <p:cNvPr id="5" name="Rectangle 4">
            <a:extLst>
              <a:ext uri="{FF2B5EF4-FFF2-40B4-BE49-F238E27FC236}">
                <a16:creationId xmlns:a16="http://schemas.microsoft.com/office/drawing/2014/main" id="{435A872D-9DA6-43CA-BF93-79384703C7E1}"/>
              </a:ext>
            </a:extLst>
          </p:cNvPr>
          <p:cNvSpPr>
            <a:spLocks noGrp="1"/>
          </p:cNvSpPr>
          <p:nvPr/>
        </p:nvSpPr>
        <p:spPr>
          <a:xfrm>
            <a:off x="11334750" y="6419850"/>
            <a:ext cx="476250" cy="247650"/>
          </a:xfrm>
          <a:prstGeom prst="rect">
            <a:avLst/>
          </a:prstGeom>
          <a:noFill/>
          <a:ln w="0">
            <a:noFill/>
          </a:ln>
        </p:spPr>
        <p:txBody>
          <a:bodyPr lIns="0" tIns="0" rIns="0" bIns="0">
            <a:noAutofit/>
          </a:bodyPr>
          <a:lstStyle/>
          <a:p>
            <a:pPr>
              <a:defRPr sz="1200" b="0">
                <a:solidFill>
                  <a:srgbClr val="5E5E5E"/>
                </a:solidFill>
                <a:latin typeface="DejaVu Sans"/>
                <a:ea typeface="DejaVu Sans"/>
                <a:cs typeface="DejaVu Sans"/>
              </a:defRPr>
            </a:pPr>
            <a:r>
              <a:rPr sz="1200" b="0">
                <a:solidFill>
                  <a:srgbClr val="5E5E5E"/>
                </a:solidFill>
                <a:latin typeface="DejaVu Sans"/>
                <a:ea typeface="DejaVu Sans"/>
                <a:cs typeface="DejaVu Sans"/>
              </a:rPr>
              <a:t>27</a:t>
            </a:r>
          </a:p>
        </p:txBody>
      </p:sp>
      <p:sp>
        <p:nvSpPr>
          <p:cNvPr id="6" name="Rectangle 5">
            <a:extLst>
              <a:ext uri="{FF2B5EF4-FFF2-40B4-BE49-F238E27FC236}">
                <a16:creationId xmlns:a16="http://schemas.microsoft.com/office/drawing/2014/main" id="{A8C5875A-6D5E-4C2F-9220-DDF944B95DDC}"/>
              </a:ext>
            </a:extLst>
          </p:cNvPr>
          <p:cNvSpPr>
            <a:spLocks noGrp="1"/>
          </p:cNvSpPr>
          <p:nvPr/>
        </p:nvSpPr>
        <p:spPr>
          <a:xfrm>
            <a:off x="457200" y="1800225"/>
            <a:ext cx="457200" cy="381000"/>
          </a:xfrm>
          <a:prstGeom prst="rect">
            <a:avLst/>
          </a:prstGeom>
          <a:noFill/>
          <a:ln w="0">
            <a:noFill/>
          </a:ln>
        </p:spPr>
        <p:txBody>
          <a:bodyPr lIns="0" tIns="0" rIns="0" bIns="0">
            <a:noAutofit/>
          </a:bodyPr>
          <a:lstStyle/>
          <a:p>
            <a:pPr>
              <a:defRPr sz="2025" b="1">
                <a:solidFill>
                  <a:srgbClr val="FE5000"/>
                </a:solidFill>
                <a:latin typeface="DejaVu Sans"/>
                <a:ea typeface="DejaVu Sans"/>
                <a:cs typeface="DejaVu Sans"/>
              </a:defRPr>
            </a:pPr>
            <a:r>
              <a:rPr sz="2025" b="1">
                <a:solidFill>
                  <a:srgbClr val="FE5000"/>
                </a:solidFill>
                <a:latin typeface="DejaVu Sans"/>
                <a:ea typeface="DejaVu Sans"/>
                <a:cs typeface="DejaVu Sans"/>
              </a:rPr>
              <a:t>01</a:t>
            </a:r>
          </a:p>
        </p:txBody>
      </p:sp>
      <p:sp>
        <p:nvSpPr>
          <p:cNvPr id="7" name="Rectangle 6">
            <a:extLst>
              <a:ext uri="{FF2B5EF4-FFF2-40B4-BE49-F238E27FC236}">
                <a16:creationId xmlns:a16="http://schemas.microsoft.com/office/drawing/2014/main" id="{B4651CDE-F219-4A93-8DC7-3D8C9AB17C07}"/>
              </a:ext>
            </a:extLst>
          </p:cNvPr>
          <p:cNvSpPr>
            <a:spLocks noGrp="1"/>
          </p:cNvSpPr>
          <p:nvPr/>
        </p:nvSpPr>
        <p:spPr>
          <a:xfrm>
            <a:off x="952500" y="1819275"/>
            <a:ext cx="2524125" cy="361950"/>
          </a:xfrm>
          <a:prstGeom prst="rect">
            <a:avLst/>
          </a:prstGeom>
          <a:noFill/>
          <a:ln w="0">
            <a:noFill/>
          </a:ln>
        </p:spPr>
        <p:txBody>
          <a:bodyPr lIns="0" tIns="0" rIns="0" bIns="0">
            <a:noAutofit/>
          </a:bodyPr>
          <a:lstStyle/>
          <a:p>
            <a:pPr>
              <a:defRPr sz="1650" b="1">
                <a:solidFill>
                  <a:srgbClr val="303030"/>
                </a:solidFill>
                <a:latin typeface="DejaVu Sans"/>
                <a:ea typeface="DejaVu Sans"/>
                <a:cs typeface="DejaVu Sans"/>
              </a:defRPr>
            </a:pPr>
            <a:r>
              <a:rPr sz="1650" b="1">
                <a:solidFill>
                  <a:srgbClr val="303030"/>
                </a:solidFill>
                <a:latin typeface="DejaVu Sans"/>
                <a:ea typeface="DejaVu Sans"/>
                <a:cs typeface="DejaVu Sans"/>
              </a:rPr>
              <a:t>Identify the stock</a:t>
            </a:r>
          </a:p>
        </p:txBody>
      </p:sp>
      <p:sp>
        <p:nvSpPr>
          <p:cNvPr id="8" name="Rectangle 7">
            <a:extLst>
              <a:ext uri="{FF2B5EF4-FFF2-40B4-BE49-F238E27FC236}">
                <a16:creationId xmlns:a16="http://schemas.microsoft.com/office/drawing/2014/main" id="{B8E92E38-6F6F-41AB-B0D8-8913F4920C0A}"/>
              </a:ext>
            </a:extLst>
          </p:cNvPr>
          <p:cNvSpPr>
            <a:spLocks noGrp="1"/>
          </p:cNvSpPr>
          <p:nvPr/>
        </p:nvSpPr>
        <p:spPr>
          <a:xfrm>
            <a:off x="952500" y="2219325"/>
            <a:ext cx="2476500" cy="781050"/>
          </a:xfrm>
          <a:prstGeom prst="rect">
            <a:avLst/>
          </a:prstGeom>
          <a:noFill/>
          <a:ln w="0">
            <a:noFill/>
          </a:ln>
        </p:spPr>
        <p:txBody>
          <a:bodyPr lIns="0" tIns="0" rIns="0" bIns="0">
            <a:noAutofit/>
          </a:bodyPr>
          <a:lstStyle/>
          <a:p>
            <a:pPr>
              <a:defRPr sz="1350" b="0">
                <a:solidFill>
                  <a:srgbClr val="5E5E5E"/>
                </a:solidFill>
                <a:latin typeface="DejaVu Sans"/>
                <a:ea typeface="DejaVu Sans"/>
                <a:cs typeface="DejaVu Sans"/>
              </a:defRPr>
            </a:pPr>
            <a:r>
              <a:rPr sz="1350" b="0">
                <a:solidFill>
                  <a:srgbClr val="5E5E5E"/>
                </a:solidFill>
                <a:latin typeface="DejaVu Sans"/>
                <a:ea typeface="DejaVu Sans"/>
                <a:cs typeface="DejaVu Sans"/>
              </a:rPr>
              <a:t>Choose a SKU, batch and count unit. Required fields prevent incomplete submissions.</a:t>
            </a:r>
          </a:p>
        </p:txBody>
      </p:sp>
      <p:sp>
        <p:nvSpPr>
          <p:cNvPr id="9" name="Rectangle 8">
            <a:extLst>
              <a:ext uri="{FF2B5EF4-FFF2-40B4-BE49-F238E27FC236}">
                <a16:creationId xmlns:a16="http://schemas.microsoft.com/office/drawing/2014/main" id="{F75943E6-5F26-4E6B-8A1B-0F710BFF63C6}"/>
              </a:ext>
            </a:extLst>
          </p:cNvPr>
          <p:cNvSpPr>
            <a:spLocks noGrp="1"/>
          </p:cNvSpPr>
          <p:nvPr/>
        </p:nvSpPr>
        <p:spPr>
          <a:xfrm>
            <a:off x="457200" y="3152775"/>
            <a:ext cx="457200" cy="381000"/>
          </a:xfrm>
          <a:prstGeom prst="rect">
            <a:avLst/>
          </a:prstGeom>
          <a:noFill/>
          <a:ln w="0">
            <a:noFill/>
          </a:ln>
        </p:spPr>
        <p:txBody>
          <a:bodyPr lIns="0" tIns="0" rIns="0" bIns="0">
            <a:noAutofit/>
          </a:bodyPr>
          <a:lstStyle/>
          <a:p>
            <a:pPr>
              <a:defRPr sz="2025" b="1">
                <a:solidFill>
                  <a:srgbClr val="FE5000"/>
                </a:solidFill>
                <a:latin typeface="DejaVu Sans"/>
                <a:ea typeface="DejaVu Sans"/>
                <a:cs typeface="DejaVu Sans"/>
              </a:defRPr>
            </a:pPr>
            <a:r>
              <a:rPr sz="2025" b="1">
                <a:solidFill>
                  <a:srgbClr val="FE5000"/>
                </a:solidFill>
                <a:latin typeface="DejaVu Sans"/>
                <a:ea typeface="DejaVu Sans"/>
                <a:cs typeface="DejaVu Sans"/>
              </a:rPr>
              <a:t>02</a:t>
            </a:r>
          </a:p>
        </p:txBody>
      </p:sp>
      <p:sp>
        <p:nvSpPr>
          <p:cNvPr id="10" name="Rectangle 9">
            <a:extLst>
              <a:ext uri="{FF2B5EF4-FFF2-40B4-BE49-F238E27FC236}">
                <a16:creationId xmlns:a16="http://schemas.microsoft.com/office/drawing/2014/main" id="{40F494E1-2253-4521-BEFC-687B092FC0F6}"/>
              </a:ext>
            </a:extLst>
          </p:cNvPr>
          <p:cNvSpPr>
            <a:spLocks noGrp="1"/>
          </p:cNvSpPr>
          <p:nvPr/>
        </p:nvSpPr>
        <p:spPr>
          <a:xfrm>
            <a:off x="952500" y="3171825"/>
            <a:ext cx="2524125" cy="361950"/>
          </a:xfrm>
          <a:prstGeom prst="rect">
            <a:avLst/>
          </a:prstGeom>
          <a:noFill/>
          <a:ln w="0">
            <a:noFill/>
          </a:ln>
        </p:spPr>
        <p:txBody>
          <a:bodyPr lIns="0" tIns="0" rIns="0" bIns="0">
            <a:noAutofit/>
          </a:bodyPr>
          <a:lstStyle/>
          <a:p>
            <a:pPr>
              <a:defRPr sz="1650" b="1">
                <a:solidFill>
                  <a:srgbClr val="303030"/>
                </a:solidFill>
                <a:latin typeface="DejaVu Sans"/>
                <a:ea typeface="DejaVu Sans"/>
                <a:cs typeface="DejaVu Sans"/>
              </a:defRPr>
            </a:pPr>
            <a:r>
              <a:rPr sz="1650" b="1">
                <a:solidFill>
                  <a:srgbClr val="303030"/>
                </a:solidFill>
                <a:latin typeface="DejaVu Sans"/>
                <a:ea typeface="DejaVu Sans"/>
                <a:cs typeface="DejaVu Sans"/>
              </a:rPr>
              <a:t>Capture evidence</a:t>
            </a:r>
          </a:p>
        </p:txBody>
      </p:sp>
      <p:sp>
        <p:nvSpPr>
          <p:cNvPr id="11" name="Rectangle 10">
            <a:extLst>
              <a:ext uri="{FF2B5EF4-FFF2-40B4-BE49-F238E27FC236}">
                <a16:creationId xmlns:a16="http://schemas.microsoft.com/office/drawing/2014/main" id="{A153E905-F0C8-413F-96EE-575D3F4E22D7}"/>
              </a:ext>
            </a:extLst>
          </p:cNvPr>
          <p:cNvSpPr>
            <a:spLocks noGrp="1"/>
          </p:cNvSpPr>
          <p:nvPr/>
        </p:nvSpPr>
        <p:spPr>
          <a:xfrm>
            <a:off x="952500" y="3571875"/>
            <a:ext cx="2476500" cy="781050"/>
          </a:xfrm>
          <a:prstGeom prst="rect">
            <a:avLst/>
          </a:prstGeom>
          <a:noFill/>
          <a:ln w="0">
            <a:noFill/>
          </a:ln>
        </p:spPr>
        <p:txBody>
          <a:bodyPr lIns="0" tIns="0" rIns="0" bIns="0">
            <a:noAutofit/>
          </a:bodyPr>
          <a:lstStyle/>
          <a:p>
            <a:pPr>
              <a:defRPr sz="1350" b="0">
                <a:solidFill>
                  <a:srgbClr val="5E5E5E"/>
                </a:solidFill>
                <a:latin typeface="DejaVu Sans"/>
                <a:ea typeface="DejaVu Sans"/>
                <a:cs typeface="DejaVu Sans"/>
              </a:defRPr>
            </a:pPr>
            <a:r>
              <a:rPr sz="1350" b="0">
                <a:solidFill>
                  <a:srgbClr val="5E5E5E"/>
                </a:solidFill>
                <a:latin typeface="DejaVu Sans"/>
                <a:ea typeface="DejaVu Sans"/>
                <a:cs typeface="DejaVu Sans"/>
              </a:rPr>
              <a:t>Photograph the pack, batch and defect. Preview or retake each image.</a:t>
            </a:r>
          </a:p>
        </p:txBody>
      </p:sp>
      <p:sp>
        <p:nvSpPr>
          <p:cNvPr id="12" name="Rectangle 11">
            <a:extLst>
              <a:ext uri="{FF2B5EF4-FFF2-40B4-BE49-F238E27FC236}">
                <a16:creationId xmlns:a16="http://schemas.microsoft.com/office/drawing/2014/main" id="{32CA1025-EC52-46B1-A475-C09EB82CA5C6}"/>
              </a:ext>
            </a:extLst>
          </p:cNvPr>
          <p:cNvSpPr>
            <a:spLocks noGrp="1"/>
          </p:cNvSpPr>
          <p:nvPr/>
        </p:nvSpPr>
        <p:spPr>
          <a:xfrm>
            <a:off x="457200" y="4505325"/>
            <a:ext cx="457200" cy="381000"/>
          </a:xfrm>
          <a:prstGeom prst="rect">
            <a:avLst/>
          </a:prstGeom>
          <a:noFill/>
          <a:ln w="0">
            <a:noFill/>
          </a:ln>
        </p:spPr>
        <p:txBody>
          <a:bodyPr lIns="0" tIns="0" rIns="0" bIns="0">
            <a:noAutofit/>
          </a:bodyPr>
          <a:lstStyle/>
          <a:p>
            <a:pPr>
              <a:defRPr sz="2025" b="1">
                <a:solidFill>
                  <a:srgbClr val="FE5000"/>
                </a:solidFill>
                <a:latin typeface="DejaVu Sans"/>
                <a:ea typeface="DejaVu Sans"/>
                <a:cs typeface="DejaVu Sans"/>
              </a:defRPr>
            </a:pPr>
            <a:r>
              <a:rPr sz="2025" b="1">
                <a:solidFill>
                  <a:srgbClr val="FE5000"/>
                </a:solidFill>
                <a:latin typeface="DejaVu Sans"/>
                <a:ea typeface="DejaVu Sans"/>
                <a:cs typeface="DejaVu Sans"/>
              </a:rPr>
              <a:t>03</a:t>
            </a:r>
          </a:p>
        </p:txBody>
      </p:sp>
      <p:sp>
        <p:nvSpPr>
          <p:cNvPr id="13" name="Rectangle 12">
            <a:extLst>
              <a:ext uri="{FF2B5EF4-FFF2-40B4-BE49-F238E27FC236}">
                <a16:creationId xmlns:a16="http://schemas.microsoft.com/office/drawing/2014/main" id="{F537FF5A-B457-4BDF-AF2A-71BBBA430DEC}"/>
              </a:ext>
            </a:extLst>
          </p:cNvPr>
          <p:cNvSpPr>
            <a:spLocks noGrp="1"/>
          </p:cNvSpPr>
          <p:nvPr/>
        </p:nvSpPr>
        <p:spPr>
          <a:xfrm>
            <a:off x="952500" y="4524375"/>
            <a:ext cx="2524125" cy="361950"/>
          </a:xfrm>
          <a:prstGeom prst="rect">
            <a:avLst/>
          </a:prstGeom>
          <a:noFill/>
          <a:ln w="0">
            <a:noFill/>
          </a:ln>
        </p:spPr>
        <p:txBody>
          <a:bodyPr lIns="0" tIns="0" rIns="0" bIns="0">
            <a:noAutofit/>
          </a:bodyPr>
          <a:lstStyle/>
          <a:p>
            <a:pPr>
              <a:defRPr sz="1650" b="1">
                <a:solidFill>
                  <a:srgbClr val="303030"/>
                </a:solidFill>
                <a:latin typeface="DejaVu Sans"/>
                <a:ea typeface="DejaVu Sans"/>
                <a:cs typeface="DejaVu Sans"/>
              </a:defRPr>
            </a:pPr>
            <a:r>
              <a:rPr sz="1650" b="1">
                <a:solidFill>
                  <a:srgbClr val="303030"/>
                </a:solidFill>
                <a:latin typeface="DejaVu Sans"/>
                <a:ea typeface="DejaVu Sans"/>
                <a:cs typeface="DejaVu Sans"/>
              </a:rPr>
              <a:t>Save and review</a:t>
            </a:r>
          </a:p>
        </p:txBody>
      </p:sp>
      <p:sp>
        <p:nvSpPr>
          <p:cNvPr id="14" name="Rectangle 13">
            <a:extLst>
              <a:ext uri="{FF2B5EF4-FFF2-40B4-BE49-F238E27FC236}">
                <a16:creationId xmlns:a16="http://schemas.microsoft.com/office/drawing/2014/main" id="{5B9C34BB-79CC-4755-B87E-9912E09007E4}"/>
              </a:ext>
            </a:extLst>
          </p:cNvPr>
          <p:cNvSpPr>
            <a:spLocks noGrp="1"/>
          </p:cNvSpPr>
          <p:nvPr/>
        </p:nvSpPr>
        <p:spPr>
          <a:xfrm>
            <a:off x="952500" y="4924425"/>
            <a:ext cx="2476500" cy="781050"/>
          </a:xfrm>
          <a:prstGeom prst="rect">
            <a:avLst/>
          </a:prstGeom>
          <a:noFill/>
          <a:ln w="0">
            <a:noFill/>
          </a:ln>
        </p:spPr>
        <p:txBody>
          <a:bodyPr lIns="0" tIns="0" rIns="0" bIns="0">
            <a:noAutofit/>
          </a:bodyPr>
          <a:lstStyle/>
          <a:p>
            <a:pPr>
              <a:defRPr sz="1350" b="0">
                <a:solidFill>
                  <a:srgbClr val="5E5E5E"/>
                </a:solidFill>
                <a:latin typeface="DejaVu Sans"/>
                <a:ea typeface="DejaVu Sans"/>
                <a:cs typeface="DejaVu Sans"/>
              </a:defRPr>
            </a:pPr>
            <a:r>
              <a:rPr sz="1350" b="0">
                <a:solidFill>
                  <a:srgbClr val="5E5E5E"/>
                </a:solidFill>
                <a:latin typeface="DejaVu Sans"/>
                <a:ea typeface="DejaVu Sans"/>
                <a:cs typeface="DejaVu Sans"/>
              </a:rPr>
              <a:t>Save offline when needed. Submit synced records to the supervisor.</a:t>
            </a:r>
          </a:p>
        </p:txBody>
      </p:sp>
      <p:sp>
        <p:nvSpPr>
          <p:cNvPr id="15" name="Rectangle 14">
            <a:extLst>
              <a:ext uri="{FF2B5EF4-FFF2-40B4-BE49-F238E27FC236}">
                <a16:creationId xmlns:a16="http://schemas.microsoft.com/office/drawing/2014/main" id="{74585E5B-5235-4AC6-AE20-2E6C4C7B53A6}"/>
              </a:ext>
            </a:extLst>
          </p:cNvPr>
          <p:cNvSpPr>
            <a:spLocks noGrp="1"/>
          </p:cNvSpPr>
          <p:nvPr/>
        </p:nvSpPr>
        <p:spPr>
          <a:xfrm>
            <a:off x="4019550" y="1524000"/>
            <a:ext cx="2857500" cy="4533900"/>
          </a:xfrm>
          <a:prstGeom prst="rect">
            <a:avLst/>
          </a:prstGeom>
          <a:solidFill>
            <a:srgbClr val="303030"/>
          </a:solidFill>
          <a:ln w="0">
            <a:noFill/>
          </a:ln>
        </p:spPr>
        <p:txBody>
          <a:bodyPr/>
          <a:lstStyle/>
          <a:p>
            <a:endParaRPr lang="en-GH"/>
          </a:p>
        </p:txBody>
      </p:sp>
      <p:sp>
        <p:nvSpPr>
          <p:cNvPr id="16" name="Rectangle 15">
            <a:extLst>
              <a:ext uri="{FF2B5EF4-FFF2-40B4-BE49-F238E27FC236}">
                <a16:creationId xmlns:a16="http://schemas.microsoft.com/office/drawing/2014/main" id="{A6230586-7EDC-44BD-AF53-1952274DDCA1}"/>
              </a:ext>
            </a:extLst>
          </p:cNvPr>
          <p:cNvSpPr>
            <a:spLocks noGrp="1"/>
          </p:cNvSpPr>
          <p:nvPr/>
        </p:nvSpPr>
        <p:spPr>
          <a:xfrm>
            <a:off x="4086225" y="1590675"/>
            <a:ext cx="2724150" cy="4400550"/>
          </a:xfrm>
          <a:prstGeom prst="rect">
            <a:avLst/>
          </a:prstGeom>
          <a:solidFill>
            <a:srgbClr val="F5F5F5"/>
          </a:solidFill>
          <a:ln w="0">
            <a:noFill/>
          </a:ln>
        </p:spPr>
        <p:txBody>
          <a:bodyPr/>
          <a:lstStyle/>
          <a:p>
            <a:endParaRPr lang="en-GH"/>
          </a:p>
        </p:txBody>
      </p:sp>
      <p:sp>
        <p:nvSpPr>
          <p:cNvPr id="17" name="Rectangle 16">
            <a:extLst>
              <a:ext uri="{FF2B5EF4-FFF2-40B4-BE49-F238E27FC236}">
                <a16:creationId xmlns:a16="http://schemas.microsoft.com/office/drawing/2014/main" id="{5A99000A-F7CC-4B02-BE44-8050C93FF5C4}"/>
              </a:ext>
            </a:extLst>
          </p:cNvPr>
          <p:cNvSpPr>
            <a:spLocks noGrp="1"/>
          </p:cNvSpPr>
          <p:nvPr/>
        </p:nvSpPr>
        <p:spPr>
          <a:xfrm>
            <a:off x="4086225" y="1590675"/>
            <a:ext cx="2724150" cy="371475"/>
          </a:xfrm>
          <a:prstGeom prst="rect">
            <a:avLst/>
          </a:prstGeom>
          <a:solidFill>
            <a:srgbClr val="FE5000"/>
          </a:solidFill>
          <a:ln w="0">
            <a:noFill/>
          </a:ln>
        </p:spPr>
        <p:txBody>
          <a:bodyPr/>
          <a:lstStyle/>
          <a:p>
            <a:endParaRPr lang="en-GH"/>
          </a:p>
        </p:txBody>
      </p:sp>
      <p:sp>
        <p:nvSpPr>
          <p:cNvPr id="18" name="Rectangle 17">
            <a:extLst>
              <a:ext uri="{FF2B5EF4-FFF2-40B4-BE49-F238E27FC236}">
                <a16:creationId xmlns:a16="http://schemas.microsoft.com/office/drawing/2014/main" id="{28DCE411-0D8F-4CD0-A68D-3D6E5409017F}"/>
              </a:ext>
            </a:extLst>
          </p:cNvPr>
          <p:cNvSpPr>
            <a:spLocks noGrp="1"/>
          </p:cNvSpPr>
          <p:nvPr/>
        </p:nvSpPr>
        <p:spPr>
          <a:xfrm>
            <a:off x="4219575" y="1704975"/>
            <a:ext cx="1847850" cy="209550"/>
          </a:xfrm>
          <a:prstGeom prst="rect">
            <a:avLst/>
          </a:prstGeom>
          <a:noFill/>
          <a:ln w="0">
            <a:noFill/>
          </a:ln>
        </p:spPr>
        <p:txBody>
          <a:bodyPr lIns="0" tIns="0" rIns="0" bIns="0">
            <a:noAutofit/>
          </a:bodyPr>
          <a:lstStyle/>
          <a:p>
            <a:pP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STOCKCONTROL</a:t>
            </a:r>
          </a:p>
        </p:txBody>
      </p:sp>
      <p:sp>
        <p:nvSpPr>
          <p:cNvPr id="19" name="Rectangle 18">
            <a:extLst>
              <a:ext uri="{FF2B5EF4-FFF2-40B4-BE49-F238E27FC236}">
                <a16:creationId xmlns:a16="http://schemas.microsoft.com/office/drawing/2014/main" id="{7F75B5EC-5626-4A93-BB5A-83A2C5D5AE2D}"/>
              </a:ext>
            </a:extLst>
          </p:cNvPr>
          <p:cNvSpPr>
            <a:spLocks noGrp="1"/>
          </p:cNvSpPr>
          <p:nvPr/>
        </p:nvSpPr>
        <p:spPr>
          <a:xfrm>
            <a:off x="6286500" y="1714500"/>
            <a:ext cx="438150" cy="171450"/>
          </a:xfrm>
          <a:prstGeom prst="rect">
            <a:avLst/>
          </a:prstGeom>
          <a:noFill/>
          <a:ln w="0">
            <a:noFill/>
          </a:ln>
        </p:spPr>
        <p:txBody>
          <a:bodyPr lIns="0" tIns="0" rIns="0" bIns="0">
            <a:noAutofit/>
          </a:bodyPr>
          <a:lstStyle/>
          <a:p>
            <a:pPr>
              <a:defRPr sz="900" b="0">
                <a:solidFill>
                  <a:srgbClr val="FFFFFF"/>
                </a:solidFill>
                <a:latin typeface="DejaVu Sans"/>
                <a:ea typeface="DejaVu Sans"/>
                <a:cs typeface="DejaVu Sans"/>
              </a:defRPr>
            </a:pPr>
            <a:r>
              <a:rPr sz="900" b="0">
                <a:solidFill>
                  <a:srgbClr val="FFFFFF"/>
                </a:solidFill>
                <a:latin typeface="DejaVu Sans"/>
                <a:ea typeface="DejaVu Sans"/>
                <a:cs typeface="DejaVu Sans"/>
              </a:rPr>
              <a:t>08:10</a:t>
            </a:r>
          </a:p>
        </p:txBody>
      </p:sp>
      <p:sp>
        <p:nvSpPr>
          <p:cNvPr id="20" name="Rectangle 19">
            <a:extLst>
              <a:ext uri="{FF2B5EF4-FFF2-40B4-BE49-F238E27FC236}">
                <a16:creationId xmlns:a16="http://schemas.microsoft.com/office/drawing/2014/main" id="{6E422981-183B-4848-8D14-2FB8BDE34F06}"/>
              </a:ext>
            </a:extLst>
          </p:cNvPr>
          <p:cNvSpPr>
            <a:spLocks noGrp="1"/>
          </p:cNvSpPr>
          <p:nvPr/>
        </p:nvSpPr>
        <p:spPr>
          <a:xfrm>
            <a:off x="4238625" y="2152650"/>
            <a:ext cx="2409825" cy="361950"/>
          </a:xfrm>
          <a:prstGeom prst="rect">
            <a:avLst/>
          </a:prstGeom>
          <a:noFill/>
          <a:ln w="0">
            <a:noFill/>
          </a:ln>
        </p:spPr>
        <p:txBody>
          <a:bodyPr lIns="0" tIns="0" rIns="0" bIns="0">
            <a:noAutofit/>
          </a:bodyPr>
          <a:lstStyle/>
          <a:p>
            <a:pPr>
              <a:defRPr sz="1800" b="1">
                <a:solidFill>
                  <a:srgbClr val="303030"/>
                </a:solidFill>
                <a:latin typeface="DejaVu Sans"/>
                <a:ea typeface="DejaVu Sans"/>
                <a:cs typeface="DejaVu Sans"/>
              </a:defRPr>
            </a:pPr>
            <a:r>
              <a:rPr sz="1800" b="1">
                <a:solidFill>
                  <a:srgbClr val="303030"/>
                </a:solidFill>
                <a:latin typeface="DejaVu Sans"/>
                <a:ea typeface="DejaVu Sans"/>
                <a:cs typeface="DejaVu Sans"/>
              </a:rPr>
              <a:t>New stock record</a:t>
            </a:r>
          </a:p>
        </p:txBody>
      </p:sp>
      <p:sp>
        <p:nvSpPr>
          <p:cNvPr id="21" name="Rectangle 20">
            <a:extLst>
              <a:ext uri="{FF2B5EF4-FFF2-40B4-BE49-F238E27FC236}">
                <a16:creationId xmlns:a16="http://schemas.microsoft.com/office/drawing/2014/main" id="{2582D011-E414-48F0-A8E6-EF04737B2FE2}"/>
              </a:ext>
            </a:extLst>
          </p:cNvPr>
          <p:cNvSpPr>
            <a:spLocks noGrp="1"/>
          </p:cNvSpPr>
          <p:nvPr/>
        </p:nvSpPr>
        <p:spPr>
          <a:xfrm>
            <a:off x="4238625" y="2543175"/>
            <a:ext cx="2390775" cy="247650"/>
          </a:xfrm>
          <a:prstGeom prst="rect">
            <a:avLst/>
          </a:prstGeom>
          <a:noFill/>
          <a:ln w="0">
            <a:noFill/>
          </a:ln>
        </p:spPr>
        <p:txBody>
          <a:bodyPr lIns="0" tIns="0" rIns="0" bIns="0">
            <a:noAutofit/>
          </a:bodyPr>
          <a:lstStyle/>
          <a:p>
            <a:pPr>
              <a:defRPr sz="975" b="0">
                <a:solidFill>
                  <a:srgbClr val="5E5E5E"/>
                </a:solidFill>
                <a:latin typeface="DejaVu Sans"/>
                <a:ea typeface="DejaVu Sans"/>
                <a:cs typeface="DejaVu Sans"/>
              </a:defRPr>
            </a:pPr>
            <a:r>
              <a:rPr sz="975" b="0">
                <a:solidFill>
                  <a:srgbClr val="5E5E5E"/>
                </a:solidFill>
                <a:latin typeface="DejaVu Sans"/>
                <a:ea typeface="DejaVu Sans"/>
                <a:cs typeface="DejaVu Sans"/>
              </a:rPr>
              <a:t>Step 1 of 2   /   Stock details</a:t>
            </a:r>
          </a:p>
        </p:txBody>
      </p:sp>
      <p:sp>
        <p:nvSpPr>
          <p:cNvPr id="22" name="Rectangle 21">
            <a:extLst>
              <a:ext uri="{FF2B5EF4-FFF2-40B4-BE49-F238E27FC236}">
                <a16:creationId xmlns:a16="http://schemas.microsoft.com/office/drawing/2014/main" id="{0C7A462B-49E2-4C42-B931-FC0B2AB3D03E}"/>
              </a:ext>
            </a:extLst>
          </p:cNvPr>
          <p:cNvSpPr>
            <a:spLocks noGrp="1"/>
          </p:cNvSpPr>
          <p:nvPr/>
        </p:nvSpPr>
        <p:spPr>
          <a:xfrm>
            <a:off x="4238625" y="2876550"/>
            <a:ext cx="2419350" cy="190500"/>
          </a:xfrm>
          <a:prstGeom prst="rect">
            <a:avLst/>
          </a:prstGeom>
          <a:noFill/>
          <a:ln w="0">
            <a:noFill/>
          </a:ln>
        </p:spPr>
        <p:txBody>
          <a:bodyPr lIns="0" tIns="0" rIns="0" bIns="0">
            <a:noAutofit/>
          </a:bodyPr>
          <a:lstStyle/>
          <a:p>
            <a:pPr>
              <a:defRPr sz="975" b="1">
                <a:solidFill>
                  <a:srgbClr val="5E5E5E"/>
                </a:solidFill>
                <a:latin typeface="DejaVu Sans"/>
                <a:ea typeface="DejaVu Sans"/>
                <a:cs typeface="DejaVu Sans"/>
              </a:defRPr>
            </a:pPr>
            <a:r>
              <a:rPr sz="975" b="1">
                <a:solidFill>
                  <a:srgbClr val="5E5E5E"/>
                </a:solidFill>
                <a:latin typeface="DejaVu Sans"/>
                <a:ea typeface="DejaVu Sans"/>
                <a:cs typeface="DejaVu Sans"/>
              </a:rPr>
              <a:t>PRODUCT</a:t>
            </a:r>
          </a:p>
        </p:txBody>
      </p:sp>
      <p:sp>
        <p:nvSpPr>
          <p:cNvPr id="23" name="Rectangle 22">
            <a:extLst>
              <a:ext uri="{FF2B5EF4-FFF2-40B4-BE49-F238E27FC236}">
                <a16:creationId xmlns:a16="http://schemas.microsoft.com/office/drawing/2014/main" id="{5550D6B7-FFE7-45C8-80E4-74550C67B9A0}"/>
              </a:ext>
            </a:extLst>
          </p:cNvPr>
          <p:cNvSpPr>
            <a:spLocks noGrp="1"/>
          </p:cNvSpPr>
          <p:nvPr/>
        </p:nvSpPr>
        <p:spPr>
          <a:xfrm>
            <a:off x="4238625" y="3095625"/>
            <a:ext cx="2419350" cy="352425"/>
          </a:xfrm>
          <a:prstGeom prst="rect">
            <a:avLst/>
          </a:prstGeom>
          <a:solidFill>
            <a:srgbClr val="FFFFFF"/>
          </a:solidFill>
          <a:ln w="9525">
            <a:solidFill>
              <a:srgbClr val="E0E0E0"/>
            </a:solidFill>
          </a:ln>
        </p:spPr>
        <p:txBody>
          <a:bodyPr/>
          <a:lstStyle/>
          <a:p>
            <a:endParaRPr lang="en-GH"/>
          </a:p>
        </p:txBody>
      </p:sp>
      <p:sp>
        <p:nvSpPr>
          <p:cNvPr id="24" name="Rectangle 23">
            <a:extLst>
              <a:ext uri="{FF2B5EF4-FFF2-40B4-BE49-F238E27FC236}">
                <a16:creationId xmlns:a16="http://schemas.microsoft.com/office/drawing/2014/main" id="{056B459A-2C18-4692-BB61-6718F016E01F}"/>
              </a:ext>
            </a:extLst>
          </p:cNvPr>
          <p:cNvSpPr>
            <a:spLocks noGrp="1"/>
          </p:cNvSpPr>
          <p:nvPr/>
        </p:nvSpPr>
        <p:spPr>
          <a:xfrm>
            <a:off x="4333875" y="3181350"/>
            <a:ext cx="2228850" cy="228600"/>
          </a:xfrm>
          <a:prstGeom prst="rect">
            <a:avLst/>
          </a:prstGeom>
          <a:noFill/>
          <a:ln w="0">
            <a:noFill/>
          </a:ln>
        </p:spPr>
        <p:txBody>
          <a:bodyPr lIns="0" tIns="0" rIns="0" bIns="0">
            <a:noAutofit/>
          </a:bodyPr>
          <a:lstStyle/>
          <a:p>
            <a:pPr>
              <a:defRPr sz="1200" b="0">
                <a:solidFill>
                  <a:srgbClr val="303030"/>
                </a:solidFill>
                <a:latin typeface="DejaVu Sans"/>
                <a:ea typeface="DejaVu Sans"/>
                <a:cs typeface="DejaVu Sans"/>
              </a:defRPr>
            </a:pPr>
            <a:r>
              <a:rPr sz="1200" b="0">
                <a:solidFill>
                  <a:srgbClr val="303030"/>
                </a:solidFill>
                <a:latin typeface="DejaVu Sans"/>
                <a:ea typeface="DejaVu Sans"/>
                <a:cs typeface="DejaVu Sans"/>
              </a:rPr>
              <a:t>Gino Tomato Mix</a:t>
            </a:r>
          </a:p>
        </p:txBody>
      </p:sp>
      <p:sp>
        <p:nvSpPr>
          <p:cNvPr id="25" name="Rectangle 24">
            <a:extLst>
              <a:ext uri="{FF2B5EF4-FFF2-40B4-BE49-F238E27FC236}">
                <a16:creationId xmlns:a16="http://schemas.microsoft.com/office/drawing/2014/main" id="{3DDC707B-AFC8-4A8E-AF2A-E36CE8F5012E}"/>
              </a:ext>
            </a:extLst>
          </p:cNvPr>
          <p:cNvSpPr>
            <a:spLocks noGrp="1"/>
          </p:cNvSpPr>
          <p:nvPr/>
        </p:nvSpPr>
        <p:spPr>
          <a:xfrm>
            <a:off x="4238625" y="3562350"/>
            <a:ext cx="2419350" cy="190500"/>
          </a:xfrm>
          <a:prstGeom prst="rect">
            <a:avLst/>
          </a:prstGeom>
          <a:noFill/>
          <a:ln w="0">
            <a:noFill/>
          </a:ln>
        </p:spPr>
        <p:txBody>
          <a:bodyPr lIns="0" tIns="0" rIns="0" bIns="0">
            <a:noAutofit/>
          </a:bodyPr>
          <a:lstStyle/>
          <a:p>
            <a:pPr>
              <a:defRPr sz="975" b="1">
                <a:solidFill>
                  <a:srgbClr val="5E5E5E"/>
                </a:solidFill>
                <a:latin typeface="DejaVu Sans"/>
                <a:ea typeface="DejaVu Sans"/>
                <a:cs typeface="DejaVu Sans"/>
              </a:defRPr>
            </a:pPr>
            <a:r>
              <a:rPr sz="975" b="1">
                <a:solidFill>
                  <a:srgbClr val="5E5E5E"/>
                </a:solidFill>
                <a:latin typeface="DejaVu Sans"/>
                <a:ea typeface="DejaVu Sans"/>
                <a:cs typeface="DejaVu Sans"/>
              </a:rPr>
              <a:t>BATCH</a:t>
            </a:r>
          </a:p>
        </p:txBody>
      </p:sp>
      <p:sp>
        <p:nvSpPr>
          <p:cNvPr id="26" name="Rectangle 25">
            <a:extLst>
              <a:ext uri="{FF2B5EF4-FFF2-40B4-BE49-F238E27FC236}">
                <a16:creationId xmlns:a16="http://schemas.microsoft.com/office/drawing/2014/main" id="{B3315CAE-E682-4CBF-ADFF-E7E5306B0472}"/>
              </a:ext>
            </a:extLst>
          </p:cNvPr>
          <p:cNvSpPr>
            <a:spLocks noGrp="1"/>
          </p:cNvSpPr>
          <p:nvPr/>
        </p:nvSpPr>
        <p:spPr>
          <a:xfrm>
            <a:off x="4238625" y="3781425"/>
            <a:ext cx="2419350" cy="352425"/>
          </a:xfrm>
          <a:prstGeom prst="rect">
            <a:avLst/>
          </a:prstGeom>
          <a:solidFill>
            <a:srgbClr val="FFFFFF"/>
          </a:solidFill>
          <a:ln w="9525">
            <a:solidFill>
              <a:srgbClr val="E0E0E0"/>
            </a:solidFill>
          </a:ln>
        </p:spPr>
        <p:txBody>
          <a:bodyPr/>
          <a:lstStyle/>
          <a:p>
            <a:endParaRPr lang="en-GH"/>
          </a:p>
        </p:txBody>
      </p:sp>
      <p:sp>
        <p:nvSpPr>
          <p:cNvPr id="27" name="Rectangle 26">
            <a:extLst>
              <a:ext uri="{FF2B5EF4-FFF2-40B4-BE49-F238E27FC236}">
                <a16:creationId xmlns:a16="http://schemas.microsoft.com/office/drawing/2014/main" id="{083ABBEB-49BA-45DA-9AEE-CDC4FD4EB267}"/>
              </a:ext>
            </a:extLst>
          </p:cNvPr>
          <p:cNvSpPr>
            <a:spLocks noGrp="1"/>
          </p:cNvSpPr>
          <p:nvPr/>
        </p:nvSpPr>
        <p:spPr>
          <a:xfrm>
            <a:off x="4333875" y="3867150"/>
            <a:ext cx="2228850" cy="228600"/>
          </a:xfrm>
          <a:prstGeom prst="rect">
            <a:avLst/>
          </a:prstGeom>
          <a:noFill/>
          <a:ln w="0">
            <a:noFill/>
          </a:ln>
        </p:spPr>
        <p:txBody>
          <a:bodyPr lIns="0" tIns="0" rIns="0" bIns="0">
            <a:noAutofit/>
          </a:bodyPr>
          <a:lstStyle/>
          <a:p>
            <a:pPr>
              <a:defRPr sz="1200" b="0">
                <a:solidFill>
                  <a:srgbClr val="303030"/>
                </a:solidFill>
                <a:latin typeface="DejaVu Sans"/>
                <a:ea typeface="DejaVu Sans"/>
                <a:cs typeface="DejaVu Sans"/>
              </a:defRPr>
            </a:pPr>
            <a:r>
              <a:rPr sz="1200" b="0">
                <a:solidFill>
                  <a:srgbClr val="303030"/>
                </a:solidFill>
                <a:latin typeface="DejaVu Sans"/>
                <a:ea typeface="DejaVu Sans"/>
                <a:cs typeface="DejaVu Sans"/>
              </a:rPr>
              <a:t>Enter batch code</a:t>
            </a:r>
          </a:p>
        </p:txBody>
      </p:sp>
      <p:sp>
        <p:nvSpPr>
          <p:cNvPr id="28" name="Rectangle 27">
            <a:extLst>
              <a:ext uri="{FF2B5EF4-FFF2-40B4-BE49-F238E27FC236}">
                <a16:creationId xmlns:a16="http://schemas.microsoft.com/office/drawing/2014/main" id="{B8B3D74A-C739-47E2-A666-7DAC2AE34B29}"/>
              </a:ext>
            </a:extLst>
          </p:cNvPr>
          <p:cNvSpPr>
            <a:spLocks noGrp="1"/>
          </p:cNvSpPr>
          <p:nvPr/>
        </p:nvSpPr>
        <p:spPr>
          <a:xfrm>
            <a:off x="4238625" y="4248150"/>
            <a:ext cx="1104900" cy="190500"/>
          </a:xfrm>
          <a:prstGeom prst="rect">
            <a:avLst/>
          </a:prstGeom>
          <a:noFill/>
          <a:ln w="0">
            <a:noFill/>
          </a:ln>
        </p:spPr>
        <p:txBody>
          <a:bodyPr lIns="0" tIns="0" rIns="0" bIns="0">
            <a:noAutofit/>
          </a:bodyPr>
          <a:lstStyle/>
          <a:p>
            <a:pPr>
              <a:defRPr sz="975" b="1">
                <a:solidFill>
                  <a:srgbClr val="5E5E5E"/>
                </a:solidFill>
                <a:latin typeface="DejaVu Sans"/>
                <a:ea typeface="DejaVu Sans"/>
                <a:cs typeface="DejaVu Sans"/>
              </a:defRPr>
            </a:pPr>
            <a:r>
              <a:rPr sz="975" b="1">
                <a:solidFill>
                  <a:srgbClr val="5E5E5E"/>
                </a:solidFill>
                <a:latin typeface="DejaVu Sans"/>
                <a:ea typeface="DejaVu Sans"/>
                <a:cs typeface="DejaVu Sans"/>
              </a:rPr>
              <a:t>QUANTITY</a:t>
            </a:r>
          </a:p>
        </p:txBody>
      </p:sp>
      <p:sp>
        <p:nvSpPr>
          <p:cNvPr id="29" name="Rectangle 28">
            <a:extLst>
              <a:ext uri="{FF2B5EF4-FFF2-40B4-BE49-F238E27FC236}">
                <a16:creationId xmlns:a16="http://schemas.microsoft.com/office/drawing/2014/main" id="{E2CCC554-D430-45C8-A271-E4392F905FB7}"/>
              </a:ext>
            </a:extLst>
          </p:cNvPr>
          <p:cNvSpPr>
            <a:spLocks noGrp="1"/>
          </p:cNvSpPr>
          <p:nvPr/>
        </p:nvSpPr>
        <p:spPr>
          <a:xfrm>
            <a:off x="4238625" y="4467225"/>
            <a:ext cx="1104900" cy="352425"/>
          </a:xfrm>
          <a:prstGeom prst="rect">
            <a:avLst/>
          </a:prstGeom>
          <a:solidFill>
            <a:srgbClr val="FFFFFF"/>
          </a:solidFill>
          <a:ln w="9525">
            <a:solidFill>
              <a:srgbClr val="E0E0E0"/>
            </a:solidFill>
          </a:ln>
        </p:spPr>
        <p:txBody>
          <a:bodyPr/>
          <a:lstStyle/>
          <a:p>
            <a:endParaRPr lang="en-GH"/>
          </a:p>
        </p:txBody>
      </p:sp>
      <p:sp>
        <p:nvSpPr>
          <p:cNvPr id="30" name="Rectangle 29">
            <a:extLst>
              <a:ext uri="{FF2B5EF4-FFF2-40B4-BE49-F238E27FC236}">
                <a16:creationId xmlns:a16="http://schemas.microsoft.com/office/drawing/2014/main" id="{EFA1688F-AF06-4783-A48D-D61B3BA8948B}"/>
              </a:ext>
            </a:extLst>
          </p:cNvPr>
          <p:cNvSpPr>
            <a:spLocks noGrp="1"/>
          </p:cNvSpPr>
          <p:nvPr/>
        </p:nvSpPr>
        <p:spPr>
          <a:xfrm>
            <a:off x="4333875" y="4552950"/>
            <a:ext cx="914400" cy="228600"/>
          </a:xfrm>
          <a:prstGeom prst="rect">
            <a:avLst/>
          </a:prstGeom>
          <a:noFill/>
          <a:ln w="0">
            <a:noFill/>
          </a:ln>
        </p:spPr>
        <p:txBody>
          <a:bodyPr lIns="0" tIns="0" rIns="0" bIns="0">
            <a:noAutofit/>
          </a:bodyPr>
          <a:lstStyle/>
          <a:p>
            <a:pPr>
              <a:defRPr sz="1200" b="0">
                <a:solidFill>
                  <a:srgbClr val="303030"/>
                </a:solidFill>
                <a:latin typeface="DejaVu Sans"/>
                <a:ea typeface="DejaVu Sans"/>
                <a:cs typeface="DejaVu Sans"/>
              </a:defRPr>
            </a:pPr>
            <a:r>
              <a:rPr sz="1200" b="0">
                <a:solidFill>
                  <a:srgbClr val="303030"/>
                </a:solidFill>
                <a:latin typeface="DejaVu Sans"/>
                <a:ea typeface="DejaVu Sans"/>
                <a:cs typeface="DejaVu Sans"/>
              </a:rPr>
              <a:t>24</a:t>
            </a:r>
          </a:p>
        </p:txBody>
      </p:sp>
      <p:sp>
        <p:nvSpPr>
          <p:cNvPr id="31" name="Rectangle 30">
            <a:extLst>
              <a:ext uri="{FF2B5EF4-FFF2-40B4-BE49-F238E27FC236}">
                <a16:creationId xmlns:a16="http://schemas.microsoft.com/office/drawing/2014/main" id="{77233BCF-DD20-490D-B0BB-63D60F5C39FC}"/>
              </a:ext>
            </a:extLst>
          </p:cNvPr>
          <p:cNvSpPr>
            <a:spLocks noGrp="1"/>
          </p:cNvSpPr>
          <p:nvPr/>
        </p:nvSpPr>
        <p:spPr>
          <a:xfrm>
            <a:off x="5495925" y="4248150"/>
            <a:ext cx="1162050" cy="190500"/>
          </a:xfrm>
          <a:prstGeom prst="rect">
            <a:avLst/>
          </a:prstGeom>
          <a:noFill/>
          <a:ln w="0">
            <a:noFill/>
          </a:ln>
        </p:spPr>
        <p:txBody>
          <a:bodyPr lIns="0" tIns="0" rIns="0" bIns="0">
            <a:noAutofit/>
          </a:bodyPr>
          <a:lstStyle/>
          <a:p>
            <a:pPr>
              <a:defRPr sz="975" b="1">
                <a:solidFill>
                  <a:srgbClr val="5E5E5E"/>
                </a:solidFill>
                <a:latin typeface="DejaVu Sans"/>
                <a:ea typeface="DejaVu Sans"/>
                <a:cs typeface="DejaVu Sans"/>
              </a:defRPr>
            </a:pPr>
            <a:r>
              <a:rPr sz="975" b="1">
                <a:solidFill>
                  <a:srgbClr val="5E5E5E"/>
                </a:solidFill>
                <a:latin typeface="DejaVu Sans"/>
                <a:ea typeface="DejaVu Sans"/>
                <a:cs typeface="DejaVu Sans"/>
              </a:rPr>
              <a:t>UNIT</a:t>
            </a:r>
          </a:p>
        </p:txBody>
      </p:sp>
      <p:sp>
        <p:nvSpPr>
          <p:cNvPr id="32" name="Rectangle 31">
            <a:extLst>
              <a:ext uri="{FF2B5EF4-FFF2-40B4-BE49-F238E27FC236}">
                <a16:creationId xmlns:a16="http://schemas.microsoft.com/office/drawing/2014/main" id="{EC912765-220D-4D2A-AD9B-5E739DF95248}"/>
              </a:ext>
            </a:extLst>
          </p:cNvPr>
          <p:cNvSpPr>
            <a:spLocks noGrp="1"/>
          </p:cNvSpPr>
          <p:nvPr/>
        </p:nvSpPr>
        <p:spPr>
          <a:xfrm>
            <a:off x="5495925" y="4467225"/>
            <a:ext cx="1162050" cy="352425"/>
          </a:xfrm>
          <a:prstGeom prst="rect">
            <a:avLst/>
          </a:prstGeom>
          <a:solidFill>
            <a:srgbClr val="FFFFFF"/>
          </a:solidFill>
          <a:ln w="9525">
            <a:solidFill>
              <a:srgbClr val="E0E0E0"/>
            </a:solidFill>
          </a:ln>
        </p:spPr>
        <p:txBody>
          <a:bodyPr/>
          <a:lstStyle/>
          <a:p>
            <a:endParaRPr lang="en-GH"/>
          </a:p>
        </p:txBody>
      </p:sp>
      <p:sp>
        <p:nvSpPr>
          <p:cNvPr id="33" name="Rectangle 32">
            <a:extLst>
              <a:ext uri="{FF2B5EF4-FFF2-40B4-BE49-F238E27FC236}">
                <a16:creationId xmlns:a16="http://schemas.microsoft.com/office/drawing/2014/main" id="{8CA370D6-0A3A-42DE-9A69-C1D80695E2A9}"/>
              </a:ext>
            </a:extLst>
          </p:cNvPr>
          <p:cNvSpPr>
            <a:spLocks noGrp="1"/>
          </p:cNvSpPr>
          <p:nvPr/>
        </p:nvSpPr>
        <p:spPr>
          <a:xfrm>
            <a:off x="5591175" y="4552950"/>
            <a:ext cx="971550" cy="228600"/>
          </a:xfrm>
          <a:prstGeom prst="rect">
            <a:avLst/>
          </a:prstGeom>
          <a:noFill/>
          <a:ln w="0">
            <a:noFill/>
          </a:ln>
        </p:spPr>
        <p:txBody>
          <a:bodyPr lIns="0" tIns="0" rIns="0" bIns="0">
            <a:noAutofit/>
          </a:bodyPr>
          <a:lstStyle/>
          <a:p>
            <a:pPr>
              <a:defRPr sz="1200" b="0">
                <a:solidFill>
                  <a:srgbClr val="303030"/>
                </a:solidFill>
                <a:latin typeface="DejaVu Sans"/>
                <a:ea typeface="DejaVu Sans"/>
                <a:cs typeface="DejaVu Sans"/>
              </a:defRPr>
            </a:pPr>
            <a:r>
              <a:rPr sz="1200" b="0">
                <a:solidFill>
                  <a:srgbClr val="303030"/>
                </a:solidFill>
                <a:latin typeface="DejaVu Sans"/>
                <a:ea typeface="DejaVu Sans"/>
                <a:cs typeface="DejaVu Sans"/>
              </a:rPr>
              <a:t>Cases</a:t>
            </a:r>
          </a:p>
        </p:txBody>
      </p:sp>
      <p:sp>
        <p:nvSpPr>
          <p:cNvPr id="34" name="Rectangle 33">
            <a:extLst>
              <a:ext uri="{FF2B5EF4-FFF2-40B4-BE49-F238E27FC236}">
                <a16:creationId xmlns:a16="http://schemas.microsoft.com/office/drawing/2014/main" id="{75AE4454-7C94-4027-A3BE-2ADB54D0AC37}"/>
              </a:ext>
            </a:extLst>
          </p:cNvPr>
          <p:cNvSpPr>
            <a:spLocks noGrp="1"/>
          </p:cNvSpPr>
          <p:nvPr/>
        </p:nvSpPr>
        <p:spPr>
          <a:xfrm>
            <a:off x="4238625" y="4953000"/>
            <a:ext cx="2419350" cy="247650"/>
          </a:xfrm>
          <a:prstGeom prst="rect">
            <a:avLst/>
          </a:prstGeom>
          <a:solidFill>
            <a:srgbClr val="FFF4DF"/>
          </a:solidFill>
          <a:ln w="0">
            <a:noFill/>
          </a:ln>
        </p:spPr>
        <p:txBody>
          <a:bodyPr/>
          <a:lstStyle/>
          <a:p>
            <a:endParaRPr lang="en-GH"/>
          </a:p>
        </p:txBody>
      </p:sp>
      <p:sp>
        <p:nvSpPr>
          <p:cNvPr id="35" name="Rectangle 34">
            <a:extLst>
              <a:ext uri="{FF2B5EF4-FFF2-40B4-BE49-F238E27FC236}">
                <a16:creationId xmlns:a16="http://schemas.microsoft.com/office/drawing/2014/main" id="{CBEBC0FF-69D8-431C-B4D8-807078683E88}"/>
              </a:ext>
            </a:extLst>
          </p:cNvPr>
          <p:cNvSpPr>
            <a:spLocks noGrp="1"/>
          </p:cNvSpPr>
          <p:nvPr/>
        </p:nvSpPr>
        <p:spPr>
          <a:xfrm>
            <a:off x="4314825" y="5000625"/>
            <a:ext cx="2266950" cy="190500"/>
          </a:xfrm>
          <a:prstGeom prst="rect">
            <a:avLst/>
          </a:prstGeom>
          <a:noFill/>
          <a:ln w="0">
            <a:noFill/>
          </a:ln>
        </p:spPr>
        <p:txBody>
          <a:bodyPr lIns="0" tIns="0" rIns="0" bIns="0">
            <a:noAutofit/>
          </a:bodyPr>
          <a:lstStyle/>
          <a:p>
            <a:pPr>
              <a:defRPr sz="900" b="1">
                <a:solidFill>
                  <a:srgbClr val="966014"/>
                </a:solidFill>
                <a:latin typeface="DejaVu Sans"/>
                <a:ea typeface="DejaVu Sans"/>
                <a:cs typeface="DejaVu Sans"/>
              </a:defRPr>
            </a:pPr>
            <a:r>
              <a:rPr sz="900" b="1">
                <a:solidFill>
                  <a:srgbClr val="966014"/>
                </a:solidFill>
                <a:latin typeface="DejaVu Sans"/>
                <a:ea typeface="DejaVu Sans"/>
                <a:cs typeface="DejaVu Sans"/>
              </a:rPr>
              <a:t>Condition: Suspect / hold</a:t>
            </a:r>
          </a:p>
        </p:txBody>
      </p:sp>
      <p:sp>
        <p:nvSpPr>
          <p:cNvPr id="36" name="Rectangle 35">
            <a:extLst>
              <a:ext uri="{FF2B5EF4-FFF2-40B4-BE49-F238E27FC236}">
                <a16:creationId xmlns:a16="http://schemas.microsoft.com/office/drawing/2014/main" id="{486141DA-2EB4-40AA-9B7F-40CD1F5A82D8}"/>
              </a:ext>
            </a:extLst>
          </p:cNvPr>
          <p:cNvSpPr>
            <a:spLocks noGrp="1"/>
          </p:cNvSpPr>
          <p:nvPr/>
        </p:nvSpPr>
        <p:spPr>
          <a:xfrm>
            <a:off x="4238625" y="5372100"/>
            <a:ext cx="2419350" cy="381000"/>
          </a:xfrm>
          <a:prstGeom prst="rect">
            <a:avLst/>
          </a:prstGeom>
          <a:solidFill>
            <a:srgbClr val="FE5000"/>
          </a:solidFill>
          <a:ln w="0">
            <a:noFill/>
          </a:ln>
        </p:spPr>
        <p:txBody>
          <a:bodyPr/>
          <a:lstStyle/>
          <a:p>
            <a:endParaRPr lang="en-GH"/>
          </a:p>
        </p:txBody>
      </p:sp>
      <p:sp>
        <p:nvSpPr>
          <p:cNvPr id="37" name="Rectangle 36">
            <a:extLst>
              <a:ext uri="{FF2B5EF4-FFF2-40B4-BE49-F238E27FC236}">
                <a16:creationId xmlns:a16="http://schemas.microsoft.com/office/drawing/2014/main" id="{9E55B634-B0F1-49FF-A944-D7FAA1E0D5CE}"/>
              </a:ext>
            </a:extLst>
          </p:cNvPr>
          <p:cNvSpPr>
            <a:spLocks noGrp="1"/>
          </p:cNvSpPr>
          <p:nvPr/>
        </p:nvSpPr>
        <p:spPr>
          <a:xfrm>
            <a:off x="4352925" y="5467350"/>
            <a:ext cx="2190750" cy="228600"/>
          </a:xfrm>
          <a:prstGeom prst="rect">
            <a:avLst/>
          </a:prstGeom>
          <a:noFill/>
          <a:ln w="0">
            <a:noFill/>
          </a:ln>
        </p:spPr>
        <p:txBody>
          <a:bodyPr lIns="0" tIns="0" rIns="0" bIns="0">
            <a:noAutofit/>
          </a:bodyPr>
          <a:lstStyle/>
          <a:p>
            <a:pP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Next: add photos</a:t>
            </a:r>
          </a:p>
        </p:txBody>
      </p:sp>
      <p:sp>
        <p:nvSpPr>
          <p:cNvPr id="38" name="Rectangle 37">
            <a:extLst>
              <a:ext uri="{FF2B5EF4-FFF2-40B4-BE49-F238E27FC236}">
                <a16:creationId xmlns:a16="http://schemas.microsoft.com/office/drawing/2014/main" id="{DA43A60E-C6E3-4CCD-89A3-059554FB13B6}"/>
              </a:ext>
            </a:extLst>
          </p:cNvPr>
          <p:cNvSpPr>
            <a:spLocks noGrp="1"/>
          </p:cNvSpPr>
          <p:nvPr/>
        </p:nvSpPr>
        <p:spPr>
          <a:xfrm>
            <a:off x="7524750" y="1524000"/>
            <a:ext cx="2857500" cy="4533900"/>
          </a:xfrm>
          <a:prstGeom prst="rect">
            <a:avLst/>
          </a:prstGeom>
          <a:solidFill>
            <a:srgbClr val="303030"/>
          </a:solidFill>
          <a:ln w="0">
            <a:noFill/>
          </a:ln>
        </p:spPr>
        <p:txBody>
          <a:bodyPr/>
          <a:lstStyle/>
          <a:p>
            <a:endParaRPr lang="en-GH"/>
          </a:p>
        </p:txBody>
      </p:sp>
      <p:sp>
        <p:nvSpPr>
          <p:cNvPr id="39" name="Rectangle 38">
            <a:extLst>
              <a:ext uri="{FF2B5EF4-FFF2-40B4-BE49-F238E27FC236}">
                <a16:creationId xmlns:a16="http://schemas.microsoft.com/office/drawing/2014/main" id="{A7023F45-E53D-4B3B-8AE7-6E959C84D7C6}"/>
              </a:ext>
            </a:extLst>
          </p:cNvPr>
          <p:cNvSpPr>
            <a:spLocks noGrp="1"/>
          </p:cNvSpPr>
          <p:nvPr/>
        </p:nvSpPr>
        <p:spPr>
          <a:xfrm>
            <a:off x="7591425" y="1590675"/>
            <a:ext cx="2724150" cy="4400550"/>
          </a:xfrm>
          <a:prstGeom prst="rect">
            <a:avLst/>
          </a:prstGeom>
          <a:solidFill>
            <a:srgbClr val="F5F5F5"/>
          </a:solidFill>
          <a:ln w="0">
            <a:noFill/>
          </a:ln>
        </p:spPr>
        <p:txBody>
          <a:bodyPr/>
          <a:lstStyle/>
          <a:p>
            <a:endParaRPr lang="en-GH"/>
          </a:p>
        </p:txBody>
      </p:sp>
      <p:sp>
        <p:nvSpPr>
          <p:cNvPr id="40" name="Rectangle 39">
            <a:extLst>
              <a:ext uri="{FF2B5EF4-FFF2-40B4-BE49-F238E27FC236}">
                <a16:creationId xmlns:a16="http://schemas.microsoft.com/office/drawing/2014/main" id="{7185B2EB-CA9C-4936-8C41-6A7777D6C5A6}"/>
              </a:ext>
            </a:extLst>
          </p:cNvPr>
          <p:cNvSpPr>
            <a:spLocks noGrp="1"/>
          </p:cNvSpPr>
          <p:nvPr/>
        </p:nvSpPr>
        <p:spPr>
          <a:xfrm>
            <a:off x="7591425" y="1590675"/>
            <a:ext cx="2724150" cy="371475"/>
          </a:xfrm>
          <a:prstGeom prst="rect">
            <a:avLst/>
          </a:prstGeom>
          <a:solidFill>
            <a:srgbClr val="FE5000"/>
          </a:solidFill>
          <a:ln w="0">
            <a:noFill/>
          </a:ln>
        </p:spPr>
        <p:txBody>
          <a:bodyPr/>
          <a:lstStyle/>
          <a:p>
            <a:endParaRPr lang="en-GH"/>
          </a:p>
        </p:txBody>
      </p:sp>
      <p:sp>
        <p:nvSpPr>
          <p:cNvPr id="41" name="Rectangle 40">
            <a:extLst>
              <a:ext uri="{FF2B5EF4-FFF2-40B4-BE49-F238E27FC236}">
                <a16:creationId xmlns:a16="http://schemas.microsoft.com/office/drawing/2014/main" id="{CAA33617-B028-441B-80D0-674C32BB0169}"/>
              </a:ext>
            </a:extLst>
          </p:cNvPr>
          <p:cNvSpPr>
            <a:spLocks noGrp="1"/>
          </p:cNvSpPr>
          <p:nvPr/>
        </p:nvSpPr>
        <p:spPr>
          <a:xfrm>
            <a:off x="7724775" y="1704975"/>
            <a:ext cx="1847850" cy="209550"/>
          </a:xfrm>
          <a:prstGeom prst="rect">
            <a:avLst/>
          </a:prstGeom>
          <a:noFill/>
          <a:ln w="0">
            <a:noFill/>
          </a:ln>
        </p:spPr>
        <p:txBody>
          <a:bodyPr lIns="0" tIns="0" rIns="0" bIns="0">
            <a:noAutofit/>
          </a:bodyPr>
          <a:lstStyle/>
          <a:p>
            <a:pP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STOCKCONTROL</a:t>
            </a:r>
          </a:p>
        </p:txBody>
      </p:sp>
      <p:sp>
        <p:nvSpPr>
          <p:cNvPr id="42" name="Rectangle 41">
            <a:extLst>
              <a:ext uri="{FF2B5EF4-FFF2-40B4-BE49-F238E27FC236}">
                <a16:creationId xmlns:a16="http://schemas.microsoft.com/office/drawing/2014/main" id="{D348A359-6A54-4A31-A402-FAAFA4F43385}"/>
              </a:ext>
            </a:extLst>
          </p:cNvPr>
          <p:cNvSpPr>
            <a:spLocks noGrp="1"/>
          </p:cNvSpPr>
          <p:nvPr/>
        </p:nvSpPr>
        <p:spPr>
          <a:xfrm>
            <a:off x="9791700" y="1714500"/>
            <a:ext cx="438150" cy="171450"/>
          </a:xfrm>
          <a:prstGeom prst="rect">
            <a:avLst/>
          </a:prstGeom>
          <a:noFill/>
          <a:ln w="0">
            <a:noFill/>
          </a:ln>
        </p:spPr>
        <p:txBody>
          <a:bodyPr lIns="0" tIns="0" rIns="0" bIns="0">
            <a:noAutofit/>
          </a:bodyPr>
          <a:lstStyle/>
          <a:p>
            <a:pPr>
              <a:defRPr sz="900" b="0">
                <a:solidFill>
                  <a:srgbClr val="FFFFFF"/>
                </a:solidFill>
                <a:latin typeface="DejaVu Sans"/>
                <a:ea typeface="DejaVu Sans"/>
                <a:cs typeface="DejaVu Sans"/>
              </a:defRPr>
            </a:pPr>
            <a:r>
              <a:rPr sz="900" b="0">
                <a:solidFill>
                  <a:srgbClr val="FFFFFF"/>
                </a:solidFill>
                <a:latin typeface="DejaVu Sans"/>
                <a:ea typeface="DejaVu Sans"/>
                <a:cs typeface="DejaVu Sans"/>
              </a:rPr>
              <a:t>08:10</a:t>
            </a:r>
          </a:p>
        </p:txBody>
      </p:sp>
      <p:sp>
        <p:nvSpPr>
          <p:cNvPr id="43" name="Rectangle 42">
            <a:extLst>
              <a:ext uri="{FF2B5EF4-FFF2-40B4-BE49-F238E27FC236}">
                <a16:creationId xmlns:a16="http://schemas.microsoft.com/office/drawing/2014/main" id="{675FAEB2-4270-460D-86A1-4FCC3B30DC25}"/>
              </a:ext>
            </a:extLst>
          </p:cNvPr>
          <p:cNvSpPr>
            <a:spLocks noGrp="1"/>
          </p:cNvSpPr>
          <p:nvPr/>
        </p:nvSpPr>
        <p:spPr>
          <a:xfrm>
            <a:off x="7743825" y="2152650"/>
            <a:ext cx="2409825" cy="361950"/>
          </a:xfrm>
          <a:prstGeom prst="rect">
            <a:avLst/>
          </a:prstGeom>
          <a:noFill/>
          <a:ln w="0">
            <a:noFill/>
          </a:ln>
        </p:spPr>
        <p:txBody>
          <a:bodyPr lIns="0" tIns="0" rIns="0" bIns="0">
            <a:noAutofit/>
          </a:bodyPr>
          <a:lstStyle/>
          <a:p>
            <a:pPr>
              <a:defRPr sz="1800" b="1">
                <a:solidFill>
                  <a:srgbClr val="303030"/>
                </a:solidFill>
                <a:latin typeface="DejaVu Sans"/>
                <a:ea typeface="DejaVu Sans"/>
                <a:cs typeface="DejaVu Sans"/>
              </a:defRPr>
            </a:pPr>
            <a:r>
              <a:rPr sz="1800" b="1">
                <a:solidFill>
                  <a:srgbClr val="303030"/>
                </a:solidFill>
                <a:latin typeface="DejaVu Sans"/>
                <a:ea typeface="DejaVu Sans"/>
                <a:cs typeface="DejaVu Sans"/>
              </a:rPr>
              <a:t>Photo evidence</a:t>
            </a:r>
          </a:p>
        </p:txBody>
      </p:sp>
      <p:sp>
        <p:nvSpPr>
          <p:cNvPr id="44" name="Rectangle 43">
            <a:extLst>
              <a:ext uri="{FF2B5EF4-FFF2-40B4-BE49-F238E27FC236}">
                <a16:creationId xmlns:a16="http://schemas.microsoft.com/office/drawing/2014/main" id="{84929C84-5F0B-4BBF-9C74-8B0F471A7312}"/>
              </a:ext>
            </a:extLst>
          </p:cNvPr>
          <p:cNvSpPr>
            <a:spLocks noGrp="1"/>
          </p:cNvSpPr>
          <p:nvPr/>
        </p:nvSpPr>
        <p:spPr>
          <a:xfrm>
            <a:off x="7743825" y="2543175"/>
            <a:ext cx="2390775" cy="247650"/>
          </a:xfrm>
          <a:prstGeom prst="rect">
            <a:avLst/>
          </a:prstGeom>
          <a:noFill/>
          <a:ln w="0">
            <a:noFill/>
          </a:ln>
        </p:spPr>
        <p:txBody>
          <a:bodyPr lIns="0" tIns="0" rIns="0" bIns="0">
            <a:noAutofit/>
          </a:bodyPr>
          <a:lstStyle/>
          <a:p>
            <a:pPr>
              <a:defRPr sz="975" b="0">
                <a:solidFill>
                  <a:srgbClr val="5E5E5E"/>
                </a:solidFill>
                <a:latin typeface="DejaVu Sans"/>
                <a:ea typeface="DejaVu Sans"/>
                <a:cs typeface="DejaVu Sans"/>
              </a:defRPr>
            </a:pPr>
            <a:r>
              <a:rPr sz="975" b="0">
                <a:solidFill>
                  <a:srgbClr val="5E5E5E"/>
                </a:solidFill>
                <a:latin typeface="DejaVu Sans"/>
                <a:ea typeface="DejaVu Sans"/>
                <a:cs typeface="DejaVu Sans"/>
              </a:rPr>
              <a:t>Step 2 of 2   /   Record GH 014 007</a:t>
            </a:r>
          </a:p>
        </p:txBody>
      </p:sp>
      <p:sp>
        <p:nvSpPr>
          <p:cNvPr id="45" name="Rectangle 44">
            <a:extLst>
              <a:ext uri="{FF2B5EF4-FFF2-40B4-BE49-F238E27FC236}">
                <a16:creationId xmlns:a16="http://schemas.microsoft.com/office/drawing/2014/main" id="{6B2201CC-DFE2-4119-8947-306B81515499}"/>
              </a:ext>
            </a:extLst>
          </p:cNvPr>
          <p:cNvSpPr>
            <a:spLocks noGrp="1"/>
          </p:cNvSpPr>
          <p:nvPr/>
        </p:nvSpPr>
        <p:spPr>
          <a:xfrm>
            <a:off x="7743825" y="2924175"/>
            <a:ext cx="2419350" cy="457200"/>
          </a:xfrm>
          <a:prstGeom prst="rect">
            <a:avLst/>
          </a:prstGeom>
          <a:solidFill>
            <a:srgbClr val="FFFFFF"/>
          </a:solidFill>
          <a:ln w="9525">
            <a:solidFill>
              <a:srgbClr val="E0E0E0"/>
            </a:solidFill>
          </a:ln>
        </p:spPr>
        <p:txBody>
          <a:bodyPr/>
          <a:lstStyle/>
          <a:p>
            <a:endParaRPr lang="en-GH"/>
          </a:p>
        </p:txBody>
      </p:sp>
      <p:sp>
        <p:nvSpPr>
          <p:cNvPr id="46" name="Rectangle 45">
            <a:extLst>
              <a:ext uri="{FF2B5EF4-FFF2-40B4-BE49-F238E27FC236}">
                <a16:creationId xmlns:a16="http://schemas.microsoft.com/office/drawing/2014/main" id="{C21D3DB9-BF5F-433B-81E0-1B99B9B5802A}"/>
              </a:ext>
            </a:extLst>
          </p:cNvPr>
          <p:cNvSpPr>
            <a:spLocks noGrp="1"/>
          </p:cNvSpPr>
          <p:nvPr/>
        </p:nvSpPr>
        <p:spPr>
          <a:xfrm>
            <a:off x="7858125" y="3009900"/>
            <a:ext cx="952500" cy="247650"/>
          </a:xfrm>
          <a:prstGeom prst="rect">
            <a:avLst/>
          </a:prstGeom>
          <a:noFill/>
          <a:ln w="0">
            <a:noFill/>
          </a:ln>
        </p:spPr>
        <p:txBody>
          <a:bodyPr lIns="0" tIns="0" rIns="0" bIns="0">
            <a:noAutofit/>
          </a:bodyPr>
          <a:lstStyle/>
          <a:p>
            <a:pPr>
              <a:defRPr sz="1275" b="1">
                <a:solidFill>
                  <a:srgbClr val="303030"/>
                </a:solidFill>
                <a:latin typeface="DejaVu Sans"/>
                <a:ea typeface="DejaVu Sans"/>
                <a:cs typeface="DejaVu Sans"/>
              </a:defRPr>
            </a:pPr>
            <a:r>
              <a:rPr sz="1275" b="1">
                <a:solidFill>
                  <a:srgbClr val="303030"/>
                </a:solidFill>
                <a:latin typeface="DejaVu Sans"/>
                <a:ea typeface="DejaVu Sans"/>
                <a:cs typeface="DejaVu Sans"/>
              </a:rPr>
              <a:t>Pack</a:t>
            </a:r>
          </a:p>
        </p:txBody>
      </p:sp>
      <p:sp>
        <p:nvSpPr>
          <p:cNvPr id="47" name="Rectangle 46">
            <a:extLst>
              <a:ext uri="{FF2B5EF4-FFF2-40B4-BE49-F238E27FC236}">
                <a16:creationId xmlns:a16="http://schemas.microsoft.com/office/drawing/2014/main" id="{E6830A1D-A87A-4124-9198-D957515D8604}"/>
              </a:ext>
            </a:extLst>
          </p:cNvPr>
          <p:cNvSpPr>
            <a:spLocks noGrp="1"/>
          </p:cNvSpPr>
          <p:nvPr/>
        </p:nvSpPr>
        <p:spPr>
          <a:xfrm>
            <a:off x="8991600" y="3038475"/>
            <a:ext cx="1038225" cy="238125"/>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Captured</a:t>
            </a:r>
          </a:p>
        </p:txBody>
      </p:sp>
      <p:sp>
        <p:nvSpPr>
          <p:cNvPr id="48" name="Rectangle 47">
            <a:extLst>
              <a:ext uri="{FF2B5EF4-FFF2-40B4-BE49-F238E27FC236}">
                <a16:creationId xmlns:a16="http://schemas.microsoft.com/office/drawing/2014/main" id="{E21D0AAE-AD93-4847-B061-46BA0BC94FCB}"/>
              </a:ext>
            </a:extLst>
          </p:cNvPr>
          <p:cNvSpPr>
            <a:spLocks noGrp="1"/>
          </p:cNvSpPr>
          <p:nvPr/>
        </p:nvSpPr>
        <p:spPr>
          <a:xfrm>
            <a:off x="7743825" y="3486150"/>
            <a:ext cx="2419350" cy="457200"/>
          </a:xfrm>
          <a:prstGeom prst="rect">
            <a:avLst/>
          </a:prstGeom>
          <a:solidFill>
            <a:srgbClr val="FFFFFF"/>
          </a:solidFill>
          <a:ln w="9525">
            <a:solidFill>
              <a:srgbClr val="E0E0E0"/>
            </a:solidFill>
          </a:ln>
        </p:spPr>
        <p:txBody>
          <a:bodyPr/>
          <a:lstStyle/>
          <a:p>
            <a:endParaRPr lang="en-GH"/>
          </a:p>
        </p:txBody>
      </p:sp>
      <p:sp>
        <p:nvSpPr>
          <p:cNvPr id="49" name="Rectangle 48">
            <a:extLst>
              <a:ext uri="{FF2B5EF4-FFF2-40B4-BE49-F238E27FC236}">
                <a16:creationId xmlns:a16="http://schemas.microsoft.com/office/drawing/2014/main" id="{03B7B87B-C7DB-4B3C-AB12-2C4CDDF461DC}"/>
              </a:ext>
            </a:extLst>
          </p:cNvPr>
          <p:cNvSpPr>
            <a:spLocks noGrp="1"/>
          </p:cNvSpPr>
          <p:nvPr/>
        </p:nvSpPr>
        <p:spPr>
          <a:xfrm>
            <a:off x="7858125" y="3571875"/>
            <a:ext cx="952500" cy="247650"/>
          </a:xfrm>
          <a:prstGeom prst="rect">
            <a:avLst/>
          </a:prstGeom>
          <a:noFill/>
          <a:ln w="0">
            <a:noFill/>
          </a:ln>
        </p:spPr>
        <p:txBody>
          <a:bodyPr lIns="0" tIns="0" rIns="0" bIns="0">
            <a:noAutofit/>
          </a:bodyPr>
          <a:lstStyle/>
          <a:p>
            <a:pPr>
              <a:defRPr sz="1275" b="1">
                <a:solidFill>
                  <a:srgbClr val="303030"/>
                </a:solidFill>
                <a:latin typeface="DejaVu Sans"/>
                <a:ea typeface="DejaVu Sans"/>
                <a:cs typeface="DejaVu Sans"/>
              </a:defRPr>
            </a:pPr>
            <a:r>
              <a:rPr sz="1275" b="1">
                <a:solidFill>
                  <a:srgbClr val="303030"/>
                </a:solidFill>
                <a:latin typeface="DejaVu Sans"/>
                <a:ea typeface="DejaVu Sans"/>
                <a:cs typeface="DejaVu Sans"/>
              </a:rPr>
              <a:t>Batch</a:t>
            </a:r>
          </a:p>
        </p:txBody>
      </p:sp>
      <p:sp>
        <p:nvSpPr>
          <p:cNvPr id="50" name="Rectangle 49">
            <a:extLst>
              <a:ext uri="{FF2B5EF4-FFF2-40B4-BE49-F238E27FC236}">
                <a16:creationId xmlns:a16="http://schemas.microsoft.com/office/drawing/2014/main" id="{DDC3008C-1377-493E-93E2-49930304D812}"/>
              </a:ext>
            </a:extLst>
          </p:cNvPr>
          <p:cNvSpPr>
            <a:spLocks noGrp="1"/>
          </p:cNvSpPr>
          <p:nvPr/>
        </p:nvSpPr>
        <p:spPr>
          <a:xfrm>
            <a:off x="8991600" y="3600450"/>
            <a:ext cx="1038225" cy="238125"/>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Captured</a:t>
            </a:r>
          </a:p>
        </p:txBody>
      </p:sp>
      <p:sp>
        <p:nvSpPr>
          <p:cNvPr id="51" name="Rectangle 50">
            <a:extLst>
              <a:ext uri="{FF2B5EF4-FFF2-40B4-BE49-F238E27FC236}">
                <a16:creationId xmlns:a16="http://schemas.microsoft.com/office/drawing/2014/main" id="{82D4C56A-6FC0-4ED2-85D5-9CD7CFE086C6}"/>
              </a:ext>
            </a:extLst>
          </p:cNvPr>
          <p:cNvSpPr>
            <a:spLocks noGrp="1"/>
          </p:cNvSpPr>
          <p:nvPr/>
        </p:nvSpPr>
        <p:spPr>
          <a:xfrm>
            <a:off x="7743825" y="4048125"/>
            <a:ext cx="2419350" cy="457200"/>
          </a:xfrm>
          <a:prstGeom prst="rect">
            <a:avLst/>
          </a:prstGeom>
          <a:solidFill>
            <a:srgbClr val="FFFFFF"/>
          </a:solidFill>
          <a:ln w="9525">
            <a:solidFill>
              <a:srgbClr val="E0E0E0"/>
            </a:solidFill>
          </a:ln>
        </p:spPr>
        <p:txBody>
          <a:bodyPr/>
          <a:lstStyle/>
          <a:p>
            <a:endParaRPr lang="en-GH"/>
          </a:p>
        </p:txBody>
      </p:sp>
      <p:sp>
        <p:nvSpPr>
          <p:cNvPr id="52" name="Rectangle 51">
            <a:extLst>
              <a:ext uri="{FF2B5EF4-FFF2-40B4-BE49-F238E27FC236}">
                <a16:creationId xmlns:a16="http://schemas.microsoft.com/office/drawing/2014/main" id="{FE45FD24-3930-4375-8CAF-FF551F1198D6}"/>
              </a:ext>
            </a:extLst>
          </p:cNvPr>
          <p:cNvSpPr>
            <a:spLocks noGrp="1"/>
          </p:cNvSpPr>
          <p:nvPr/>
        </p:nvSpPr>
        <p:spPr>
          <a:xfrm>
            <a:off x="7858125" y="4133850"/>
            <a:ext cx="952500" cy="247650"/>
          </a:xfrm>
          <a:prstGeom prst="rect">
            <a:avLst/>
          </a:prstGeom>
          <a:noFill/>
          <a:ln w="0">
            <a:noFill/>
          </a:ln>
        </p:spPr>
        <p:txBody>
          <a:bodyPr lIns="0" tIns="0" rIns="0" bIns="0">
            <a:noAutofit/>
          </a:bodyPr>
          <a:lstStyle/>
          <a:p>
            <a:pPr>
              <a:defRPr sz="1275" b="1">
                <a:solidFill>
                  <a:srgbClr val="303030"/>
                </a:solidFill>
                <a:latin typeface="DejaVu Sans"/>
                <a:ea typeface="DejaVu Sans"/>
                <a:cs typeface="DejaVu Sans"/>
              </a:defRPr>
            </a:pPr>
            <a:r>
              <a:rPr sz="1275" b="1">
                <a:solidFill>
                  <a:srgbClr val="303030"/>
                </a:solidFill>
                <a:latin typeface="DejaVu Sans"/>
                <a:ea typeface="DejaVu Sans"/>
                <a:cs typeface="DejaVu Sans"/>
              </a:rPr>
              <a:t>Defect</a:t>
            </a:r>
          </a:p>
        </p:txBody>
      </p:sp>
      <p:sp>
        <p:nvSpPr>
          <p:cNvPr id="53" name="Rectangle 52">
            <a:extLst>
              <a:ext uri="{FF2B5EF4-FFF2-40B4-BE49-F238E27FC236}">
                <a16:creationId xmlns:a16="http://schemas.microsoft.com/office/drawing/2014/main" id="{8366EEA8-7214-4D78-B470-3031458823C8}"/>
              </a:ext>
            </a:extLst>
          </p:cNvPr>
          <p:cNvSpPr>
            <a:spLocks noGrp="1"/>
          </p:cNvSpPr>
          <p:nvPr/>
        </p:nvSpPr>
        <p:spPr>
          <a:xfrm>
            <a:off x="8991600" y="4162425"/>
            <a:ext cx="1038225" cy="238125"/>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Add photo</a:t>
            </a:r>
          </a:p>
        </p:txBody>
      </p:sp>
      <p:sp>
        <p:nvSpPr>
          <p:cNvPr id="54" name="Rectangle 53">
            <a:extLst>
              <a:ext uri="{FF2B5EF4-FFF2-40B4-BE49-F238E27FC236}">
                <a16:creationId xmlns:a16="http://schemas.microsoft.com/office/drawing/2014/main" id="{A9355254-E450-454A-A319-7A674DF09A8B}"/>
              </a:ext>
            </a:extLst>
          </p:cNvPr>
          <p:cNvSpPr>
            <a:spLocks noGrp="1"/>
          </p:cNvSpPr>
          <p:nvPr/>
        </p:nvSpPr>
        <p:spPr>
          <a:xfrm>
            <a:off x="7743825" y="4705350"/>
            <a:ext cx="2419350" cy="247650"/>
          </a:xfrm>
          <a:prstGeom prst="rect">
            <a:avLst/>
          </a:prstGeom>
          <a:solidFill>
            <a:srgbClr val="FFF4DF"/>
          </a:solidFill>
          <a:ln w="0">
            <a:noFill/>
          </a:ln>
        </p:spPr>
        <p:txBody>
          <a:bodyPr/>
          <a:lstStyle/>
          <a:p>
            <a:endParaRPr lang="en-GH"/>
          </a:p>
        </p:txBody>
      </p:sp>
      <p:sp>
        <p:nvSpPr>
          <p:cNvPr id="55" name="Rectangle 54">
            <a:extLst>
              <a:ext uri="{FF2B5EF4-FFF2-40B4-BE49-F238E27FC236}">
                <a16:creationId xmlns:a16="http://schemas.microsoft.com/office/drawing/2014/main" id="{DB7F9655-B3C1-437D-9D27-8DFD70D684B7}"/>
              </a:ext>
            </a:extLst>
          </p:cNvPr>
          <p:cNvSpPr>
            <a:spLocks noGrp="1"/>
          </p:cNvSpPr>
          <p:nvPr/>
        </p:nvSpPr>
        <p:spPr>
          <a:xfrm>
            <a:off x="7820025" y="4752975"/>
            <a:ext cx="2266950" cy="190500"/>
          </a:xfrm>
          <a:prstGeom prst="rect">
            <a:avLst/>
          </a:prstGeom>
          <a:noFill/>
          <a:ln w="0">
            <a:noFill/>
          </a:ln>
        </p:spPr>
        <p:txBody>
          <a:bodyPr lIns="0" tIns="0" rIns="0" bIns="0">
            <a:noAutofit/>
          </a:bodyPr>
          <a:lstStyle/>
          <a:p>
            <a:pPr>
              <a:defRPr sz="900" b="1">
                <a:solidFill>
                  <a:srgbClr val="966014"/>
                </a:solidFill>
                <a:latin typeface="DejaVu Sans"/>
                <a:ea typeface="DejaVu Sans"/>
                <a:cs typeface="DejaVu Sans"/>
              </a:defRPr>
            </a:pPr>
            <a:r>
              <a:rPr sz="900" b="1">
                <a:solidFill>
                  <a:srgbClr val="966014"/>
                </a:solidFill>
                <a:latin typeface="DejaVu Sans"/>
                <a:ea typeface="DejaVu Sans"/>
                <a:cs typeface="DejaVu Sans"/>
              </a:rPr>
              <a:t>Offline   /   Saved on this device</a:t>
            </a:r>
          </a:p>
        </p:txBody>
      </p:sp>
      <p:sp>
        <p:nvSpPr>
          <p:cNvPr id="56" name="Rectangle 55">
            <a:extLst>
              <a:ext uri="{FF2B5EF4-FFF2-40B4-BE49-F238E27FC236}">
                <a16:creationId xmlns:a16="http://schemas.microsoft.com/office/drawing/2014/main" id="{3474640F-158F-4D42-8613-05A06479EAA3}"/>
              </a:ext>
            </a:extLst>
          </p:cNvPr>
          <p:cNvSpPr>
            <a:spLocks noGrp="1"/>
          </p:cNvSpPr>
          <p:nvPr/>
        </p:nvSpPr>
        <p:spPr>
          <a:xfrm>
            <a:off x="7743825" y="5114925"/>
            <a:ext cx="2419350" cy="381000"/>
          </a:xfrm>
          <a:prstGeom prst="rect">
            <a:avLst/>
          </a:prstGeom>
          <a:solidFill>
            <a:srgbClr val="FE5000"/>
          </a:solidFill>
          <a:ln w="0">
            <a:noFill/>
          </a:ln>
        </p:spPr>
        <p:txBody>
          <a:bodyPr/>
          <a:lstStyle/>
          <a:p>
            <a:endParaRPr lang="en-GH"/>
          </a:p>
        </p:txBody>
      </p:sp>
      <p:sp>
        <p:nvSpPr>
          <p:cNvPr id="57" name="Rectangle 56">
            <a:extLst>
              <a:ext uri="{FF2B5EF4-FFF2-40B4-BE49-F238E27FC236}">
                <a16:creationId xmlns:a16="http://schemas.microsoft.com/office/drawing/2014/main" id="{E02A0AAF-CF6D-4BCF-87F3-5F726425BBCA}"/>
              </a:ext>
            </a:extLst>
          </p:cNvPr>
          <p:cNvSpPr>
            <a:spLocks noGrp="1"/>
          </p:cNvSpPr>
          <p:nvPr/>
        </p:nvSpPr>
        <p:spPr>
          <a:xfrm>
            <a:off x="7858125" y="5210175"/>
            <a:ext cx="2190750" cy="228600"/>
          </a:xfrm>
          <a:prstGeom prst="rect">
            <a:avLst/>
          </a:prstGeom>
          <a:noFill/>
          <a:ln w="0">
            <a:noFill/>
          </a:ln>
        </p:spPr>
        <p:txBody>
          <a:bodyPr lIns="0" tIns="0" rIns="0" bIns="0">
            <a:noAutofit/>
          </a:bodyPr>
          <a:lstStyle/>
          <a:p>
            <a:pP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Save draft</a:t>
            </a:r>
          </a:p>
        </p:txBody>
      </p:sp>
      <p:sp>
        <p:nvSpPr>
          <p:cNvPr id="58" name="Rectangle 57">
            <a:extLst>
              <a:ext uri="{FF2B5EF4-FFF2-40B4-BE49-F238E27FC236}">
                <a16:creationId xmlns:a16="http://schemas.microsoft.com/office/drawing/2014/main" id="{5319F2A0-F20C-486D-A293-D7377B7C247E}"/>
              </a:ext>
            </a:extLst>
          </p:cNvPr>
          <p:cNvSpPr>
            <a:spLocks noGrp="1"/>
          </p:cNvSpPr>
          <p:nvPr/>
        </p:nvSpPr>
        <p:spPr>
          <a:xfrm>
            <a:off x="7743825" y="5638800"/>
            <a:ext cx="2419350" cy="219075"/>
          </a:xfrm>
          <a:prstGeom prst="rect">
            <a:avLst/>
          </a:prstGeom>
          <a:noFill/>
          <a:ln w="0">
            <a:noFill/>
          </a:ln>
        </p:spPr>
        <p:txBody>
          <a:bodyPr lIns="0" tIns="0" rIns="0" bIns="0">
            <a:noAutofit/>
          </a:bodyPr>
          <a:lstStyle/>
          <a:p>
            <a:pPr>
              <a:defRPr sz="1125" b="1">
                <a:solidFill>
                  <a:srgbClr val="5E5E5E"/>
                </a:solidFill>
                <a:latin typeface="DejaVu Sans"/>
                <a:ea typeface="DejaVu Sans"/>
                <a:cs typeface="DejaVu Sans"/>
              </a:defRPr>
            </a:pPr>
            <a:r>
              <a:rPr sz="1125" b="1">
                <a:solidFill>
                  <a:srgbClr val="5E5E5E"/>
                </a:solidFill>
                <a:latin typeface="DejaVu Sans"/>
                <a:ea typeface="DejaVu Sans"/>
                <a:cs typeface="DejaVu Sans"/>
              </a:rPr>
              <a:t>Submit after sync</a:t>
            </a:r>
          </a:p>
        </p:txBody>
      </p:sp>
      <p:sp>
        <p:nvSpPr>
          <p:cNvPr id="59" name="Rectangle 58">
            <a:extLst>
              <a:ext uri="{FF2B5EF4-FFF2-40B4-BE49-F238E27FC236}">
                <a16:creationId xmlns:a16="http://schemas.microsoft.com/office/drawing/2014/main" id="{2F1875EB-7091-4C22-A035-EE1203CCDEDF}"/>
              </a:ext>
            </a:extLst>
          </p:cNvPr>
          <p:cNvSpPr>
            <a:spLocks noGrp="1"/>
          </p:cNvSpPr>
          <p:nvPr/>
        </p:nvSpPr>
        <p:spPr>
          <a:xfrm>
            <a:off x="10572750" y="2124075"/>
            <a:ext cx="1190625" cy="704850"/>
          </a:xfrm>
          <a:prstGeom prst="rect">
            <a:avLst/>
          </a:prstGeom>
          <a:noFill/>
          <a:ln w="0">
            <a:noFill/>
          </a:ln>
        </p:spPr>
        <p:txBody>
          <a:bodyPr lIns="0" tIns="0" rIns="0" bIns="0">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Evidence stays linked</a:t>
            </a:r>
          </a:p>
        </p:txBody>
      </p:sp>
      <p:sp>
        <p:nvSpPr>
          <p:cNvPr id="60" name="Rectangle 59">
            <a:extLst>
              <a:ext uri="{FF2B5EF4-FFF2-40B4-BE49-F238E27FC236}">
                <a16:creationId xmlns:a16="http://schemas.microsoft.com/office/drawing/2014/main" id="{3386C594-5A87-463C-B4EA-8286C1BFA45B}"/>
              </a:ext>
            </a:extLst>
          </p:cNvPr>
          <p:cNvSpPr>
            <a:spLocks noGrp="1"/>
          </p:cNvSpPr>
          <p:nvPr/>
        </p:nvSpPr>
        <p:spPr>
          <a:xfrm>
            <a:off x="10572750" y="3095625"/>
            <a:ext cx="1200150" cy="2238375"/>
          </a:xfrm>
          <a:prstGeom prst="rect">
            <a:avLst/>
          </a:prstGeom>
          <a:noFill/>
          <a:ln w="0">
            <a:noFill/>
          </a:ln>
        </p:spPr>
        <p:txBody>
          <a:bodyPr lIns="0" tIns="0" rIns="0" bIns="0">
            <a:noAutofit/>
          </a:bodyPr>
          <a:lstStyle/>
          <a:p>
            <a:pPr>
              <a:defRPr sz="1200" b="0">
                <a:solidFill>
                  <a:srgbClr val="5E5E5E"/>
                </a:solidFill>
                <a:latin typeface="DejaVu Sans"/>
                <a:ea typeface="DejaVu Sans"/>
                <a:cs typeface="DejaVu Sans"/>
              </a:defRPr>
            </a:pPr>
            <a:r>
              <a:rPr sz="1200" b="0">
                <a:solidFill>
                  <a:srgbClr val="5E5E5E"/>
                </a:solidFill>
                <a:latin typeface="DejaVu Sans"/>
                <a:ea typeface="DejaVu Sans"/>
                <a:cs typeface="DejaVu Sans"/>
              </a:rPr>
              <a:t>Uploads show progress and retry.</a:t>
            </a:r>
          </a:p>
          <a:p>
            <a:endParaRPr sz="1200" b="0">
              <a:solidFill>
                <a:srgbClr val="5E5E5E"/>
              </a:solidFill>
              <a:latin typeface="DejaVu Sans"/>
              <a:ea typeface="DejaVu Sans"/>
              <a:cs typeface="DejaVu Sans"/>
            </a:endParaRPr>
          </a:p>
          <a:p>
            <a:pPr>
              <a:defRPr sz="1200" b="0">
                <a:solidFill>
                  <a:srgbClr val="5E5E5E"/>
                </a:solidFill>
                <a:latin typeface="DejaVu Sans"/>
                <a:ea typeface="DejaVu Sans"/>
                <a:cs typeface="DejaVu Sans"/>
              </a:defRPr>
            </a:pPr>
            <a:r>
              <a:rPr sz="1200" b="0">
                <a:solidFill>
                  <a:srgbClr val="5E5E5E"/>
                </a:solidFill>
                <a:latin typeface="DejaVu Sans"/>
                <a:ea typeface="DejaVu Sans"/>
                <a:cs typeface="DejaVu Sans"/>
              </a:rPr>
              <a:t>Incomplete records return to the missing field.</a:t>
            </a:r>
          </a:p>
        </p:txBody>
      </p:sp>
    </p:spTree>
    <p:extLst>
      <p:ext uri="{BB962C8B-B14F-4D97-AF65-F5344CB8AC3E}">
        <p14:creationId xmlns:p14="http://schemas.microsoft.com/office/powerpoint/2010/main" val="5698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083AE3AD-B76F-4C8A-8BBB-D20235976E31}"/>
              </a:ext>
            </a:extLst>
          </p:cNvPr>
          <p:cNvSpPr>
            <a:spLocks noGrp="1"/>
          </p:cNvSpPr>
          <p:nvPr/>
        </p:nvSpPr>
        <p:spPr>
          <a:xfrm>
            <a:off x="457200" y="247650"/>
            <a:ext cx="10477500" cy="238125"/>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GBfoods  /  PLATFORM EXPERIENCE</a:t>
            </a:r>
          </a:p>
        </p:txBody>
      </p:sp>
      <p:sp>
        <p:nvSpPr>
          <p:cNvPr id="2" name="Rectangle 1">
            <a:extLst>
              <a:ext uri="{FF2B5EF4-FFF2-40B4-BE49-F238E27FC236}">
                <a16:creationId xmlns:a16="http://schemas.microsoft.com/office/drawing/2014/main" id="{5AF07F1E-BDF2-42D6-B896-D6638F6926D0}"/>
              </a:ext>
            </a:extLst>
          </p:cNvPr>
          <p:cNvSpPr>
            <a:spLocks noGrp="1"/>
          </p:cNvSpPr>
          <p:nvPr/>
        </p:nvSpPr>
        <p:spPr>
          <a:xfrm>
            <a:off x="457200" y="590550"/>
            <a:ext cx="11239500" cy="542925"/>
          </a:xfrm>
          <a:prstGeom prst="rect">
            <a:avLst/>
          </a:prstGeom>
          <a:noFill/>
          <a:ln w="0">
            <a:noFill/>
          </a:ln>
        </p:spPr>
        <p:txBody>
          <a:bodyPr lIns="0" tIns="0" rIns="0" bIns="0">
            <a:noAutofit/>
          </a:bodyPr>
          <a:lstStyle/>
          <a:p>
            <a:pPr>
              <a:defRPr sz="3000" b="1">
                <a:solidFill>
                  <a:srgbClr val="303030"/>
                </a:solidFill>
                <a:latin typeface="DejaVu Sans"/>
                <a:ea typeface="DejaVu Sans"/>
                <a:cs typeface="DejaVu Sans"/>
              </a:defRPr>
            </a:pPr>
            <a:r>
              <a:rPr sz="3000" b="1">
                <a:solidFill>
                  <a:srgbClr val="303030"/>
                </a:solidFill>
                <a:latin typeface="DejaVu Sans"/>
                <a:ea typeface="DejaVu Sans"/>
                <a:cs typeface="DejaVu Sans"/>
              </a:rPr>
              <a:t>The client control room</a:t>
            </a:r>
          </a:p>
        </p:txBody>
      </p:sp>
      <p:sp>
        <p:nvSpPr>
          <p:cNvPr id="3" name="Rectangle 2">
            <a:extLst>
              <a:ext uri="{FF2B5EF4-FFF2-40B4-BE49-F238E27FC236}">
                <a16:creationId xmlns:a16="http://schemas.microsoft.com/office/drawing/2014/main" id="{05FA0B3C-3C0E-4748-B439-FCD1E1D468A9}"/>
              </a:ext>
            </a:extLst>
          </p:cNvPr>
          <p:cNvSpPr>
            <a:spLocks noGrp="1"/>
          </p:cNvSpPr>
          <p:nvPr/>
        </p:nvSpPr>
        <p:spPr>
          <a:xfrm>
            <a:off x="457200" y="1143000"/>
            <a:ext cx="11239500" cy="266700"/>
          </a:xfrm>
          <a:prstGeom prst="rect">
            <a:avLst/>
          </a:prstGeom>
          <a:noFill/>
          <a:ln w="0">
            <a:noFill/>
          </a:ln>
        </p:spPr>
        <p:txBody>
          <a:bodyPr lIns="0" tIns="0" rIns="0" bIns="0">
            <a:noAutofit/>
          </a:bodyPr>
          <a:lstStyle/>
          <a:p>
            <a:pPr>
              <a:defRPr sz="1425" b="0">
                <a:solidFill>
                  <a:srgbClr val="5E5E5E"/>
                </a:solidFill>
                <a:latin typeface="DejaVu Sans"/>
                <a:ea typeface="DejaVu Sans"/>
                <a:cs typeface="DejaVu Sans"/>
              </a:defRPr>
            </a:pPr>
            <a:r>
              <a:rPr sz="1425" b="0">
                <a:solidFill>
                  <a:srgbClr val="5E5E5E"/>
                </a:solidFill>
                <a:latin typeface="DejaVu Sans"/>
                <a:ea typeface="DejaVu Sans"/>
                <a:cs typeface="DejaVu Sans"/>
              </a:rPr>
              <a:t>GBfoods sees synced progress, reviews evidence and records authorised quality decisions.</a:t>
            </a:r>
          </a:p>
        </p:txBody>
      </p:sp>
      <p:sp>
        <p:nvSpPr>
          <p:cNvPr id="4" name="Rectangle 3">
            <a:extLst>
              <a:ext uri="{FF2B5EF4-FFF2-40B4-BE49-F238E27FC236}">
                <a16:creationId xmlns:a16="http://schemas.microsoft.com/office/drawing/2014/main" id="{7FC0FF1A-076F-42EF-A317-6F47315B3177}"/>
              </a:ext>
            </a:extLst>
          </p:cNvPr>
          <p:cNvSpPr>
            <a:spLocks noGrp="1"/>
          </p:cNvSpPr>
          <p:nvPr/>
        </p:nvSpPr>
        <p:spPr>
          <a:xfrm>
            <a:off x="457200" y="6457950"/>
            <a:ext cx="10572750" cy="219075"/>
          </a:xfrm>
          <a:prstGeom prst="rect">
            <a:avLst/>
          </a:prstGeom>
          <a:noFill/>
          <a:ln w="0">
            <a:noFill/>
          </a:ln>
        </p:spPr>
        <p:txBody>
          <a:bodyPr lIns="0" tIns="0" rIns="0" bIns="0">
            <a:noAutofit/>
          </a:bodyPr>
          <a:lstStyle/>
          <a:p>
            <a:pPr>
              <a:defRPr sz="975" b="0">
                <a:solidFill>
                  <a:srgbClr val="5E5E5E"/>
                </a:solidFill>
                <a:latin typeface="DejaVu Sans"/>
                <a:ea typeface="DejaVu Sans"/>
                <a:cs typeface="DejaVu Sans"/>
              </a:defRPr>
            </a:pPr>
            <a:r>
              <a:rPr sz="975" b="0">
                <a:solidFill>
                  <a:srgbClr val="5E5E5E"/>
                </a:solidFill>
                <a:latin typeface="DejaVu Sans"/>
                <a:ea typeface="DejaVu Sans"/>
                <a:cs typeface="DejaVu Sans"/>
              </a:rPr>
              <a:t>UI/UX concept. All names, locations and figures are illustrative.</a:t>
            </a:r>
          </a:p>
        </p:txBody>
      </p:sp>
      <p:sp>
        <p:nvSpPr>
          <p:cNvPr id="5" name="Rectangle 4">
            <a:extLst>
              <a:ext uri="{FF2B5EF4-FFF2-40B4-BE49-F238E27FC236}">
                <a16:creationId xmlns:a16="http://schemas.microsoft.com/office/drawing/2014/main" id="{196BEA55-3FB6-4DD5-AE8E-C0E9BD5D26F6}"/>
              </a:ext>
            </a:extLst>
          </p:cNvPr>
          <p:cNvSpPr>
            <a:spLocks noGrp="1"/>
          </p:cNvSpPr>
          <p:nvPr/>
        </p:nvSpPr>
        <p:spPr>
          <a:xfrm>
            <a:off x="11334750" y="6419850"/>
            <a:ext cx="476250" cy="247650"/>
          </a:xfrm>
          <a:prstGeom prst="rect">
            <a:avLst/>
          </a:prstGeom>
          <a:noFill/>
          <a:ln w="0">
            <a:noFill/>
          </a:ln>
        </p:spPr>
        <p:txBody>
          <a:bodyPr lIns="0" tIns="0" rIns="0" bIns="0">
            <a:noAutofit/>
          </a:bodyPr>
          <a:lstStyle/>
          <a:p>
            <a:pPr>
              <a:defRPr sz="1200" b="0">
                <a:solidFill>
                  <a:srgbClr val="5E5E5E"/>
                </a:solidFill>
                <a:latin typeface="DejaVu Sans"/>
                <a:ea typeface="DejaVu Sans"/>
                <a:cs typeface="DejaVu Sans"/>
              </a:defRPr>
            </a:pPr>
            <a:r>
              <a:rPr sz="1200" b="0">
                <a:solidFill>
                  <a:srgbClr val="5E5E5E"/>
                </a:solidFill>
                <a:latin typeface="DejaVu Sans"/>
                <a:ea typeface="DejaVu Sans"/>
                <a:cs typeface="DejaVu Sans"/>
              </a:rPr>
              <a:t>28</a:t>
            </a:r>
          </a:p>
        </p:txBody>
      </p:sp>
      <p:sp>
        <p:nvSpPr>
          <p:cNvPr id="6" name="Rectangle 5">
            <a:extLst>
              <a:ext uri="{FF2B5EF4-FFF2-40B4-BE49-F238E27FC236}">
                <a16:creationId xmlns:a16="http://schemas.microsoft.com/office/drawing/2014/main" id="{56528014-6C53-48CA-96C1-7591FC114690}"/>
              </a:ext>
            </a:extLst>
          </p:cNvPr>
          <p:cNvSpPr>
            <a:spLocks noGrp="1"/>
          </p:cNvSpPr>
          <p:nvPr/>
        </p:nvSpPr>
        <p:spPr>
          <a:xfrm>
            <a:off x="457200" y="1581150"/>
            <a:ext cx="9096375" cy="4486275"/>
          </a:xfrm>
          <a:prstGeom prst="rect">
            <a:avLst/>
          </a:prstGeom>
          <a:solidFill>
            <a:srgbClr val="F5F5F5"/>
          </a:solidFill>
          <a:ln w="9525">
            <a:solidFill>
              <a:srgbClr val="E0E0E0"/>
            </a:solidFill>
          </a:ln>
        </p:spPr>
        <p:txBody>
          <a:bodyPr/>
          <a:lstStyle/>
          <a:p>
            <a:endParaRPr lang="en-GH"/>
          </a:p>
        </p:txBody>
      </p:sp>
      <p:sp>
        <p:nvSpPr>
          <p:cNvPr id="7" name="Rectangle 6">
            <a:extLst>
              <a:ext uri="{FF2B5EF4-FFF2-40B4-BE49-F238E27FC236}">
                <a16:creationId xmlns:a16="http://schemas.microsoft.com/office/drawing/2014/main" id="{D27CB4FB-7AA4-4F60-9A9E-5DF3A0399A79}"/>
              </a:ext>
            </a:extLst>
          </p:cNvPr>
          <p:cNvSpPr>
            <a:spLocks noGrp="1"/>
          </p:cNvSpPr>
          <p:nvPr/>
        </p:nvSpPr>
        <p:spPr>
          <a:xfrm>
            <a:off x="457200" y="1581150"/>
            <a:ext cx="1571625" cy="4486275"/>
          </a:xfrm>
          <a:prstGeom prst="rect">
            <a:avLst/>
          </a:prstGeom>
          <a:solidFill>
            <a:srgbClr val="303030"/>
          </a:solidFill>
          <a:ln w="0">
            <a:noFill/>
          </a:ln>
        </p:spPr>
        <p:txBody>
          <a:bodyPr/>
          <a:lstStyle/>
          <a:p>
            <a:endParaRPr lang="en-GH"/>
          </a:p>
        </p:txBody>
      </p:sp>
      <p:sp>
        <p:nvSpPr>
          <p:cNvPr id="8" name="Rectangle 7">
            <a:extLst>
              <a:ext uri="{FF2B5EF4-FFF2-40B4-BE49-F238E27FC236}">
                <a16:creationId xmlns:a16="http://schemas.microsoft.com/office/drawing/2014/main" id="{B3315C0B-A8E8-4323-A16A-FE478CC39883}"/>
              </a:ext>
            </a:extLst>
          </p:cNvPr>
          <p:cNvSpPr>
            <a:spLocks noGrp="1"/>
          </p:cNvSpPr>
          <p:nvPr/>
        </p:nvSpPr>
        <p:spPr>
          <a:xfrm>
            <a:off x="628650" y="1790700"/>
            <a:ext cx="1228725" cy="581025"/>
          </a:xfrm>
          <a:prstGeom prst="rect">
            <a:avLst/>
          </a:prstGeom>
          <a:noFill/>
          <a:ln w="0">
            <a:noFill/>
          </a:ln>
        </p:spPr>
        <p:txBody>
          <a:bodyPr lIns="0" tIns="0" rIns="0" bIns="0">
            <a:noAutofit/>
          </a:bodyPr>
          <a:lstStyle/>
          <a:p>
            <a:pPr>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STOCK</a:t>
            </a:r>
          </a:p>
          <a:p>
            <a:pPr>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CONTROL</a:t>
            </a:r>
          </a:p>
        </p:txBody>
      </p:sp>
      <p:sp>
        <p:nvSpPr>
          <p:cNvPr id="9" name="Rectangle 8">
            <a:extLst>
              <a:ext uri="{FF2B5EF4-FFF2-40B4-BE49-F238E27FC236}">
                <a16:creationId xmlns:a16="http://schemas.microsoft.com/office/drawing/2014/main" id="{D0ECA87E-0277-4AE7-8625-06E4C6238927}"/>
              </a:ext>
            </a:extLst>
          </p:cNvPr>
          <p:cNvSpPr>
            <a:spLocks noGrp="1"/>
          </p:cNvSpPr>
          <p:nvPr/>
        </p:nvSpPr>
        <p:spPr>
          <a:xfrm>
            <a:off x="552450" y="2657475"/>
            <a:ext cx="1381125" cy="342900"/>
          </a:xfrm>
          <a:prstGeom prst="rect">
            <a:avLst/>
          </a:prstGeom>
          <a:solidFill>
            <a:srgbClr val="FE5000"/>
          </a:solidFill>
          <a:ln w="0">
            <a:noFill/>
          </a:ln>
        </p:spPr>
        <p:txBody>
          <a:bodyPr/>
          <a:lstStyle/>
          <a:p>
            <a:endParaRPr lang="en-GH"/>
          </a:p>
        </p:txBody>
      </p:sp>
      <p:sp>
        <p:nvSpPr>
          <p:cNvPr id="10" name="Rectangle 9">
            <a:extLst>
              <a:ext uri="{FF2B5EF4-FFF2-40B4-BE49-F238E27FC236}">
                <a16:creationId xmlns:a16="http://schemas.microsoft.com/office/drawing/2014/main" id="{58E46EBF-F118-4617-B9A0-E154207ADFC5}"/>
              </a:ext>
            </a:extLst>
          </p:cNvPr>
          <p:cNvSpPr>
            <a:spLocks noGrp="1"/>
          </p:cNvSpPr>
          <p:nvPr/>
        </p:nvSpPr>
        <p:spPr>
          <a:xfrm>
            <a:off x="666750" y="2743200"/>
            <a:ext cx="1219200" cy="266700"/>
          </a:xfrm>
          <a:prstGeom prst="rect">
            <a:avLst/>
          </a:prstGeom>
          <a:noFill/>
          <a:ln w="0">
            <a:noFill/>
          </a:ln>
        </p:spPr>
        <p:txBody>
          <a:bodyPr lIns="0" tIns="0" rIns="0" bIns="0">
            <a:noAutofit/>
          </a:bodyPr>
          <a:lstStyle/>
          <a:p>
            <a:pPr>
              <a:defRPr sz="1125" b="1">
                <a:solidFill>
                  <a:srgbClr val="FFFFFF"/>
                </a:solidFill>
                <a:latin typeface="DejaVu Sans"/>
                <a:ea typeface="DejaVu Sans"/>
                <a:cs typeface="DejaVu Sans"/>
              </a:defRPr>
            </a:pPr>
            <a:r>
              <a:rPr sz="1125" b="1">
                <a:solidFill>
                  <a:srgbClr val="FFFFFF"/>
                </a:solidFill>
                <a:latin typeface="DejaVu Sans"/>
                <a:ea typeface="DejaVu Sans"/>
                <a:cs typeface="DejaVu Sans"/>
              </a:rPr>
              <a:t>Overview</a:t>
            </a:r>
          </a:p>
        </p:txBody>
      </p:sp>
      <p:sp>
        <p:nvSpPr>
          <p:cNvPr id="11" name="Rectangle 10">
            <a:extLst>
              <a:ext uri="{FF2B5EF4-FFF2-40B4-BE49-F238E27FC236}">
                <a16:creationId xmlns:a16="http://schemas.microsoft.com/office/drawing/2014/main" id="{AC1F4F56-80FF-40E8-83C3-76736EEE24A7}"/>
              </a:ext>
            </a:extLst>
          </p:cNvPr>
          <p:cNvSpPr>
            <a:spLocks noGrp="1"/>
          </p:cNvSpPr>
          <p:nvPr/>
        </p:nvSpPr>
        <p:spPr>
          <a:xfrm>
            <a:off x="666750" y="3200400"/>
            <a:ext cx="1219200" cy="266700"/>
          </a:xfrm>
          <a:prstGeom prst="rect">
            <a:avLst/>
          </a:prstGeom>
          <a:noFill/>
          <a:ln w="0">
            <a:noFill/>
          </a:ln>
        </p:spPr>
        <p:txBody>
          <a:bodyPr lIns="0" tIns="0" rIns="0" bIns="0">
            <a:noAutofit/>
          </a:bodyPr>
          <a:lstStyle/>
          <a:p>
            <a:pPr>
              <a:defRPr sz="1125" b="0">
                <a:solidFill>
                  <a:srgbClr val="FFFFFF"/>
                </a:solidFill>
                <a:latin typeface="DejaVu Sans"/>
                <a:ea typeface="DejaVu Sans"/>
                <a:cs typeface="DejaVu Sans"/>
              </a:defRPr>
            </a:pPr>
            <a:r>
              <a:rPr sz="1125" b="0">
                <a:solidFill>
                  <a:srgbClr val="FFFFFF"/>
                </a:solidFill>
                <a:latin typeface="DejaVu Sans"/>
                <a:ea typeface="DejaVu Sans"/>
                <a:cs typeface="DejaVu Sans"/>
              </a:rPr>
              <a:t>Depots</a:t>
            </a:r>
          </a:p>
        </p:txBody>
      </p:sp>
      <p:sp>
        <p:nvSpPr>
          <p:cNvPr id="12" name="Rectangle 11">
            <a:extLst>
              <a:ext uri="{FF2B5EF4-FFF2-40B4-BE49-F238E27FC236}">
                <a16:creationId xmlns:a16="http://schemas.microsoft.com/office/drawing/2014/main" id="{0518F74A-6F3F-4ED8-A066-436FA20B75CC}"/>
              </a:ext>
            </a:extLst>
          </p:cNvPr>
          <p:cNvSpPr>
            <a:spLocks noGrp="1"/>
          </p:cNvSpPr>
          <p:nvPr/>
        </p:nvSpPr>
        <p:spPr>
          <a:xfrm>
            <a:off x="666750" y="3657600"/>
            <a:ext cx="1219200" cy="266700"/>
          </a:xfrm>
          <a:prstGeom prst="rect">
            <a:avLst/>
          </a:prstGeom>
          <a:noFill/>
          <a:ln w="0">
            <a:noFill/>
          </a:ln>
        </p:spPr>
        <p:txBody>
          <a:bodyPr lIns="0" tIns="0" rIns="0" bIns="0">
            <a:noAutofit/>
          </a:bodyPr>
          <a:lstStyle/>
          <a:p>
            <a:pPr>
              <a:defRPr sz="1125" b="0">
                <a:solidFill>
                  <a:srgbClr val="FFFFFF"/>
                </a:solidFill>
                <a:latin typeface="DejaVu Sans"/>
                <a:ea typeface="DejaVu Sans"/>
                <a:cs typeface="DejaVu Sans"/>
              </a:defRPr>
            </a:pPr>
            <a:r>
              <a:rPr sz="1125" b="0">
                <a:solidFill>
                  <a:srgbClr val="FFFFFF"/>
                </a:solidFill>
                <a:latin typeface="DejaVu Sans"/>
                <a:ea typeface="DejaVu Sans"/>
                <a:cs typeface="DejaVu Sans"/>
              </a:rPr>
              <a:t>Stock records</a:t>
            </a:r>
          </a:p>
        </p:txBody>
      </p:sp>
      <p:sp>
        <p:nvSpPr>
          <p:cNvPr id="13" name="Rectangle 12">
            <a:extLst>
              <a:ext uri="{FF2B5EF4-FFF2-40B4-BE49-F238E27FC236}">
                <a16:creationId xmlns:a16="http://schemas.microsoft.com/office/drawing/2014/main" id="{586D2923-E983-4E2C-A55A-CBDE11609146}"/>
              </a:ext>
            </a:extLst>
          </p:cNvPr>
          <p:cNvSpPr>
            <a:spLocks noGrp="1"/>
          </p:cNvSpPr>
          <p:nvPr/>
        </p:nvSpPr>
        <p:spPr>
          <a:xfrm>
            <a:off x="666750" y="4114800"/>
            <a:ext cx="1219200" cy="266700"/>
          </a:xfrm>
          <a:prstGeom prst="rect">
            <a:avLst/>
          </a:prstGeom>
          <a:noFill/>
          <a:ln w="0">
            <a:noFill/>
          </a:ln>
        </p:spPr>
        <p:txBody>
          <a:bodyPr lIns="0" tIns="0" rIns="0" bIns="0">
            <a:noAutofit/>
          </a:bodyPr>
          <a:lstStyle/>
          <a:p>
            <a:pPr>
              <a:defRPr sz="1125" b="0">
                <a:solidFill>
                  <a:srgbClr val="FFFFFF"/>
                </a:solidFill>
                <a:latin typeface="DejaVu Sans"/>
                <a:ea typeface="DejaVu Sans"/>
                <a:cs typeface="DejaVu Sans"/>
              </a:defRPr>
            </a:pPr>
            <a:r>
              <a:rPr sz="1125" b="0">
                <a:solidFill>
                  <a:srgbClr val="FFFFFF"/>
                </a:solidFill>
                <a:latin typeface="DejaVu Sans"/>
                <a:ea typeface="DejaVu Sans"/>
                <a:cs typeface="DejaVu Sans"/>
              </a:rPr>
              <a:t>Exceptions</a:t>
            </a:r>
          </a:p>
        </p:txBody>
      </p:sp>
      <p:sp>
        <p:nvSpPr>
          <p:cNvPr id="14" name="Rectangle 13">
            <a:extLst>
              <a:ext uri="{FF2B5EF4-FFF2-40B4-BE49-F238E27FC236}">
                <a16:creationId xmlns:a16="http://schemas.microsoft.com/office/drawing/2014/main" id="{F7ED9578-5E15-4B3B-8995-F57E2F73E8D0}"/>
              </a:ext>
            </a:extLst>
          </p:cNvPr>
          <p:cNvSpPr>
            <a:spLocks noGrp="1"/>
          </p:cNvSpPr>
          <p:nvPr/>
        </p:nvSpPr>
        <p:spPr>
          <a:xfrm>
            <a:off x="666750" y="4572000"/>
            <a:ext cx="1219200" cy="266700"/>
          </a:xfrm>
          <a:prstGeom prst="rect">
            <a:avLst/>
          </a:prstGeom>
          <a:noFill/>
          <a:ln w="0">
            <a:noFill/>
          </a:ln>
        </p:spPr>
        <p:txBody>
          <a:bodyPr lIns="0" tIns="0" rIns="0" bIns="0">
            <a:noAutofit/>
          </a:bodyPr>
          <a:lstStyle/>
          <a:p>
            <a:pPr>
              <a:defRPr sz="1125" b="0">
                <a:solidFill>
                  <a:srgbClr val="FFFFFF"/>
                </a:solidFill>
                <a:latin typeface="DejaVu Sans"/>
                <a:ea typeface="DejaVu Sans"/>
                <a:cs typeface="DejaVu Sans"/>
              </a:defRPr>
            </a:pPr>
            <a:r>
              <a:rPr sz="1125" b="0">
                <a:solidFill>
                  <a:srgbClr val="FFFFFF"/>
                </a:solidFill>
                <a:latin typeface="DejaVu Sans"/>
                <a:ea typeface="DejaVu Sans"/>
                <a:cs typeface="DejaVu Sans"/>
              </a:rPr>
              <a:t>Reports</a:t>
            </a:r>
          </a:p>
        </p:txBody>
      </p:sp>
      <p:sp>
        <p:nvSpPr>
          <p:cNvPr id="15" name="Rectangle 14">
            <a:extLst>
              <a:ext uri="{FF2B5EF4-FFF2-40B4-BE49-F238E27FC236}">
                <a16:creationId xmlns:a16="http://schemas.microsoft.com/office/drawing/2014/main" id="{279A2EC3-B6D8-4BD6-A1B2-D31C593956C4}"/>
              </a:ext>
            </a:extLst>
          </p:cNvPr>
          <p:cNvSpPr>
            <a:spLocks noGrp="1"/>
          </p:cNvSpPr>
          <p:nvPr/>
        </p:nvSpPr>
        <p:spPr>
          <a:xfrm>
            <a:off x="647700" y="5495925"/>
            <a:ext cx="1266825" cy="409575"/>
          </a:xfrm>
          <a:prstGeom prst="rect">
            <a:avLst/>
          </a:prstGeom>
          <a:noFill/>
          <a:ln w="0">
            <a:noFill/>
          </a:ln>
        </p:spPr>
        <p:txBody>
          <a:bodyPr lIns="0" tIns="0" rIns="0" bIns="0">
            <a:noAutofit/>
          </a:bodyPr>
          <a:lstStyle/>
          <a:p>
            <a:pPr>
              <a:defRPr sz="975" b="0">
                <a:solidFill>
                  <a:srgbClr val="FFFFFF"/>
                </a:solidFill>
                <a:latin typeface="DejaVu Sans"/>
                <a:ea typeface="DejaVu Sans"/>
                <a:cs typeface="DejaVu Sans"/>
              </a:defRPr>
            </a:pPr>
            <a:r>
              <a:rPr sz="975" b="0">
                <a:solidFill>
                  <a:srgbClr val="FFFFFF"/>
                </a:solidFill>
                <a:latin typeface="DejaVu Sans"/>
                <a:ea typeface="DejaVu Sans"/>
                <a:cs typeface="DejaVu Sans"/>
              </a:rPr>
              <a:t>GBfoods</a:t>
            </a:r>
          </a:p>
          <a:p>
            <a:pPr>
              <a:defRPr sz="975" b="0">
                <a:solidFill>
                  <a:srgbClr val="FFFFFF"/>
                </a:solidFill>
                <a:latin typeface="DejaVu Sans"/>
                <a:ea typeface="DejaVu Sans"/>
                <a:cs typeface="DejaVu Sans"/>
              </a:defRPr>
            </a:pPr>
            <a:r>
              <a:rPr sz="975" b="0">
                <a:solidFill>
                  <a:srgbClr val="FFFFFF"/>
                </a:solidFill>
                <a:latin typeface="DejaVu Sans"/>
                <a:ea typeface="DejaVu Sans"/>
                <a:cs typeface="DejaVu Sans"/>
              </a:rPr>
              <a:t>Client reviewer</a:t>
            </a:r>
          </a:p>
        </p:txBody>
      </p:sp>
      <p:sp>
        <p:nvSpPr>
          <p:cNvPr id="16" name="Rectangle 15">
            <a:extLst>
              <a:ext uri="{FF2B5EF4-FFF2-40B4-BE49-F238E27FC236}">
                <a16:creationId xmlns:a16="http://schemas.microsoft.com/office/drawing/2014/main" id="{B6FB25B5-D73E-4B77-AF18-964E248C0D22}"/>
              </a:ext>
            </a:extLst>
          </p:cNvPr>
          <p:cNvSpPr>
            <a:spLocks noGrp="1"/>
          </p:cNvSpPr>
          <p:nvPr/>
        </p:nvSpPr>
        <p:spPr>
          <a:xfrm>
            <a:off x="2257425" y="1781175"/>
            <a:ext cx="4314825" cy="352425"/>
          </a:xfrm>
          <a:prstGeom prst="rect">
            <a:avLst/>
          </a:prstGeom>
          <a:noFill/>
          <a:ln w="0">
            <a:noFill/>
          </a:ln>
        </p:spPr>
        <p:txBody>
          <a:bodyPr lIns="0" tIns="0" rIns="0" bIns="0">
            <a:noAutofit/>
          </a:bodyPr>
          <a:lstStyle/>
          <a:p>
            <a:pPr>
              <a:defRPr sz="1800" b="1">
                <a:solidFill>
                  <a:srgbClr val="303030"/>
                </a:solidFill>
                <a:latin typeface="DejaVu Sans"/>
                <a:ea typeface="DejaVu Sans"/>
                <a:cs typeface="DejaVu Sans"/>
              </a:defRPr>
            </a:pPr>
            <a:r>
              <a:rPr sz="1800" b="1">
                <a:solidFill>
                  <a:srgbClr val="303030"/>
                </a:solidFill>
                <a:latin typeface="DejaVu Sans"/>
                <a:ea typeface="DejaVu Sans"/>
                <a:cs typeface="DejaVu Sans"/>
              </a:rPr>
              <a:t>National overview</a:t>
            </a:r>
          </a:p>
        </p:txBody>
      </p:sp>
      <p:sp>
        <p:nvSpPr>
          <p:cNvPr id="17" name="Rectangle 16">
            <a:extLst>
              <a:ext uri="{FF2B5EF4-FFF2-40B4-BE49-F238E27FC236}">
                <a16:creationId xmlns:a16="http://schemas.microsoft.com/office/drawing/2014/main" id="{C1B523A6-2E5B-4DE8-BC8F-6B1DBFAC1303}"/>
              </a:ext>
            </a:extLst>
          </p:cNvPr>
          <p:cNvSpPr>
            <a:spLocks noGrp="1"/>
          </p:cNvSpPr>
          <p:nvPr/>
        </p:nvSpPr>
        <p:spPr>
          <a:xfrm>
            <a:off x="7791450" y="1790700"/>
            <a:ext cx="1562100" cy="247650"/>
          </a:xfrm>
          <a:prstGeom prst="rect">
            <a:avLst/>
          </a:prstGeom>
          <a:solidFill>
            <a:srgbClr val="F5F5F5"/>
          </a:solidFill>
          <a:ln w="0">
            <a:noFill/>
          </a:ln>
        </p:spPr>
        <p:txBody>
          <a:bodyPr/>
          <a:lstStyle/>
          <a:p>
            <a:endParaRPr lang="en-GH"/>
          </a:p>
        </p:txBody>
      </p:sp>
      <p:sp>
        <p:nvSpPr>
          <p:cNvPr id="18" name="Rectangle 17">
            <a:extLst>
              <a:ext uri="{FF2B5EF4-FFF2-40B4-BE49-F238E27FC236}">
                <a16:creationId xmlns:a16="http://schemas.microsoft.com/office/drawing/2014/main" id="{BCA441E8-68D1-4485-A82A-994B91037450}"/>
              </a:ext>
            </a:extLst>
          </p:cNvPr>
          <p:cNvSpPr>
            <a:spLocks noGrp="1"/>
          </p:cNvSpPr>
          <p:nvPr/>
        </p:nvSpPr>
        <p:spPr>
          <a:xfrm>
            <a:off x="7867650" y="1838325"/>
            <a:ext cx="1409700" cy="190500"/>
          </a:xfrm>
          <a:prstGeom prst="rect">
            <a:avLst/>
          </a:prstGeom>
          <a:noFill/>
          <a:ln w="0">
            <a:noFill/>
          </a:ln>
        </p:spPr>
        <p:txBody>
          <a:bodyPr lIns="0" tIns="0" rIns="0" bIns="0">
            <a:noAutofit/>
          </a:bodyPr>
          <a:lstStyle/>
          <a:p>
            <a:pPr>
              <a:defRPr sz="900" b="1">
                <a:solidFill>
                  <a:srgbClr val="FE5000"/>
                </a:solidFill>
                <a:latin typeface="DejaVu Sans"/>
                <a:ea typeface="DejaVu Sans"/>
                <a:cs typeface="DejaVu Sans"/>
              </a:defRPr>
            </a:pPr>
            <a:r>
              <a:rPr sz="900" b="1">
                <a:solidFill>
                  <a:srgbClr val="FE5000"/>
                </a:solidFill>
                <a:latin typeface="DejaVu Sans"/>
                <a:ea typeface="DejaVu Sans"/>
                <a:cs typeface="DejaVu Sans"/>
              </a:rPr>
              <a:t>Last sync 14:32</a:t>
            </a:r>
          </a:p>
        </p:txBody>
      </p:sp>
      <p:sp>
        <p:nvSpPr>
          <p:cNvPr id="19" name="Rectangle 18">
            <a:extLst>
              <a:ext uri="{FF2B5EF4-FFF2-40B4-BE49-F238E27FC236}">
                <a16:creationId xmlns:a16="http://schemas.microsoft.com/office/drawing/2014/main" id="{08053CC4-305C-429C-A34B-0A215165A095}"/>
              </a:ext>
            </a:extLst>
          </p:cNvPr>
          <p:cNvSpPr>
            <a:spLocks noGrp="1"/>
          </p:cNvSpPr>
          <p:nvPr/>
        </p:nvSpPr>
        <p:spPr>
          <a:xfrm>
            <a:off x="2257425" y="2238375"/>
            <a:ext cx="1428750" cy="247650"/>
          </a:xfrm>
          <a:prstGeom prst="rect">
            <a:avLst/>
          </a:prstGeom>
          <a:solidFill>
            <a:srgbClr val="FFFFFF"/>
          </a:solidFill>
          <a:ln w="0">
            <a:noFill/>
          </a:ln>
        </p:spPr>
        <p:txBody>
          <a:bodyPr/>
          <a:lstStyle/>
          <a:p>
            <a:endParaRPr lang="en-GH"/>
          </a:p>
        </p:txBody>
      </p:sp>
      <p:sp>
        <p:nvSpPr>
          <p:cNvPr id="20" name="Rectangle 19">
            <a:extLst>
              <a:ext uri="{FF2B5EF4-FFF2-40B4-BE49-F238E27FC236}">
                <a16:creationId xmlns:a16="http://schemas.microsoft.com/office/drawing/2014/main" id="{0ED035C7-7519-4985-8B14-18E36E2B06B8}"/>
              </a:ext>
            </a:extLst>
          </p:cNvPr>
          <p:cNvSpPr>
            <a:spLocks noGrp="1"/>
          </p:cNvSpPr>
          <p:nvPr/>
        </p:nvSpPr>
        <p:spPr>
          <a:xfrm>
            <a:off x="2333625" y="2286000"/>
            <a:ext cx="1276350" cy="190500"/>
          </a:xfrm>
          <a:prstGeom prst="rect">
            <a:avLst/>
          </a:prstGeom>
          <a:noFill/>
          <a:ln w="0">
            <a:noFill/>
          </a:ln>
        </p:spPr>
        <p:txBody>
          <a:bodyPr lIns="0" tIns="0" rIns="0" bIns="0">
            <a:noAutofit/>
          </a:bodyPr>
          <a:lstStyle/>
          <a:p>
            <a:pPr>
              <a:defRPr sz="900" b="1">
                <a:solidFill>
                  <a:srgbClr val="FE5000"/>
                </a:solidFill>
                <a:latin typeface="DejaVu Sans"/>
                <a:ea typeface="DejaVu Sans"/>
                <a:cs typeface="DejaVu Sans"/>
              </a:defRPr>
            </a:pPr>
            <a:r>
              <a:rPr sz="900" b="1">
                <a:solidFill>
                  <a:srgbClr val="FE5000"/>
                </a:solidFill>
                <a:latin typeface="DejaVu Sans"/>
                <a:ea typeface="DejaVu Sans"/>
                <a:cs typeface="DejaVu Sans"/>
              </a:rPr>
              <a:t>All regions</a:t>
            </a:r>
          </a:p>
        </p:txBody>
      </p:sp>
      <p:sp>
        <p:nvSpPr>
          <p:cNvPr id="21" name="Rectangle 20">
            <a:extLst>
              <a:ext uri="{FF2B5EF4-FFF2-40B4-BE49-F238E27FC236}">
                <a16:creationId xmlns:a16="http://schemas.microsoft.com/office/drawing/2014/main" id="{EBCE12B1-B7F6-4E03-BEE9-A86417DB4174}"/>
              </a:ext>
            </a:extLst>
          </p:cNvPr>
          <p:cNvSpPr>
            <a:spLocks noGrp="1"/>
          </p:cNvSpPr>
          <p:nvPr/>
        </p:nvSpPr>
        <p:spPr>
          <a:xfrm>
            <a:off x="3819525" y="2238375"/>
            <a:ext cx="1419225" cy="247650"/>
          </a:xfrm>
          <a:prstGeom prst="rect">
            <a:avLst/>
          </a:prstGeom>
          <a:solidFill>
            <a:srgbClr val="FFFFFF"/>
          </a:solidFill>
          <a:ln w="0">
            <a:noFill/>
          </a:ln>
        </p:spPr>
        <p:txBody>
          <a:bodyPr/>
          <a:lstStyle/>
          <a:p>
            <a:endParaRPr lang="en-GH"/>
          </a:p>
        </p:txBody>
      </p:sp>
      <p:sp>
        <p:nvSpPr>
          <p:cNvPr id="22" name="Rectangle 21">
            <a:extLst>
              <a:ext uri="{FF2B5EF4-FFF2-40B4-BE49-F238E27FC236}">
                <a16:creationId xmlns:a16="http://schemas.microsoft.com/office/drawing/2014/main" id="{DD176F12-4BEA-44A3-8DB5-0909100DF71C}"/>
              </a:ext>
            </a:extLst>
          </p:cNvPr>
          <p:cNvSpPr>
            <a:spLocks noGrp="1"/>
          </p:cNvSpPr>
          <p:nvPr/>
        </p:nvSpPr>
        <p:spPr>
          <a:xfrm>
            <a:off x="3895725" y="2286000"/>
            <a:ext cx="1266825" cy="190500"/>
          </a:xfrm>
          <a:prstGeom prst="rect">
            <a:avLst/>
          </a:prstGeom>
          <a:noFill/>
          <a:ln w="0">
            <a:noFill/>
          </a:ln>
        </p:spPr>
        <p:txBody>
          <a:bodyPr lIns="0" tIns="0" rIns="0" bIns="0">
            <a:noAutofit/>
          </a:bodyPr>
          <a:lstStyle/>
          <a:p>
            <a:pPr>
              <a:defRPr sz="900" b="1">
                <a:solidFill>
                  <a:srgbClr val="FE5000"/>
                </a:solidFill>
                <a:latin typeface="DejaVu Sans"/>
                <a:ea typeface="DejaVu Sans"/>
                <a:cs typeface="DejaVu Sans"/>
              </a:defRPr>
            </a:pPr>
            <a:r>
              <a:rPr sz="900" b="1">
                <a:solidFill>
                  <a:srgbClr val="FE5000"/>
                </a:solidFill>
                <a:latin typeface="DejaVu Sans"/>
                <a:ea typeface="DejaVu Sans"/>
                <a:cs typeface="DejaVu Sans"/>
              </a:rPr>
              <a:t>All depots</a:t>
            </a:r>
          </a:p>
        </p:txBody>
      </p:sp>
      <p:sp>
        <p:nvSpPr>
          <p:cNvPr id="23" name="Rectangle 22">
            <a:extLst>
              <a:ext uri="{FF2B5EF4-FFF2-40B4-BE49-F238E27FC236}">
                <a16:creationId xmlns:a16="http://schemas.microsoft.com/office/drawing/2014/main" id="{38D8303C-B8E6-4FFB-98E5-600E1D372D44}"/>
              </a:ext>
            </a:extLst>
          </p:cNvPr>
          <p:cNvSpPr>
            <a:spLocks noGrp="1"/>
          </p:cNvSpPr>
          <p:nvPr/>
        </p:nvSpPr>
        <p:spPr>
          <a:xfrm>
            <a:off x="5372100" y="2238375"/>
            <a:ext cx="1209675" cy="247650"/>
          </a:xfrm>
          <a:prstGeom prst="rect">
            <a:avLst/>
          </a:prstGeom>
          <a:solidFill>
            <a:srgbClr val="FFFFFF"/>
          </a:solidFill>
          <a:ln w="0">
            <a:noFill/>
          </a:ln>
        </p:spPr>
        <p:txBody>
          <a:bodyPr/>
          <a:lstStyle/>
          <a:p>
            <a:endParaRPr lang="en-GH"/>
          </a:p>
        </p:txBody>
      </p:sp>
      <p:sp>
        <p:nvSpPr>
          <p:cNvPr id="24" name="Rectangle 23">
            <a:extLst>
              <a:ext uri="{FF2B5EF4-FFF2-40B4-BE49-F238E27FC236}">
                <a16:creationId xmlns:a16="http://schemas.microsoft.com/office/drawing/2014/main" id="{D3868F26-3322-4993-991A-E01B41680078}"/>
              </a:ext>
            </a:extLst>
          </p:cNvPr>
          <p:cNvSpPr>
            <a:spLocks noGrp="1"/>
          </p:cNvSpPr>
          <p:nvPr/>
        </p:nvSpPr>
        <p:spPr>
          <a:xfrm>
            <a:off x="5448300" y="2286000"/>
            <a:ext cx="1057275" cy="190500"/>
          </a:xfrm>
          <a:prstGeom prst="rect">
            <a:avLst/>
          </a:prstGeom>
          <a:noFill/>
          <a:ln w="0">
            <a:noFill/>
          </a:ln>
        </p:spPr>
        <p:txBody>
          <a:bodyPr lIns="0" tIns="0" rIns="0" bIns="0">
            <a:noAutofit/>
          </a:bodyPr>
          <a:lstStyle/>
          <a:p>
            <a:pPr>
              <a:defRPr sz="900" b="1">
                <a:solidFill>
                  <a:srgbClr val="FE5000"/>
                </a:solidFill>
                <a:latin typeface="DejaVu Sans"/>
                <a:ea typeface="DejaVu Sans"/>
                <a:cs typeface="DejaVu Sans"/>
              </a:defRPr>
            </a:pPr>
            <a:r>
              <a:rPr sz="900" b="1">
                <a:solidFill>
                  <a:srgbClr val="FE5000"/>
                </a:solidFill>
                <a:latin typeface="DejaVu Sans"/>
                <a:ea typeface="DejaVu Sans"/>
                <a:cs typeface="DejaVu Sans"/>
              </a:rPr>
              <a:t>Today</a:t>
            </a:r>
          </a:p>
        </p:txBody>
      </p:sp>
      <p:sp>
        <p:nvSpPr>
          <p:cNvPr id="25" name="Rectangle 24">
            <a:extLst>
              <a:ext uri="{FF2B5EF4-FFF2-40B4-BE49-F238E27FC236}">
                <a16:creationId xmlns:a16="http://schemas.microsoft.com/office/drawing/2014/main" id="{BA39C8D4-5F1E-483D-8651-B911EEAE7467}"/>
              </a:ext>
            </a:extLst>
          </p:cNvPr>
          <p:cNvSpPr>
            <a:spLocks noGrp="1"/>
          </p:cNvSpPr>
          <p:nvPr/>
        </p:nvSpPr>
        <p:spPr>
          <a:xfrm>
            <a:off x="7791450" y="2238375"/>
            <a:ext cx="1562100" cy="247650"/>
          </a:xfrm>
          <a:prstGeom prst="rect">
            <a:avLst/>
          </a:prstGeom>
          <a:solidFill>
            <a:srgbClr val="FE5000"/>
          </a:solidFill>
          <a:ln w="0">
            <a:noFill/>
          </a:ln>
        </p:spPr>
        <p:txBody>
          <a:bodyPr/>
          <a:lstStyle/>
          <a:p>
            <a:endParaRPr lang="en-GH"/>
          </a:p>
        </p:txBody>
      </p:sp>
      <p:sp>
        <p:nvSpPr>
          <p:cNvPr id="26" name="Rectangle 25">
            <a:extLst>
              <a:ext uri="{FF2B5EF4-FFF2-40B4-BE49-F238E27FC236}">
                <a16:creationId xmlns:a16="http://schemas.microsoft.com/office/drawing/2014/main" id="{9D32CE27-808E-4B7E-A8C4-C64FB595DAB7}"/>
              </a:ext>
            </a:extLst>
          </p:cNvPr>
          <p:cNvSpPr>
            <a:spLocks noGrp="1"/>
          </p:cNvSpPr>
          <p:nvPr/>
        </p:nvSpPr>
        <p:spPr>
          <a:xfrm>
            <a:off x="7867650" y="2286000"/>
            <a:ext cx="1409700" cy="190500"/>
          </a:xfrm>
          <a:prstGeom prst="rect">
            <a:avLst/>
          </a:prstGeom>
          <a:noFill/>
          <a:ln w="0">
            <a:noFill/>
          </a:ln>
        </p:spPr>
        <p:txBody>
          <a:bodyPr lIns="0" tIns="0" rIns="0" bIns="0">
            <a:noAutofit/>
          </a:bodyPr>
          <a:lstStyle/>
          <a:p>
            <a:pP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Export report</a:t>
            </a:r>
          </a:p>
        </p:txBody>
      </p:sp>
      <p:sp>
        <p:nvSpPr>
          <p:cNvPr id="27" name="Rectangle 26">
            <a:extLst>
              <a:ext uri="{FF2B5EF4-FFF2-40B4-BE49-F238E27FC236}">
                <a16:creationId xmlns:a16="http://schemas.microsoft.com/office/drawing/2014/main" id="{05A4336D-182E-4EAC-A422-F93E58AD58AF}"/>
              </a:ext>
            </a:extLst>
          </p:cNvPr>
          <p:cNvSpPr>
            <a:spLocks noGrp="1"/>
          </p:cNvSpPr>
          <p:nvPr/>
        </p:nvSpPr>
        <p:spPr>
          <a:xfrm>
            <a:off x="2257425" y="2657475"/>
            <a:ext cx="1685925" cy="847725"/>
          </a:xfrm>
          <a:prstGeom prst="rect">
            <a:avLst/>
          </a:prstGeom>
          <a:solidFill>
            <a:srgbClr val="FFFFFF"/>
          </a:solidFill>
          <a:ln w="0">
            <a:noFill/>
          </a:ln>
        </p:spPr>
        <p:txBody>
          <a:bodyPr/>
          <a:lstStyle/>
          <a:p>
            <a:endParaRPr lang="en-GH"/>
          </a:p>
        </p:txBody>
      </p:sp>
      <p:sp>
        <p:nvSpPr>
          <p:cNvPr id="28" name="Rectangle 27">
            <a:extLst>
              <a:ext uri="{FF2B5EF4-FFF2-40B4-BE49-F238E27FC236}">
                <a16:creationId xmlns:a16="http://schemas.microsoft.com/office/drawing/2014/main" id="{2C6D1E4E-FE9A-4D21-944A-C3A55C122676}"/>
              </a:ext>
            </a:extLst>
          </p:cNvPr>
          <p:cNvSpPr>
            <a:spLocks noGrp="1"/>
          </p:cNvSpPr>
          <p:nvPr/>
        </p:nvSpPr>
        <p:spPr>
          <a:xfrm>
            <a:off x="2381250" y="2762250"/>
            <a:ext cx="1495425" cy="361950"/>
          </a:xfrm>
          <a:prstGeom prst="rect">
            <a:avLst/>
          </a:prstGeom>
          <a:noFill/>
          <a:ln w="0">
            <a:noFill/>
          </a:ln>
        </p:spPr>
        <p:txBody>
          <a:bodyPr lIns="0" tIns="0" rIns="0" bIns="0">
            <a:noAutofit/>
          </a:bodyPr>
          <a:lstStyle/>
          <a:p>
            <a:pPr>
              <a:defRPr sz="2175" b="1">
                <a:solidFill>
                  <a:srgbClr val="FE5000"/>
                </a:solidFill>
                <a:latin typeface="DejaVu Sans"/>
                <a:ea typeface="DejaVu Sans"/>
                <a:cs typeface="DejaVu Sans"/>
              </a:defRPr>
            </a:pPr>
            <a:r>
              <a:rPr sz="2175" b="1">
                <a:solidFill>
                  <a:srgbClr val="FE5000"/>
                </a:solidFill>
                <a:latin typeface="DejaVu Sans"/>
                <a:ea typeface="DejaVu Sans"/>
                <a:cs typeface="DejaVu Sans"/>
              </a:rPr>
              <a:t>32 / 50</a:t>
            </a:r>
          </a:p>
        </p:txBody>
      </p:sp>
      <p:sp>
        <p:nvSpPr>
          <p:cNvPr id="29" name="Rectangle 28">
            <a:extLst>
              <a:ext uri="{FF2B5EF4-FFF2-40B4-BE49-F238E27FC236}">
                <a16:creationId xmlns:a16="http://schemas.microsoft.com/office/drawing/2014/main" id="{D28A025B-D00C-4C81-A78B-81DE6637ED26}"/>
              </a:ext>
            </a:extLst>
          </p:cNvPr>
          <p:cNvSpPr>
            <a:spLocks noGrp="1"/>
          </p:cNvSpPr>
          <p:nvPr/>
        </p:nvSpPr>
        <p:spPr>
          <a:xfrm>
            <a:off x="2381250" y="3200400"/>
            <a:ext cx="1495425" cy="238125"/>
          </a:xfrm>
          <a:prstGeom prst="rect">
            <a:avLst/>
          </a:prstGeom>
          <a:noFill/>
          <a:ln w="0">
            <a:noFill/>
          </a:ln>
        </p:spPr>
        <p:txBody>
          <a:bodyPr lIns="0" tIns="0" rIns="0" bIns="0">
            <a:noAutofit/>
          </a:bodyPr>
          <a:lstStyle/>
          <a:p>
            <a:pPr>
              <a:defRPr sz="900" b="0">
                <a:solidFill>
                  <a:srgbClr val="5E5E5E"/>
                </a:solidFill>
                <a:latin typeface="DejaVu Sans"/>
                <a:ea typeface="DejaVu Sans"/>
                <a:cs typeface="DejaVu Sans"/>
              </a:defRPr>
            </a:pPr>
            <a:r>
              <a:rPr sz="900" b="0">
                <a:solidFill>
                  <a:srgbClr val="5E5E5E"/>
                </a:solidFill>
                <a:latin typeface="DejaVu Sans"/>
                <a:ea typeface="DejaVu Sans"/>
                <a:cs typeface="DejaVu Sans"/>
              </a:rPr>
              <a:t>Depots complete</a:t>
            </a:r>
          </a:p>
        </p:txBody>
      </p:sp>
      <p:sp>
        <p:nvSpPr>
          <p:cNvPr id="30" name="Rectangle 29">
            <a:extLst>
              <a:ext uri="{FF2B5EF4-FFF2-40B4-BE49-F238E27FC236}">
                <a16:creationId xmlns:a16="http://schemas.microsoft.com/office/drawing/2014/main" id="{E8B1AC88-5333-41B8-8CB0-5D6BBBA90E67}"/>
              </a:ext>
            </a:extLst>
          </p:cNvPr>
          <p:cNvSpPr>
            <a:spLocks noGrp="1"/>
          </p:cNvSpPr>
          <p:nvPr/>
        </p:nvSpPr>
        <p:spPr>
          <a:xfrm>
            <a:off x="4057650" y="2657475"/>
            <a:ext cx="1685925" cy="847725"/>
          </a:xfrm>
          <a:prstGeom prst="rect">
            <a:avLst/>
          </a:prstGeom>
          <a:solidFill>
            <a:srgbClr val="FFFFFF"/>
          </a:solidFill>
          <a:ln w="0">
            <a:noFill/>
          </a:ln>
        </p:spPr>
        <p:txBody>
          <a:bodyPr/>
          <a:lstStyle/>
          <a:p>
            <a:endParaRPr lang="en-GH"/>
          </a:p>
        </p:txBody>
      </p:sp>
      <p:sp>
        <p:nvSpPr>
          <p:cNvPr id="31" name="Rectangle 30">
            <a:extLst>
              <a:ext uri="{FF2B5EF4-FFF2-40B4-BE49-F238E27FC236}">
                <a16:creationId xmlns:a16="http://schemas.microsoft.com/office/drawing/2014/main" id="{674B8476-96F9-4600-93B8-199070E24518}"/>
              </a:ext>
            </a:extLst>
          </p:cNvPr>
          <p:cNvSpPr>
            <a:spLocks noGrp="1"/>
          </p:cNvSpPr>
          <p:nvPr/>
        </p:nvSpPr>
        <p:spPr>
          <a:xfrm>
            <a:off x="4181475" y="2762250"/>
            <a:ext cx="1495425" cy="361950"/>
          </a:xfrm>
          <a:prstGeom prst="rect">
            <a:avLst/>
          </a:prstGeom>
          <a:noFill/>
          <a:ln w="0">
            <a:noFill/>
          </a:ln>
        </p:spPr>
        <p:txBody>
          <a:bodyPr lIns="0" tIns="0" rIns="0" bIns="0">
            <a:noAutofit/>
          </a:bodyPr>
          <a:lstStyle/>
          <a:p>
            <a:pPr>
              <a:defRPr sz="2175" b="1">
                <a:solidFill>
                  <a:srgbClr val="FE5000"/>
                </a:solidFill>
                <a:latin typeface="DejaVu Sans"/>
                <a:ea typeface="DejaVu Sans"/>
                <a:cs typeface="DejaVu Sans"/>
              </a:defRPr>
            </a:pPr>
            <a:r>
              <a:rPr sz="2175" b="1">
                <a:solidFill>
                  <a:srgbClr val="FE5000"/>
                </a:solidFill>
                <a:latin typeface="DejaVu Sans"/>
                <a:ea typeface="DejaVu Sans"/>
                <a:cs typeface="DejaVu Sans"/>
              </a:rPr>
              <a:t>18</a:t>
            </a:r>
          </a:p>
        </p:txBody>
      </p:sp>
      <p:sp>
        <p:nvSpPr>
          <p:cNvPr id="32" name="Rectangle 31">
            <a:extLst>
              <a:ext uri="{FF2B5EF4-FFF2-40B4-BE49-F238E27FC236}">
                <a16:creationId xmlns:a16="http://schemas.microsoft.com/office/drawing/2014/main" id="{C4023405-CFD7-4EBB-9921-BC14AB8F0080}"/>
              </a:ext>
            </a:extLst>
          </p:cNvPr>
          <p:cNvSpPr>
            <a:spLocks noGrp="1"/>
          </p:cNvSpPr>
          <p:nvPr/>
        </p:nvSpPr>
        <p:spPr>
          <a:xfrm>
            <a:off x="4181475" y="3200400"/>
            <a:ext cx="1495425" cy="238125"/>
          </a:xfrm>
          <a:prstGeom prst="rect">
            <a:avLst/>
          </a:prstGeom>
          <a:noFill/>
          <a:ln w="0">
            <a:noFill/>
          </a:ln>
        </p:spPr>
        <p:txBody>
          <a:bodyPr lIns="0" tIns="0" rIns="0" bIns="0">
            <a:noAutofit/>
          </a:bodyPr>
          <a:lstStyle/>
          <a:p>
            <a:pPr>
              <a:defRPr sz="900" b="0">
                <a:solidFill>
                  <a:srgbClr val="5E5E5E"/>
                </a:solidFill>
                <a:latin typeface="DejaVu Sans"/>
                <a:ea typeface="DejaVu Sans"/>
                <a:cs typeface="DejaVu Sans"/>
              </a:defRPr>
            </a:pPr>
            <a:r>
              <a:rPr sz="900" b="0">
                <a:solidFill>
                  <a:srgbClr val="5E5E5E"/>
                </a:solidFill>
                <a:latin typeface="DejaVu Sans"/>
                <a:ea typeface="DejaVu Sans"/>
                <a:cs typeface="DejaVu Sans"/>
              </a:rPr>
              <a:t>Records to review</a:t>
            </a:r>
          </a:p>
        </p:txBody>
      </p:sp>
      <p:sp>
        <p:nvSpPr>
          <p:cNvPr id="33" name="Rectangle 32">
            <a:extLst>
              <a:ext uri="{FF2B5EF4-FFF2-40B4-BE49-F238E27FC236}">
                <a16:creationId xmlns:a16="http://schemas.microsoft.com/office/drawing/2014/main" id="{5709CB4E-D2BD-4CB8-85B3-120512DB8F7A}"/>
              </a:ext>
            </a:extLst>
          </p:cNvPr>
          <p:cNvSpPr>
            <a:spLocks noGrp="1"/>
          </p:cNvSpPr>
          <p:nvPr/>
        </p:nvSpPr>
        <p:spPr>
          <a:xfrm>
            <a:off x="5857875" y="2657475"/>
            <a:ext cx="1685925" cy="847725"/>
          </a:xfrm>
          <a:prstGeom prst="rect">
            <a:avLst/>
          </a:prstGeom>
          <a:solidFill>
            <a:srgbClr val="FFFFFF"/>
          </a:solidFill>
          <a:ln w="0">
            <a:noFill/>
          </a:ln>
        </p:spPr>
        <p:txBody>
          <a:bodyPr/>
          <a:lstStyle/>
          <a:p>
            <a:endParaRPr lang="en-GH"/>
          </a:p>
        </p:txBody>
      </p:sp>
      <p:sp>
        <p:nvSpPr>
          <p:cNvPr id="34" name="Rectangle 33">
            <a:extLst>
              <a:ext uri="{FF2B5EF4-FFF2-40B4-BE49-F238E27FC236}">
                <a16:creationId xmlns:a16="http://schemas.microsoft.com/office/drawing/2014/main" id="{8B74D1A7-DF7F-4308-B530-AB56FB1E5D93}"/>
              </a:ext>
            </a:extLst>
          </p:cNvPr>
          <p:cNvSpPr>
            <a:spLocks noGrp="1"/>
          </p:cNvSpPr>
          <p:nvPr/>
        </p:nvSpPr>
        <p:spPr>
          <a:xfrm>
            <a:off x="5981700" y="2762250"/>
            <a:ext cx="1495425" cy="361950"/>
          </a:xfrm>
          <a:prstGeom prst="rect">
            <a:avLst/>
          </a:prstGeom>
          <a:noFill/>
          <a:ln w="0">
            <a:noFill/>
          </a:ln>
        </p:spPr>
        <p:txBody>
          <a:bodyPr lIns="0" tIns="0" rIns="0" bIns="0">
            <a:noAutofit/>
          </a:bodyPr>
          <a:lstStyle/>
          <a:p>
            <a:pPr>
              <a:defRPr sz="2175" b="1">
                <a:solidFill>
                  <a:srgbClr val="FE5000"/>
                </a:solidFill>
                <a:latin typeface="DejaVu Sans"/>
                <a:ea typeface="DejaVu Sans"/>
                <a:cs typeface="DejaVu Sans"/>
              </a:defRPr>
            </a:pPr>
            <a:r>
              <a:rPr sz="2175" b="1">
                <a:solidFill>
                  <a:srgbClr val="FE5000"/>
                </a:solidFill>
                <a:latin typeface="DejaVu Sans"/>
                <a:ea typeface="DejaVu Sans"/>
                <a:cs typeface="DejaVu Sans"/>
              </a:rPr>
              <a:t>6</a:t>
            </a:r>
          </a:p>
        </p:txBody>
      </p:sp>
      <p:sp>
        <p:nvSpPr>
          <p:cNvPr id="35" name="Rectangle 34">
            <a:extLst>
              <a:ext uri="{FF2B5EF4-FFF2-40B4-BE49-F238E27FC236}">
                <a16:creationId xmlns:a16="http://schemas.microsoft.com/office/drawing/2014/main" id="{BCAE6AE0-839B-4AF2-8123-F946957F7E39}"/>
              </a:ext>
            </a:extLst>
          </p:cNvPr>
          <p:cNvSpPr>
            <a:spLocks noGrp="1"/>
          </p:cNvSpPr>
          <p:nvPr/>
        </p:nvSpPr>
        <p:spPr>
          <a:xfrm>
            <a:off x="5981700" y="3200400"/>
            <a:ext cx="1495425" cy="238125"/>
          </a:xfrm>
          <a:prstGeom prst="rect">
            <a:avLst/>
          </a:prstGeom>
          <a:noFill/>
          <a:ln w="0">
            <a:noFill/>
          </a:ln>
        </p:spPr>
        <p:txBody>
          <a:bodyPr lIns="0" tIns="0" rIns="0" bIns="0">
            <a:noAutofit/>
          </a:bodyPr>
          <a:lstStyle/>
          <a:p>
            <a:pPr>
              <a:defRPr sz="900" b="0">
                <a:solidFill>
                  <a:srgbClr val="5E5E5E"/>
                </a:solidFill>
                <a:latin typeface="DejaVu Sans"/>
                <a:ea typeface="DejaVu Sans"/>
                <a:cs typeface="DejaVu Sans"/>
              </a:defRPr>
            </a:pPr>
            <a:r>
              <a:rPr sz="900" b="0">
                <a:solidFill>
                  <a:srgbClr val="5E5E5E"/>
                </a:solidFill>
                <a:latin typeface="DejaVu Sans"/>
                <a:ea typeface="DejaVu Sans"/>
                <a:cs typeface="DejaVu Sans"/>
              </a:rPr>
              <a:t>Quality holds</a:t>
            </a:r>
          </a:p>
        </p:txBody>
      </p:sp>
      <p:sp>
        <p:nvSpPr>
          <p:cNvPr id="36" name="Rectangle 35">
            <a:extLst>
              <a:ext uri="{FF2B5EF4-FFF2-40B4-BE49-F238E27FC236}">
                <a16:creationId xmlns:a16="http://schemas.microsoft.com/office/drawing/2014/main" id="{FBDC8001-5083-47F8-82EB-9D423A71FBC3}"/>
              </a:ext>
            </a:extLst>
          </p:cNvPr>
          <p:cNvSpPr>
            <a:spLocks noGrp="1"/>
          </p:cNvSpPr>
          <p:nvPr/>
        </p:nvSpPr>
        <p:spPr>
          <a:xfrm>
            <a:off x="7658100" y="2657475"/>
            <a:ext cx="1685925" cy="847725"/>
          </a:xfrm>
          <a:prstGeom prst="rect">
            <a:avLst/>
          </a:prstGeom>
          <a:solidFill>
            <a:srgbClr val="FFFFFF"/>
          </a:solidFill>
          <a:ln w="0">
            <a:noFill/>
          </a:ln>
        </p:spPr>
        <p:txBody>
          <a:bodyPr/>
          <a:lstStyle/>
          <a:p>
            <a:endParaRPr lang="en-GH"/>
          </a:p>
        </p:txBody>
      </p:sp>
      <p:sp>
        <p:nvSpPr>
          <p:cNvPr id="37" name="Rectangle 36">
            <a:extLst>
              <a:ext uri="{FF2B5EF4-FFF2-40B4-BE49-F238E27FC236}">
                <a16:creationId xmlns:a16="http://schemas.microsoft.com/office/drawing/2014/main" id="{A4F1FE97-D48F-4D99-9845-9BF2B6698D25}"/>
              </a:ext>
            </a:extLst>
          </p:cNvPr>
          <p:cNvSpPr>
            <a:spLocks noGrp="1"/>
          </p:cNvSpPr>
          <p:nvPr/>
        </p:nvSpPr>
        <p:spPr>
          <a:xfrm>
            <a:off x="7781925" y="2762250"/>
            <a:ext cx="1495425" cy="361950"/>
          </a:xfrm>
          <a:prstGeom prst="rect">
            <a:avLst/>
          </a:prstGeom>
          <a:noFill/>
          <a:ln w="0">
            <a:noFill/>
          </a:ln>
        </p:spPr>
        <p:txBody>
          <a:bodyPr lIns="0" tIns="0" rIns="0" bIns="0">
            <a:noAutofit/>
          </a:bodyPr>
          <a:lstStyle/>
          <a:p>
            <a:pPr>
              <a:defRPr sz="2175" b="1">
                <a:solidFill>
                  <a:srgbClr val="FE5000"/>
                </a:solidFill>
                <a:latin typeface="DejaVu Sans"/>
                <a:ea typeface="DejaVu Sans"/>
                <a:cs typeface="DejaVu Sans"/>
              </a:defRPr>
            </a:pPr>
            <a:r>
              <a:rPr sz="2175" b="1">
                <a:solidFill>
                  <a:srgbClr val="FE5000"/>
                </a:solidFill>
                <a:latin typeface="DejaVu Sans"/>
                <a:ea typeface="DejaVu Sans"/>
                <a:cs typeface="DejaVu Sans"/>
              </a:rPr>
              <a:t>3</a:t>
            </a:r>
          </a:p>
        </p:txBody>
      </p:sp>
      <p:sp>
        <p:nvSpPr>
          <p:cNvPr id="38" name="Rectangle 37">
            <a:extLst>
              <a:ext uri="{FF2B5EF4-FFF2-40B4-BE49-F238E27FC236}">
                <a16:creationId xmlns:a16="http://schemas.microsoft.com/office/drawing/2014/main" id="{2B0C007E-9C26-4A69-897B-0FE94DBE6801}"/>
              </a:ext>
            </a:extLst>
          </p:cNvPr>
          <p:cNvSpPr>
            <a:spLocks noGrp="1"/>
          </p:cNvSpPr>
          <p:nvPr/>
        </p:nvSpPr>
        <p:spPr>
          <a:xfrm>
            <a:off x="7781925" y="3200400"/>
            <a:ext cx="1495425" cy="238125"/>
          </a:xfrm>
          <a:prstGeom prst="rect">
            <a:avLst/>
          </a:prstGeom>
          <a:noFill/>
          <a:ln w="0">
            <a:noFill/>
          </a:ln>
        </p:spPr>
        <p:txBody>
          <a:bodyPr lIns="0" tIns="0" rIns="0" bIns="0">
            <a:noAutofit/>
          </a:bodyPr>
          <a:lstStyle/>
          <a:p>
            <a:pPr>
              <a:defRPr sz="900" b="0">
                <a:solidFill>
                  <a:srgbClr val="5E5E5E"/>
                </a:solidFill>
                <a:latin typeface="DejaVu Sans"/>
                <a:ea typeface="DejaVu Sans"/>
                <a:cs typeface="DejaVu Sans"/>
              </a:defRPr>
            </a:pPr>
            <a:r>
              <a:rPr sz="900" b="0">
                <a:solidFill>
                  <a:srgbClr val="5E5E5E"/>
                </a:solidFill>
                <a:latin typeface="DejaVu Sans"/>
                <a:ea typeface="DejaVu Sans"/>
                <a:cs typeface="DejaVu Sans"/>
              </a:rPr>
              <a:t>Depots with sync delay</a:t>
            </a:r>
          </a:p>
        </p:txBody>
      </p:sp>
      <p:graphicFrame>
        <p:nvGraphicFramePr>
          <p:cNvPr id="93" name="Table 92"/>
          <p:cNvGraphicFramePr/>
          <p:nvPr/>
        </p:nvGraphicFramePr>
        <p:xfrm>
          <a:off x="2257425" y="3705225"/>
          <a:ext cx="4324350" cy="1781175"/>
        </p:xfrm>
        <a:graphic>
          <a:graphicData uri="http://schemas.openxmlformats.org/drawingml/2006/table">
            <a:tbl>
              <a:tblPr/>
              <a:tblGrid>
                <a:gridCol w="1095375">
                  <a:extLst>
                    <a:ext uri="{9D8B030D-6E8A-4147-A177-3AD203B41FA5}">
                      <a16:colId xmlns:a16="http://schemas.microsoft.com/office/drawing/2014/main" val="20000"/>
                    </a:ext>
                  </a:extLst>
                </a:gridCol>
                <a:gridCol w="1019175">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356235">
                <a:tc>
                  <a:txBody>
                    <a:bodyPr/>
                    <a:lstStyle/>
                    <a:p>
                      <a:r>
                        <a:rPr sz="900" b="1">
                          <a:solidFill>
                            <a:srgbClr val="FFFFFF"/>
                          </a:solidFill>
                          <a:latin typeface="DejaVu Sans"/>
                          <a:ea typeface="DejaVu Sans"/>
                          <a:cs typeface="DejaVu Sans"/>
                        </a:rPr>
                        <a:t>Depot</a:t>
                      </a:r>
                    </a:p>
                  </a:txBody>
                  <a:tcPr>
                    <a:solidFill>
                      <a:srgbClr val="FE5000"/>
                    </a:solidFill>
                  </a:tcPr>
                </a:tc>
                <a:tc>
                  <a:txBody>
                    <a:bodyPr/>
                    <a:lstStyle/>
                    <a:p>
                      <a:r>
                        <a:rPr sz="900" b="1">
                          <a:solidFill>
                            <a:srgbClr val="FFFFFF"/>
                          </a:solidFill>
                          <a:latin typeface="DejaVu Sans"/>
                          <a:ea typeface="DejaVu Sans"/>
                          <a:cs typeface="DejaVu Sans"/>
                        </a:rPr>
                        <a:t>Coverage</a:t>
                      </a:r>
                    </a:p>
                  </a:txBody>
                  <a:tcPr>
                    <a:solidFill>
                      <a:srgbClr val="FE5000"/>
                    </a:solidFill>
                  </a:tcPr>
                </a:tc>
                <a:tc>
                  <a:txBody>
                    <a:bodyPr/>
                    <a:lstStyle/>
                    <a:p>
                      <a:r>
                        <a:rPr sz="900" b="1">
                          <a:solidFill>
                            <a:srgbClr val="FFFFFF"/>
                          </a:solidFill>
                          <a:latin typeface="DejaVu Sans"/>
                          <a:ea typeface="DejaVu Sans"/>
                          <a:cs typeface="DejaVu Sans"/>
                        </a:rPr>
                        <a:t>Review</a:t>
                      </a:r>
                    </a:p>
                  </a:txBody>
                  <a:tcPr>
                    <a:solidFill>
                      <a:srgbClr val="FE5000"/>
                    </a:solidFill>
                  </a:tcPr>
                </a:tc>
                <a:tc>
                  <a:txBody>
                    <a:bodyPr/>
                    <a:lstStyle/>
                    <a:p>
                      <a:r>
                        <a:rPr sz="900" b="1">
                          <a:solidFill>
                            <a:srgbClr val="FFFFFF"/>
                          </a:solidFill>
                          <a:latin typeface="DejaVu Sans"/>
                          <a:ea typeface="DejaVu Sans"/>
                          <a:cs typeface="DejaVu Sans"/>
                        </a:rPr>
                        <a:t>Last sync</a:t>
                      </a:r>
                    </a:p>
                  </a:txBody>
                  <a:tcPr>
                    <a:solidFill>
                      <a:srgbClr val="FE5000"/>
                    </a:solidFill>
                  </a:tcPr>
                </a:tc>
                <a:extLst>
                  <a:ext uri="{0D108BD9-81ED-4DB2-BD59-A6C34878D82A}">
                    <a16:rowId xmlns:a16="http://schemas.microsoft.com/office/drawing/2014/main" val="10000"/>
                  </a:ext>
                </a:extLst>
              </a:tr>
              <a:tr h="356235">
                <a:tc>
                  <a:txBody>
                    <a:bodyPr/>
                    <a:lstStyle/>
                    <a:p>
                      <a:r>
                        <a:rPr sz="900" b="0">
                          <a:solidFill>
                            <a:srgbClr val="303030"/>
                          </a:solidFill>
                          <a:latin typeface="DejaVu Sans"/>
                          <a:ea typeface="DejaVu Sans"/>
                          <a:cs typeface="DejaVu Sans"/>
                        </a:rPr>
                        <a:t>Accra 014</a:t>
                      </a:r>
                    </a:p>
                  </a:txBody>
                  <a:tcPr>
                    <a:solidFill>
                      <a:srgbClr val="FFFFFF"/>
                    </a:solidFill>
                  </a:tcPr>
                </a:tc>
                <a:tc>
                  <a:txBody>
                    <a:bodyPr/>
                    <a:lstStyle/>
                    <a:p>
                      <a:r>
                        <a:rPr sz="900" b="0">
                          <a:solidFill>
                            <a:srgbClr val="303030"/>
                          </a:solidFill>
                          <a:latin typeface="DejaVu Sans"/>
                          <a:ea typeface="DejaVu Sans"/>
                          <a:cs typeface="DejaVu Sans"/>
                        </a:rPr>
                        <a:t>Complete</a:t>
                      </a:r>
                    </a:p>
                  </a:txBody>
                  <a:tcPr>
                    <a:solidFill>
                      <a:srgbClr val="FFFFFF"/>
                    </a:solidFill>
                  </a:tcPr>
                </a:tc>
                <a:tc>
                  <a:txBody>
                    <a:bodyPr/>
                    <a:lstStyle/>
                    <a:p>
                      <a:r>
                        <a:rPr sz="900" b="0">
                          <a:solidFill>
                            <a:srgbClr val="303030"/>
                          </a:solidFill>
                          <a:latin typeface="DejaVu Sans"/>
                          <a:ea typeface="DejaVu Sans"/>
                          <a:cs typeface="DejaVu Sans"/>
                        </a:rPr>
                        <a:t>Pending</a:t>
                      </a:r>
                    </a:p>
                  </a:txBody>
                  <a:tcPr>
                    <a:solidFill>
                      <a:srgbClr val="FFFFFF"/>
                    </a:solidFill>
                  </a:tcPr>
                </a:tc>
                <a:tc>
                  <a:txBody>
                    <a:bodyPr/>
                    <a:lstStyle/>
                    <a:p>
                      <a:r>
                        <a:rPr sz="900" b="0">
                          <a:solidFill>
                            <a:srgbClr val="303030"/>
                          </a:solidFill>
                          <a:latin typeface="DejaVu Sans"/>
                          <a:ea typeface="DejaVu Sans"/>
                          <a:cs typeface="DejaVu Sans"/>
                        </a:rPr>
                        <a:t>14:32</a:t>
                      </a:r>
                    </a:p>
                  </a:txBody>
                  <a:tcPr>
                    <a:solidFill>
                      <a:srgbClr val="FFFFFF"/>
                    </a:solidFill>
                  </a:tcPr>
                </a:tc>
                <a:extLst>
                  <a:ext uri="{0D108BD9-81ED-4DB2-BD59-A6C34878D82A}">
                    <a16:rowId xmlns:a16="http://schemas.microsoft.com/office/drawing/2014/main" val="10001"/>
                  </a:ext>
                </a:extLst>
              </a:tr>
              <a:tr h="356235">
                <a:tc>
                  <a:txBody>
                    <a:bodyPr/>
                    <a:lstStyle/>
                    <a:p>
                      <a:r>
                        <a:rPr sz="900" b="0">
                          <a:solidFill>
                            <a:srgbClr val="303030"/>
                          </a:solidFill>
                          <a:latin typeface="DejaVu Sans"/>
                          <a:ea typeface="DejaVu Sans"/>
                          <a:cs typeface="DejaVu Sans"/>
                        </a:rPr>
                        <a:t>Kumasi 009</a:t>
                      </a:r>
                    </a:p>
                  </a:txBody>
                  <a:tcPr>
                    <a:solidFill>
                      <a:srgbClr val="FFFFFF"/>
                    </a:solidFill>
                  </a:tcPr>
                </a:tc>
                <a:tc>
                  <a:txBody>
                    <a:bodyPr/>
                    <a:lstStyle/>
                    <a:p>
                      <a:r>
                        <a:rPr sz="900" b="0">
                          <a:solidFill>
                            <a:srgbClr val="303030"/>
                          </a:solidFill>
                          <a:latin typeface="DejaVu Sans"/>
                          <a:ea typeface="DejaVu Sans"/>
                          <a:cs typeface="DejaVu Sans"/>
                        </a:rPr>
                        <a:t>In progress</a:t>
                      </a:r>
                    </a:p>
                  </a:txBody>
                  <a:tcPr>
                    <a:solidFill>
                      <a:srgbClr val="FFFFFF"/>
                    </a:solidFill>
                  </a:tcPr>
                </a:tc>
                <a:tc>
                  <a:txBody>
                    <a:bodyPr/>
                    <a:lstStyle/>
                    <a:p>
                      <a:r>
                        <a:rPr sz="900" b="0">
                          <a:solidFill>
                            <a:srgbClr val="303030"/>
                          </a:solidFill>
                          <a:latin typeface="DejaVu Sans"/>
                          <a:ea typeface="DejaVu Sans"/>
                          <a:cs typeface="DejaVu Sans"/>
                        </a:rPr>
                        <a:t>Hold</a:t>
                      </a:r>
                    </a:p>
                  </a:txBody>
                  <a:tcPr>
                    <a:solidFill>
                      <a:srgbClr val="FFFFFF"/>
                    </a:solidFill>
                  </a:tcPr>
                </a:tc>
                <a:tc>
                  <a:txBody>
                    <a:bodyPr/>
                    <a:lstStyle/>
                    <a:p>
                      <a:r>
                        <a:rPr sz="900" b="0">
                          <a:solidFill>
                            <a:srgbClr val="303030"/>
                          </a:solidFill>
                          <a:latin typeface="DejaVu Sans"/>
                          <a:ea typeface="DejaVu Sans"/>
                          <a:cs typeface="DejaVu Sans"/>
                        </a:rPr>
                        <a:t>14:28</a:t>
                      </a:r>
                    </a:p>
                  </a:txBody>
                  <a:tcPr>
                    <a:solidFill>
                      <a:srgbClr val="FFFFFF"/>
                    </a:solidFill>
                  </a:tcPr>
                </a:tc>
                <a:extLst>
                  <a:ext uri="{0D108BD9-81ED-4DB2-BD59-A6C34878D82A}">
                    <a16:rowId xmlns:a16="http://schemas.microsoft.com/office/drawing/2014/main" val="10002"/>
                  </a:ext>
                </a:extLst>
              </a:tr>
              <a:tr h="356235">
                <a:tc>
                  <a:txBody>
                    <a:bodyPr/>
                    <a:lstStyle/>
                    <a:p>
                      <a:r>
                        <a:rPr sz="900" b="0">
                          <a:solidFill>
                            <a:srgbClr val="303030"/>
                          </a:solidFill>
                          <a:latin typeface="DejaVu Sans"/>
                          <a:ea typeface="DejaVu Sans"/>
                          <a:cs typeface="DejaVu Sans"/>
                        </a:rPr>
                        <a:t>Tamale 006</a:t>
                      </a:r>
                    </a:p>
                  </a:txBody>
                  <a:tcPr>
                    <a:solidFill>
                      <a:srgbClr val="FFFFFF"/>
                    </a:solidFill>
                  </a:tcPr>
                </a:tc>
                <a:tc>
                  <a:txBody>
                    <a:bodyPr/>
                    <a:lstStyle/>
                    <a:p>
                      <a:r>
                        <a:rPr sz="900" b="0">
                          <a:solidFill>
                            <a:srgbClr val="303030"/>
                          </a:solidFill>
                          <a:latin typeface="DejaVu Sans"/>
                          <a:ea typeface="DejaVu Sans"/>
                          <a:cs typeface="DejaVu Sans"/>
                        </a:rPr>
                        <a:t>Complete</a:t>
                      </a:r>
                    </a:p>
                  </a:txBody>
                  <a:tcPr>
                    <a:solidFill>
                      <a:srgbClr val="FFFFFF"/>
                    </a:solidFill>
                  </a:tcPr>
                </a:tc>
                <a:tc>
                  <a:txBody>
                    <a:bodyPr/>
                    <a:lstStyle/>
                    <a:p>
                      <a:r>
                        <a:rPr sz="900" b="0">
                          <a:solidFill>
                            <a:srgbClr val="303030"/>
                          </a:solidFill>
                          <a:latin typeface="DejaVu Sans"/>
                          <a:ea typeface="DejaVu Sans"/>
                          <a:cs typeface="DejaVu Sans"/>
                        </a:rPr>
                        <a:t>Reviewed</a:t>
                      </a:r>
                    </a:p>
                  </a:txBody>
                  <a:tcPr>
                    <a:solidFill>
                      <a:srgbClr val="FFFFFF"/>
                    </a:solidFill>
                  </a:tcPr>
                </a:tc>
                <a:tc>
                  <a:txBody>
                    <a:bodyPr/>
                    <a:lstStyle/>
                    <a:p>
                      <a:r>
                        <a:rPr sz="900" b="0">
                          <a:solidFill>
                            <a:srgbClr val="303030"/>
                          </a:solidFill>
                          <a:latin typeface="DejaVu Sans"/>
                          <a:ea typeface="DejaVu Sans"/>
                          <a:cs typeface="DejaVu Sans"/>
                        </a:rPr>
                        <a:t>14:21</a:t>
                      </a:r>
                    </a:p>
                  </a:txBody>
                  <a:tcPr>
                    <a:solidFill>
                      <a:srgbClr val="FFFFFF"/>
                    </a:solidFill>
                  </a:tcPr>
                </a:tc>
                <a:extLst>
                  <a:ext uri="{0D108BD9-81ED-4DB2-BD59-A6C34878D82A}">
                    <a16:rowId xmlns:a16="http://schemas.microsoft.com/office/drawing/2014/main" val="10003"/>
                  </a:ext>
                </a:extLst>
              </a:tr>
              <a:tr h="356235">
                <a:tc>
                  <a:txBody>
                    <a:bodyPr/>
                    <a:lstStyle/>
                    <a:p>
                      <a:r>
                        <a:rPr sz="900" b="0">
                          <a:solidFill>
                            <a:srgbClr val="303030"/>
                          </a:solidFill>
                          <a:latin typeface="DejaVu Sans"/>
                          <a:ea typeface="DejaVu Sans"/>
                          <a:cs typeface="DejaVu Sans"/>
                        </a:rPr>
                        <a:t>Ho 003</a:t>
                      </a:r>
                    </a:p>
                  </a:txBody>
                  <a:tcPr>
                    <a:solidFill>
                      <a:srgbClr val="FFFFFF"/>
                    </a:solidFill>
                  </a:tcPr>
                </a:tc>
                <a:tc>
                  <a:txBody>
                    <a:bodyPr/>
                    <a:lstStyle/>
                    <a:p>
                      <a:r>
                        <a:rPr sz="900" b="0">
                          <a:solidFill>
                            <a:srgbClr val="303030"/>
                          </a:solidFill>
                          <a:latin typeface="DejaVu Sans"/>
                          <a:ea typeface="DejaVu Sans"/>
                          <a:cs typeface="DejaVu Sans"/>
                        </a:rPr>
                        <a:t>In progress</a:t>
                      </a:r>
                    </a:p>
                  </a:txBody>
                  <a:tcPr>
                    <a:solidFill>
                      <a:srgbClr val="FFFFFF"/>
                    </a:solidFill>
                  </a:tcPr>
                </a:tc>
                <a:tc>
                  <a:txBody>
                    <a:bodyPr/>
                    <a:lstStyle/>
                    <a:p>
                      <a:r>
                        <a:rPr sz="900" b="0">
                          <a:solidFill>
                            <a:srgbClr val="303030"/>
                          </a:solidFill>
                          <a:latin typeface="DejaVu Sans"/>
                          <a:ea typeface="DejaVu Sans"/>
                          <a:cs typeface="DejaVu Sans"/>
                        </a:rPr>
                        <a:t>Pending</a:t>
                      </a:r>
                    </a:p>
                  </a:txBody>
                  <a:tcPr>
                    <a:solidFill>
                      <a:srgbClr val="FFFFFF"/>
                    </a:solidFill>
                  </a:tcPr>
                </a:tc>
                <a:tc>
                  <a:txBody>
                    <a:bodyPr/>
                    <a:lstStyle/>
                    <a:p>
                      <a:r>
                        <a:rPr sz="900" b="0">
                          <a:solidFill>
                            <a:srgbClr val="303030"/>
                          </a:solidFill>
                          <a:latin typeface="DejaVu Sans"/>
                          <a:ea typeface="DejaVu Sans"/>
                          <a:cs typeface="DejaVu Sans"/>
                        </a:rPr>
                        <a:t>12:05</a:t>
                      </a:r>
                    </a:p>
                  </a:txBody>
                  <a:tcPr>
                    <a:solidFill>
                      <a:srgbClr val="FFFFFF"/>
                    </a:solidFill>
                  </a:tcPr>
                </a:tc>
                <a:extLst>
                  <a:ext uri="{0D108BD9-81ED-4DB2-BD59-A6C34878D82A}">
                    <a16:rowId xmlns:a16="http://schemas.microsoft.com/office/drawing/2014/main" val="10004"/>
                  </a:ext>
                </a:extLst>
              </a:tr>
            </a:tbl>
          </a:graphicData>
        </a:graphic>
      </p:graphicFrame>
      <p:sp>
        <p:nvSpPr>
          <p:cNvPr id="40" name="Rectangle 39">
            <a:extLst>
              <a:ext uri="{FF2B5EF4-FFF2-40B4-BE49-F238E27FC236}">
                <a16:creationId xmlns:a16="http://schemas.microsoft.com/office/drawing/2014/main" id="{7527D54E-A03F-4B31-94BA-89B14963E10E}"/>
              </a:ext>
            </a:extLst>
          </p:cNvPr>
          <p:cNvSpPr>
            <a:spLocks noGrp="1"/>
          </p:cNvSpPr>
          <p:nvPr/>
        </p:nvSpPr>
        <p:spPr>
          <a:xfrm>
            <a:off x="6743700" y="3705225"/>
            <a:ext cx="2609850" cy="2171700"/>
          </a:xfrm>
          <a:prstGeom prst="rect">
            <a:avLst/>
          </a:prstGeom>
          <a:solidFill>
            <a:srgbClr val="FFFFFF"/>
          </a:solidFill>
          <a:ln w="9525">
            <a:solidFill>
              <a:srgbClr val="E0E0E0"/>
            </a:solidFill>
          </a:ln>
        </p:spPr>
        <p:txBody>
          <a:bodyPr/>
          <a:lstStyle/>
          <a:p>
            <a:endParaRPr lang="en-GH"/>
          </a:p>
        </p:txBody>
      </p:sp>
      <p:sp>
        <p:nvSpPr>
          <p:cNvPr id="41" name="Rectangle 40">
            <a:extLst>
              <a:ext uri="{FF2B5EF4-FFF2-40B4-BE49-F238E27FC236}">
                <a16:creationId xmlns:a16="http://schemas.microsoft.com/office/drawing/2014/main" id="{8C0F6FDC-7C76-47DA-9414-A34AC6E0BD70}"/>
              </a:ext>
            </a:extLst>
          </p:cNvPr>
          <p:cNvSpPr>
            <a:spLocks noGrp="1"/>
          </p:cNvSpPr>
          <p:nvPr/>
        </p:nvSpPr>
        <p:spPr>
          <a:xfrm>
            <a:off x="6886575" y="3829050"/>
            <a:ext cx="2314575" cy="238125"/>
          </a:xfrm>
          <a:prstGeom prst="rect">
            <a:avLst/>
          </a:prstGeom>
          <a:noFill/>
          <a:ln w="0">
            <a:noFill/>
          </a:ln>
        </p:spPr>
        <p:txBody>
          <a:bodyPr lIns="0" tIns="0" rIns="0" bIns="0">
            <a:noAutofit/>
          </a:bodyPr>
          <a:lstStyle/>
          <a:p>
            <a:pPr>
              <a:defRPr sz="1275" b="1">
                <a:solidFill>
                  <a:srgbClr val="303030"/>
                </a:solidFill>
                <a:latin typeface="DejaVu Sans"/>
                <a:ea typeface="DejaVu Sans"/>
                <a:cs typeface="DejaVu Sans"/>
              </a:defRPr>
            </a:pPr>
            <a:r>
              <a:rPr sz="1275" b="1">
                <a:solidFill>
                  <a:srgbClr val="303030"/>
                </a:solidFill>
                <a:latin typeface="DejaVu Sans"/>
                <a:ea typeface="DejaVu Sans"/>
                <a:cs typeface="DejaVu Sans"/>
              </a:rPr>
              <a:t>Record GH 014 007</a:t>
            </a:r>
          </a:p>
        </p:txBody>
      </p:sp>
      <p:sp>
        <p:nvSpPr>
          <p:cNvPr id="42" name="Rectangle 41">
            <a:extLst>
              <a:ext uri="{FF2B5EF4-FFF2-40B4-BE49-F238E27FC236}">
                <a16:creationId xmlns:a16="http://schemas.microsoft.com/office/drawing/2014/main" id="{F825793A-D5D4-4435-B360-89C069B1FACC}"/>
              </a:ext>
            </a:extLst>
          </p:cNvPr>
          <p:cNvSpPr>
            <a:spLocks noGrp="1"/>
          </p:cNvSpPr>
          <p:nvPr/>
        </p:nvSpPr>
        <p:spPr>
          <a:xfrm>
            <a:off x="6886575" y="4162425"/>
            <a:ext cx="2324100" cy="247650"/>
          </a:xfrm>
          <a:prstGeom prst="rect">
            <a:avLst/>
          </a:prstGeom>
          <a:solidFill>
            <a:srgbClr val="FFF4DF"/>
          </a:solidFill>
          <a:ln w="0">
            <a:noFill/>
          </a:ln>
        </p:spPr>
        <p:txBody>
          <a:bodyPr/>
          <a:lstStyle/>
          <a:p>
            <a:endParaRPr lang="en-GH"/>
          </a:p>
        </p:txBody>
      </p:sp>
      <p:sp>
        <p:nvSpPr>
          <p:cNvPr id="43" name="Rectangle 42">
            <a:extLst>
              <a:ext uri="{FF2B5EF4-FFF2-40B4-BE49-F238E27FC236}">
                <a16:creationId xmlns:a16="http://schemas.microsoft.com/office/drawing/2014/main" id="{793F7B4A-CDA2-4346-BFFD-DFF323AF0415}"/>
              </a:ext>
            </a:extLst>
          </p:cNvPr>
          <p:cNvSpPr>
            <a:spLocks noGrp="1"/>
          </p:cNvSpPr>
          <p:nvPr/>
        </p:nvSpPr>
        <p:spPr>
          <a:xfrm>
            <a:off x="6962775" y="4210050"/>
            <a:ext cx="2171700" cy="190500"/>
          </a:xfrm>
          <a:prstGeom prst="rect">
            <a:avLst/>
          </a:prstGeom>
          <a:noFill/>
          <a:ln w="0">
            <a:noFill/>
          </a:ln>
        </p:spPr>
        <p:txBody>
          <a:bodyPr lIns="0" tIns="0" rIns="0" bIns="0">
            <a:noAutofit/>
          </a:bodyPr>
          <a:lstStyle/>
          <a:p>
            <a:pPr>
              <a:defRPr sz="900" b="1">
                <a:solidFill>
                  <a:srgbClr val="966014"/>
                </a:solidFill>
                <a:latin typeface="DejaVu Sans"/>
                <a:ea typeface="DejaVu Sans"/>
                <a:cs typeface="DejaVu Sans"/>
              </a:defRPr>
            </a:pPr>
            <a:r>
              <a:rPr sz="900" b="1">
                <a:solidFill>
                  <a:srgbClr val="966014"/>
                </a:solidFill>
                <a:latin typeface="DejaVu Sans"/>
                <a:ea typeface="DejaVu Sans"/>
                <a:cs typeface="DejaVu Sans"/>
              </a:rPr>
              <a:t>QUALITY HOLD</a:t>
            </a:r>
          </a:p>
        </p:txBody>
      </p:sp>
      <p:sp>
        <p:nvSpPr>
          <p:cNvPr id="44" name="Rectangle 43">
            <a:extLst>
              <a:ext uri="{FF2B5EF4-FFF2-40B4-BE49-F238E27FC236}">
                <a16:creationId xmlns:a16="http://schemas.microsoft.com/office/drawing/2014/main" id="{777C449A-6C49-450D-B7A0-90CF8DE95C08}"/>
              </a:ext>
            </a:extLst>
          </p:cNvPr>
          <p:cNvSpPr>
            <a:spLocks noGrp="1"/>
          </p:cNvSpPr>
          <p:nvPr/>
        </p:nvSpPr>
        <p:spPr>
          <a:xfrm>
            <a:off x="6886575" y="4543425"/>
            <a:ext cx="2314575" cy="219075"/>
          </a:xfrm>
          <a:prstGeom prst="rect">
            <a:avLst/>
          </a:prstGeom>
          <a:noFill/>
          <a:ln w="0">
            <a:noFill/>
          </a:ln>
        </p:spPr>
        <p:txBody>
          <a:bodyPr lIns="0" tIns="0" rIns="0" bIns="0">
            <a:noAutofit/>
          </a:bodyPr>
          <a:lstStyle/>
          <a:p>
            <a:pPr>
              <a:defRPr sz="975" b="0">
                <a:solidFill>
                  <a:srgbClr val="303030"/>
                </a:solidFill>
                <a:latin typeface="DejaVu Sans"/>
                <a:ea typeface="DejaVu Sans"/>
                <a:cs typeface="DejaVu Sans"/>
              </a:defRPr>
            </a:pPr>
            <a:r>
              <a:rPr sz="975" b="0">
                <a:solidFill>
                  <a:srgbClr val="303030"/>
                </a:solidFill>
                <a:latin typeface="DejaVu Sans"/>
                <a:ea typeface="DejaVu Sans"/>
                <a:cs typeface="DejaVu Sans"/>
              </a:rPr>
              <a:t>Gino Tomato Mix  /  24 cases</a:t>
            </a:r>
          </a:p>
        </p:txBody>
      </p:sp>
      <p:sp>
        <p:nvSpPr>
          <p:cNvPr id="45" name="Rectangle 44">
            <a:extLst>
              <a:ext uri="{FF2B5EF4-FFF2-40B4-BE49-F238E27FC236}">
                <a16:creationId xmlns:a16="http://schemas.microsoft.com/office/drawing/2014/main" id="{FE7C4656-6613-4EAB-B662-89555E5677B2}"/>
              </a:ext>
            </a:extLst>
          </p:cNvPr>
          <p:cNvSpPr>
            <a:spLocks noGrp="1"/>
          </p:cNvSpPr>
          <p:nvPr/>
        </p:nvSpPr>
        <p:spPr>
          <a:xfrm>
            <a:off x="6886575" y="4819650"/>
            <a:ext cx="2314575" cy="228600"/>
          </a:xfrm>
          <a:prstGeom prst="rect">
            <a:avLst/>
          </a:prstGeom>
          <a:noFill/>
          <a:ln w="0">
            <a:noFill/>
          </a:ln>
        </p:spPr>
        <p:txBody>
          <a:bodyPr lIns="0" tIns="0" rIns="0" bIns="0">
            <a:noAutofit/>
          </a:bodyPr>
          <a:lstStyle/>
          <a:p>
            <a:pPr>
              <a:defRPr sz="975" b="0">
                <a:solidFill>
                  <a:srgbClr val="5E5E5E"/>
                </a:solidFill>
                <a:latin typeface="DejaVu Sans"/>
                <a:ea typeface="DejaVu Sans"/>
                <a:cs typeface="DejaVu Sans"/>
              </a:defRPr>
            </a:pPr>
            <a:r>
              <a:rPr sz="975" b="0">
                <a:solidFill>
                  <a:srgbClr val="5E5E5E"/>
                </a:solidFill>
                <a:latin typeface="DejaVu Sans"/>
                <a:ea typeface="DejaVu Sans"/>
                <a:cs typeface="DejaVu Sans"/>
              </a:rPr>
              <a:t>Photos  3     Batch  DEMO 0626</a:t>
            </a:r>
          </a:p>
        </p:txBody>
      </p:sp>
      <p:sp>
        <p:nvSpPr>
          <p:cNvPr id="46" name="Rectangle 45">
            <a:extLst>
              <a:ext uri="{FF2B5EF4-FFF2-40B4-BE49-F238E27FC236}">
                <a16:creationId xmlns:a16="http://schemas.microsoft.com/office/drawing/2014/main" id="{626680E4-0E1D-45B0-A3D6-2FE7410AA2DE}"/>
              </a:ext>
            </a:extLst>
          </p:cNvPr>
          <p:cNvSpPr>
            <a:spLocks noGrp="1"/>
          </p:cNvSpPr>
          <p:nvPr/>
        </p:nvSpPr>
        <p:spPr>
          <a:xfrm>
            <a:off x="6886575" y="5276850"/>
            <a:ext cx="2324100" cy="381000"/>
          </a:xfrm>
          <a:prstGeom prst="rect">
            <a:avLst/>
          </a:prstGeom>
          <a:solidFill>
            <a:srgbClr val="FE5000"/>
          </a:solidFill>
          <a:ln w="0">
            <a:noFill/>
          </a:ln>
        </p:spPr>
        <p:txBody>
          <a:bodyPr/>
          <a:lstStyle/>
          <a:p>
            <a:endParaRPr lang="en-GH"/>
          </a:p>
        </p:txBody>
      </p:sp>
      <p:sp>
        <p:nvSpPr>
          <p:cNvPr id="47" name="Rectangle 46">
            <a:extLst>
              <a:ext uri="{FF2B5EF4-FFF2-40B4-BE49-F238E27FC236}">
                <a16:creationId xmlns:a16="http://schemas.microsoft.com/office/drawing/2014/main" id="{4B81F3C3-D3F2-4584-BE1C-50BEC1FA0E84}"/>
              </a:ext>
            </a:extLst>
          </p:cNvPr>
          <p:cNvSpPr>
            <a:spLocks noGrp="1"/>
          </p:cNvSpPr>
          <p:nvPr/>
        </p:nvSpPr>
        <p:spPr>
          <a:xfrm>
            <a:off x="7000875" y="5372100"/>
            <a:ext cx="2095500" cy="228600"/>
          </a:xfrm>
          <a:prstGeom prst="rect">
            <a:avLst/>
          </a:prstGeom>
          <a:noFill/>
          <a:ln w="0">
            <a:noFill/>
          </a:ln>
        </p:spPr>
        <p:txBody>
          <a:bodyPr lIns="0" tIns="0" rIns="0" bIns="0">
            <a:noAutofit/>
          </a:bodyPr>
          <a:lstStyle/>
          <a:p>
            <a:pP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View record</a:t>
            </a:r>
          </a:p>
        </p:txBody>
      </p:sp>
      <p:sp>
        <p:nvSpPr>
          <p:cNvPr id="48" name="Rectangle 47">
            <a:extLst>
              <a:ext uri="{FF2B5EF4-FFF2-40B4-BE49-F238E27FC236}">
                <a16:creationId xmlns:a16="http://schemas.microsoft.com/office/drawing/2014/main" id="{61273B52-6DBE-4C16-BD9A-226554B255D2}"/>
              </a:ext>
            </a:extLst>
          </p:cNvPr>
          <p:cNvSpPr>
            <a:spLocks noGrp="1"/>
          </p:cNvSpPr>
          <p:nvPr/>
        </p:nvSpPr>
        <p:spPr>
          <a:xfrm>
            <a:off x="2257425" y="5676900"/>
            <a:ext cx="4333875" cy="304800"/>
          </a:xfrm>
          <a:prstGeom prst="rect">
            <a:avLst/>
          </a:prstGeom>
          <a:noFill/>
          <a:ln w="0">
            <a:noFill/>
          </a:ln>
        </p:spPr>
        <p:txBody>
          <a:bodyPr lIns="0" tIns="0" rIns="0" bIns="0">
            <a:noAutofit/>
          </a:bodyPr>
          <a:lstStyle/>
          <a:p>
            <a:pPr>
              <a:defRPr sz="900" b="0">
                <a:solidFill>
                  <a:srgbClr val="5E5E5E"/>
                </a:solidFill>
                <a:latin typeface="DejaVu Sans"/>
                <a:ea typeface="DejaVu Sans"/>
                <a:cs typeface="DejaVu Sans"/>
              </a:defRPr>
            </a:pPr>
            <a:r>
              <a:rPr sz="900" b="0">
                <a:solidFill>
                  <a:srgbClr val="5E5E5E"/>
                </a:solidFill>
                <a:latin typeface="DejaVu Sans"/>
                <a:ea typeface="DejaVu Sans"/>
                <a:cs typeface="DejaVu Sans"/>
              </a:rPr>
              <a:t>Select a depot to open its records, evidence and review history.</a:t>
            </a:r>
          </a:p>
        </p:txBody>
      </p:sp>
      <p:sp>
        <p:nvSpPr>
          <p:cNvPr id="49" name="Rectangle 48">
            <a:extLst>
              <a:ext uri="{FF2B5EF4-FFF2-40B4-BE49-F238E27FC236}">
                <a16:creationId xmlns:a16="http://schemas.microsoft.com/office/drawing/2014/main" id="{281406E8-755F-48CE-B9C1-3F9D993A1C30}"/>
              </a:ext>
            </a:extLst>
          </p:cNvPr>
          <p:cNvSpPr>
            <a:spLocks noGrp="1"/>
          </p:cNvSpPr>
          <p:nvPr/>
        </p:nvSpPr>
        <p:spPr>
          <a:xfrm>
            <a:off x="9906000" y="1752600"/>
            <a:ext cx="1762125" cy="295275"/>
          </a:xfrm>
          <a:prstGeom prst="rect">
            <a:avLst/>
          </a:prstGeom>
          <a:noFill/>
          <a:ln w="0">
            <a:noFill/>
          </a:ln>
        </p:spPr>
        <p:txBody>
          <a:bodyPr lIns="0" tIns="0" rIns="0" bIns="0">
            <a:noAutofit/>
          </a:bodyPr>
          <a:lstStyle/>
          <a:p>
            <a:pPr>
              <a:defRPr sz="1650" b="1">
                <a:solidFill>
                  <a:srgbClr val="FE5000"/>
                </a:solidFill>
                <a:latin typeface="DejaVu Sans"/>
                <a:ea typeface="DejaVu Sans"/>
                <a:cs typeface="DejaVu Sans"/>
              </a:defRPr>
            </a:pPr>
            <a:r>
              <a:rPr sz="1650" b="1">
                <a:solidFill>
                  <a:srgbClr val="FE5000"/>
                </a:solidFill>
                <a:latin typeface="DejaVu Sans"/>
                <a:ea typeface="DejaVu Sans"/>
                <a:cs typeface="DejaVu Sans"/>
              </a:rPr>
              <a:t>01  Filter</a:t>
            </a:r>
          </a:p>
        </p:txBody>
      </p:sp>
      <p:sp>
        <p:nvSpPr>
          <p:cNvPr id="50" name="Rectangle 49">
            <a:extLst>
              <a:ext uri="{FF2B5EF4-FFF2-40B4-BE49-F238E27FC236}">
                <a16:creationId xmlns:a16="http://schemas.microsoft.com/office/drawing/2014/main" id="{1A98DD6B-021B-424A-A3B7-E966B823FBDC}"/>
              </a:ext>
            </a:extLst>
          </p:cNvPr>
          <p:cNvSpPr>
            <a:spLocks noGrp="1"/>
          </p:cNvSpPr>
          <p:nvPr/>
        </p:nvSpPr>
        <p:spPr>
          <a:xfrm>
            <a:off x="9906000" y="2133600"/>
            <a:ext cx="1809750" cy="647700"/>
          </a:xfrm>
          <a:prstGeom prst="rect">
            <a:avLst/>
          </a:prstGeom>
          <a:noFill/>
          <a:ln w="0">
            <a:noFill/>
          </a:ln>
        </p:spPr>
        <p:txBody>
          <a:bodyPr lIns="0" tIns="0" rIns="0" bIns="0">
            <a:noAutofit/>
          </a:bodyPr>
          <a:lstStyle/>
          <a:p>
            <a:pPr>
              <a:defRPr sz="1275" b="0">
                <a:solidFill>
                  <a:srgbClr val="5E5E5E"/>
                </a:solidFill>
                <a:latin typeface="DejaVu Sans"/>
                <a:ea typeface="DejaVu Sans"/>
                <a:cs typeface="DejaVu Sans"/>
              </a:defRPr>
            </a:pPr>
            <a:r>
              <a:rPr sz="1275" b="0">
                <a:solidFill>
                  <a:srgbClr val="5E5E5E"/>
                </a:solidFill>
                <a:latin typeface="DejaVu Sans"/>
                <a:ea typeface="DejaVu Sans"/>
                <a:cs typeface="DejaVu Sans"/>
              </a:rPr>
              <a:t>Region, depot, date and review status.</a:t>
            </a:r>
          </a:p>
        </p:txBody>
      </p:sp>
      <p:sp>
        <p:nvSpPr>
          <p:cNvPr id="51" name="Rectangle 50">
            <a:extLst>
              <a:ext uri="{FF2B5EF4-FFF2-40B4-BE49-F238E27FC236}">
                <a16:creationId xmlns:a16="http://schemas.microsoft.com/office/drawing/2014/main" id="{2A7B036F-ED50-400A-9C6D-5F58F6E1C4DB}"/>
              </a:ext>
            </a:extLst>
          </p:cNvPr>
          <p:cNvSpPr>
            <a:spLocks noGrp="1"/>
          </p:cNvSpPr>
          <p:nvPr/>
        </p:nvSpPr>
        <p:spPr>
          <a:xfrm>
            <a:off x="9906000" y="2943225"/>
            <a:ext cx="1762125" cy="295275"/>
          </a:xfrm>
          <a:prstGeom prst="rect">
            <a:avLst/>
          </a:prstGeom>
          <a:noFill/>
          <a:ln w="0">
            <a:noFill/>
          </a:ln>
        </p:spPr>
        <p:txBody>
          <a:bodyPr lIns="0" tIns="0" rIns="0" bIns="0">
            <a:noAutofit/>
          </a:bodyPr>
          <a:lstStyle/>
          <a:p>
            <a:pPr>
              <a:defRPr sz="1650" b="1">
                <a:solidFill>
                  <a:srgbClr val="FE5000"/>
                </a:solidFill>
                <a:latin typeface="DejaVu Sans"/>
                <a:ea typeface="DejaVu Sans"/>
                <a:cs typeface="DejaVu Sans"/>
              </a:defRPr>
            </a:pPr>
            <a:r>
              <a:rPr sz="1650" b="1">
                <a:solidFill>
                  <a:srgbClr val="FE5000"/>
                </a:solidFill>
                <a:latin typeface="DejaVu Sans"/>
                <a:ea typeface="DejaVu Sans"/>
                <a:cs typeface="DejaVu Sans"/>
              </a:rPr>
              <a:t>02  Inspect</a:t>
            </a:r>
          </a:p>
        </p:txBody>
      </p:sp>
      <p:sp>
        <p:nvSpPr>
          <p:cNvPr id="52" name="Rectangle 51">
            <a:extLst>
              <a:ext uri="{FF2B5EF4-FFF2-40B4-BE49-F238E27FC236}">
                <a16:creationId xmlns:a16="http://schemas.microsoft.com/office/drawing/2014/main" id="{E750F865-55A8-4D7F-9565-65513970D77E}"/>
              </a:ext>
            </a:extLst>
          </p:cNvPr>
          <p:cNvSpPr>
            <a:spLocks noGrp="1"/>
          </p:cNvSpPr>
          <p:nvPr/>
        </p:nvSpPr>
        <p:spPr>
          <a:xfrm>
            <a:off x="9906000" y="3324225"/>
            <a:ext cx="1809750" cy="781050"/>
          </a:xfrm>
          <a:prstGeom prst="rect">
            <a:avLst/>
          </a:prstGeom>
          <a:noFill/>
          <a:ln w="0">
            <a:noFill/>
          </a:ln>
        </p:spPr>
        <p:txBody>
          <a:bodyPr lIns="0" tIns="0" rIns="0" bIns="0">
            <a:noAutofit/>
          </a:bodyPr>
          <a:lstStyle/>
          <a:p>
            <a:pPr>
              <a:defRPr sz="1275" b="0">
                <a:solidFill>
                  <a:srgbClr val="5E5E5E"/>
                </a:solidFill>
                <a:latin typeface="DejaVu Sans"/>
                <a:ea typeface="DejaVu Sans"/>
                <a:cs typeface="DejaVu Sans"/>
              </a:defRPr>
            </a:pPr>
            <a:r>
              <a:rPr sz="1275" b="0">
                <a:solidFill>
                  <a:srgbClr val="5E5E5E"/>
                </a:solidFill>
                <a:latin typeface="DejaVu Sans"/>
                <a:ea typeface="DejaVu Sans"/>
                <a:cs typeface="DejaVu Sans"/>
              </a:rPr>
              <a:t>Open photos, quantities and the complete audit trail.</a:t>
            </a:r>
          </a:p>
        </p:txBody>
      </p:sp>
      <p:sp>
        <p:nvSpPr>
          <p:cNvPr id="53" name="Rectangle 52">
            <a:extLst>
              <a:ext uri="{FF2B5EF4-FFF2-40B4-BE49-F238E27FC236}">
                <a16:creationId xmlns:a16="http://schemas.microsoft.com/office/drawing/2014/main" id="{9E2F6C7C-0F48-4343-A917-1237FEC147A1}"/>
              </a:ext>
            </a:extLst>
          </p:cNvPr>
          <p:cNvSpPr>
            <a:spLocks noGrp="1"/>
          </p:cNvSpPr>
          <p:nvPr/>
        </p:nvSpPr>
        <p:spPr>
          <a:xfrm>
            <a:off x="9906000" y="4276725"/>
            <a:ext cx="1762125" cy="295275"/>
          </a:xfrm>
          <a:prstGeom prst="rect">
            <a:avLst/>
          </a:prstGeom>
          <a:noFill/>
          <a:ln w="0">
            <a:noFill/>
          </a:ln>
        </p:spPr>
        <p:txBody>
          <a:bodyPr lIns="0" tIns="0" rIns="0" bIns="0">
            <a:noAutofit/>
          </a:bodyPr>
          <a:lstStyle/>
          <a:p>
            <a:pPr>
              <a:defRPr sz="1650" b="1">
                <a:solidFill>
                  <a:srgbClr val="FE5000"/>
                </a:solidFill>
                <a:latin typeface="DejaVu Sans"/>
                <a:ea typeface="DejaVu Sans"/>
                <a:cs typeface="DejaVu Sans"/>
              </a:defRPr>
            </a:pPr>
            <a:r>
              <a:rPr sz="1650" b="1">
                <a:solidFill>
                  <a:srgbClr val="FE5000"/>
                </a:solidFill>
                <a:latin typeface="DejaVu Sans"/>
                <a:ea typeface="DejaVu Sans"/>
                <a:cs typeface="DejaVu Sans"/>
              </a:rPr>
              <a:t>03  Decide</a:t>
            </a:r>
          </a:p>
        </p:txBody>
      </p:sp>
      <p:sp>
        <p:nvSpPr>
          <p:cNvPr id="54" name="Rectangle 53">
            <a:extLst>
              <a:ext uri="{FF2B5EF4-FFF2-40B4-BE49-F238E27FC236}">
                <a16:creationId xmlns:a16="http://schemas.microsoft.com/office/drawing/2014/main" id="{690C0BBB-9DDE-4ECF-89DE-6005C8C1C90F}"/>
              </a:ext>
            </a:extLst>
          </p:cNvPr>
          <p:cNvSpPr>
            <a:spLocks noGrp="1"/>
          </p:cNvSpPr>
          <p:nvPr/>
        </p:nvSpPr>
        <p:spPr>
          <a:xfrm>
            <a:off x="9906000" y="4657725"/>
            <a:ext cx="1809750" cy="857250"/>
          </a:xfrm>
          <a:prstGeom prst="rect">
            <a:avLst/>
          </a:prstGeom>
          <a:noFill/>
          <a:ln w="0">
            <a:noFill/>
          </a:ln>
        </p:spPr>
        <p:txBody>
          <a:bodyPr lIns="0" tIns="0" rIns="0" bIns="0">
            <a:noAutofit/>
          </a:bodyPr>
          <a:lstStyle/>
          <a:p>
            <a:pPr>
              <a:defRPr sz="1275" b="0">
                <a:solidFill>
                  <a:srgbClr val="5E5E5E"/>
                </a:solidFill>
                <a:latin typeface="DejaVu Sans"/>
                <a:ea typeface="DejaVu Sans"/>
                <a:cs typeface="DejaVu Sans"/>
              </a:defRPr>
            </a:pPr>
            <a:r>
              <a:rPr sz="1275" b="0">
                <a:solidFill>
                  <a:srgbClr val="5E5E5E"/>
                </a:solidFill>
                <a:latin typeface="DejaVu Sans"/>
                <a:ea typeface="DejaVu Sans"/>
                <a:cs typeface="DejaVu Sans"/>
              </a:rPr>
              <a:t>Authorised users record a quality decision with a reason.</a:t>
            </a:r>
          </a:p>
        </p:txBody>
      </p:sp>
    </p:spTree>
    <p:extLst>
      <p:ext uri="{BB962C8B-B14F-4D97-AF65-F5344CB8AC3E}">
        <p14:creationId xmlns:p14="http://schemas.microsoft.com/office/powerpoint/2010/main" val="10212247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675D21B-94D9-428C-A6F5-C8970BA3D4A9}"/>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Photo ID sign in and geotagging</a:t>
            </a:r>
          </a:p>
        </p:txBody>
      </p:sp>
      <p:sp>
        <p:nvSpPr>
          <p:cNvPr id="2" name="Rectangle 1">
            <a:extLst>
              <a:ext uri="{FF2B5EF4-FFF2-40B4-BE49-F238E27FC236}">
                <a16:creationId xmlns:a16="http://schemas.microsoft.com/office/drawing/2014/main" id="{E0E8F9C1-5DC3-4BA7-91B9-AD3B3CBD06ED}"/>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PROPOSED PLATFORM</a:t>
            </a:r>
          </a:p>
        </p:txBody>
      </p:sp>
      <p:sp>
        <p:nvSpPr>
          <p:cNvPr id="3" name="Rectangle 2">
            <a:extLst>
              <a:ext uri="{FF2B5EF4-FFF2-40B4-BE49-F238E27FC236}">
                <a16:creationId xmlns:a16="http://schemas.microsoft.com/office/drawing/2014/main" id="{7C23242E-BA5D-4D96-8045-8C8835090644}"/>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29</a:t>
            </a:r>
          </a:p>
        </p:txBody>
      </p:sp>
      <p:sp>
        <p:nvSpPr>
          <p:cNvPr id="4" name="Rectangle 3">
            <a:extLst>
              <a:ext uri="{FF2B5EF4-FFF2-40B4-BE49-F238E27FC236}">
                <a16:creationId xmlns:a16="http://schemas.microsoft.com/office/drawing/2014/main" id="{665FD71A-9547-4CBD-8229-8E47A3F6A557}"/>
              </a:ext>
            </a:extLst>
          </p:cNvPr>
          <p:cNvSpPr>
            <a:spLocks noGrp="1"/>
          </p:cNvSpPr>
          <p:nvPr/>
        </p:nvSpPr>
        <p:spPr>
          <a:xfrm>
            <a:off x="609600" y="1790700"/>
            <a:ext cx="107632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Named personnel profiles</a:t>
            </a:r>
          </a:p>
        </p:txBody>
      </p:sp>
      <p:sp>
        <p:nvSpPr>
          <p:cNvPr id="5" name="Rectangle 4">
            <a:extLst>
              <a:ext uri="{FF2B5EF4-FFF2-40B4-BE49-F238E27FC236}">
                <a16:creationId xmlns:a16="http://schemas.microsoft.com/office/drawing/2014/main" id="{FEE2E385-5428-43C9-8CB5-D6AE2F79EA92}"/>
              </a:ext>
            </a:extLst>
          </p:cNvPr>
          <p:cNvSpPr>
            <a:spLocks noGrp="1"/>
          </p:cNvSpPr>
          <p:nvPr/>
        </p:nvSpPr>
        <p:spPr>
          <a:xfrm>
            <a:off x="609600" y="2162175"/>
            <a:ext cx="107632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Register each user with a staff ID, role and profile photograph.</a:t>
            </a:r>
          </a:p>
        </p:txBody>
      </p:sp>
      <p:sp>
        <p:nvSpPr>
          <p:cNvPr id="6" name="Rectangle 5">
            <a:extLst>
              <a:ext uri="{FF2B5EF4-FFF2-40B4-BE49-F238E27FC236}">
                <a16:creationId xmlns:a16="http://schemas.microsoft.com/office/drawing/2014/main" id="{65EA248B-439B-4028-8EB6-EFBCA43CFCF1}"/>
              </a:ext>
            </a:extLst>
          </p:cNvPr>
          <p:cNvSpPr>
            <a:spLocks noGrp="1"/>
          </p:cNvSpPr>
          <p:nvPr/>
        </p:nvSpPr>
        <p:spPr>
          <a:xfrm>
            <a:off x="609600" y="2781300"/>
            <a:ext cx="107632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Photo sign in at the depot</a:t>
            </a:r>
          </a:p>
        </p:txBody>
      </p:sp>
      <p:sp>
        <p:nvSpPr>
          <p:cNvPr id="7" name="Rectangle 6">
            <a:extLst>
              <a:ext uri="{FF2B5EF4-FFF2-40B4-BE49-F238E27FC236}">
                <a16:creationId xmlns:a16="http://schemas.microsoft.com/office/drawing/2014/main" id="{08875B6C-FA98-44AE-82E0-89AB9877E636}"/>
              </a:ext>
            </a:extLst>
          </p:cNvPr>
          <p:cNvSpPr>
            <a:spLocks noGrp="1"/>
          </p:cNvSpPr>
          <p:nvPr/>
        </p:nvSpPr>
        <p:spPr>
          <a:xfrm>
            <a:off x="609600" y="3152775"/>
            <a:ext cx="107632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Capture an attendance photo, staff ID, depot ID and timestamp at check-in and check-out.</a:t>
            </a:r>
          </a:p>
        </p:txBody>
      </p:sp>
      <p:sp>
        <p:nvSpPr>
          <p:cNvPr id="8" name="Rectangle 7">
            <a:extLst>
              <a:ext uri="{FF2B5EF4-FFF2-40B4-BE49-F238E27FC236}">
                <a16:creationId xmlns:a16="http://schemas.microsoft.com/office/drawing/2014/main" id="{7AD300E2-9AA8-406E-A5D0-9F4AC9220B2F}"/>
              </a:ext>
            </a:extLst>
          </p:cNvPr>
          <p:cNvSpPr>
            <a:spLocks noGrp="1"/>
          </p:cNvSpPr>
          <p:nvPr/>
        </p:nvSpPr>
        <p:spPr>
          <a:xfrm>
            <a:off x="609600" y="3771900"/>
            <a:ext cx="107632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Location evidence</a:t>
            </a:r>
          </a:p>
        </p:txBody>
      </p:sp>
      <p:sp>
        <p:nvSpPr>
          <p:cNvPr id="9" name="Rectangle 8">
            <a:extLst>
              <a:ext uri="{FF2B5EF4-FFF2-40B4-BE49-F238E27FC236}">
                <a16:creationId xmlns:a16="http://schemas.microsoft.com/office/drawing/2014/main" id="{9A5CA671-BAB2-49A6-9291-727FC01E2DC9}"/>
              </a:ext>
            </a:extLst>
          </p:cNvPr>
          <p:cNvSpPr>
            <a:spLocks noGrp="1"/>
          </p:cNvSpPr>
          <p:nvPr/>
        </p:nvSpPr>
        <p:spPr>
          <a:xfrm>
            <a:off x="609600" y="4143375"/>
            <a:ext cx="107632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Record GPS coordinates and accuracy. Flag check-ins outside the agreed depot radius.</a:t>
            </a:r>
          </a:p>
        </p:txBody>
      </p:sp>
      <p:sp>
        <p:nvSpPr>
          <p:cNvPr id="10" name="Rectangle 9">
            <a:extLst>
              <a:ext uri="{FF2B5EF4-FFF2-40B4-BE49-F238E27FC236}">
                <a16:creationId xmlns:a16="http://schemas.microsoft.com/office/drawing/2014/main" id="{3BE771BC-79E5-42B8-9710-617396B10EB7}"/>
              </a:ext>
            </a:extLst>
          </p:cNvPr>
          <p:cNvSpPr>
            <a:spLocks noGrp="1"/>
          </p:cNvSpPr>
          <p:nvPr/>
        </p:nvSpPr>
        <p:spPr>
          <a:xfrm>
            <a:off x="609600" y="4762500"/>
            <a:ext cx="107632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Supervisor verification</a:t>
            </a:r>
          </a:p>
        </p:txBody>
      </p:sp>
      <p:sp>
        <p:nvSpPr>
          <p:cNvPr id="11" name="Rectangle 10">
            <a:extLst>
              <a:ext uri="{FF2B5EF4-FFF2-40B4-BE49-F238E27FC236}">
                <a16:creationId xmlns:a16="http://schemas.microsoft.com/office/drawing/2014/main" id="{61FAD33E-DCE7-4EF3-BDFA-DA3429F62283}"/>
              </a:ext>
            </a:extLst>
          </p:cNvPr>
          <p:cNvSpPr>
            <a:spLocks noGrp="1"/>
          </p:cNvSpPr>
          <p:nvPr/>
        </p:nvSpPr>
        <p:spPr>
          <a:xfrm>
            <a:off x="609600" y="5133975"/>
            <a:ext cx="107632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Review attendance exceptions. Retain the reason and reviewer for every correction.</a:t>
            </a:r>
          </a:p>
        </p:txBody>
      </p:sp>
      <p:sp>
        <p:nvSpPr>
          <p:cNvPr id="12" name="Rectangle 11">
            <a:extLst>
              <a:ext uri="{FF2B5EF4-FFF2-40B4-BE49-F238E27FC236}">
                <a16:creationId xmlns:a16="http://schemas.microsoft.com/office/drawing/2014/main" id="{2D929B40-1ACA-416B-8EC0-54062623D73D}"/>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Use photo verification rather than assumed facial recognition. Location capture applies to work events, not continuous tracking.</a:t>
            </a:r>
          </a:p>
        </p:txBody>
      </p:sp>
    </p:spTree>
    <p:extLst>
      <p:ext uri="{BB962C8B-B14F-4D97-AF65-F5344CB8AC3E}">
        <p14:creationId xmlns:p14="http://schemas.microsoft.com/office/powerpoint/2010/main" val="831989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4A75E0F-8AAF-4883-BAB6-C27232D7A402}"/>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Product pictures linked to stock records</a:t>
            </a:r>
          </a:p>
        </p:txBody>
      </p:sp>
      <p:sp>
        <p:nvSpPr>
          <p:cNvPr id="2" name="Rectangle 1">
            <a:extLst>
              <a:ext uri="{FF2B5EF4-FFF2-40B4-BE49-F238E27FC236}">
                <a16:creationId xmlns:a16="http://schemas.microsoft.com/office/drawing/2014/main" id="{FFE6DF16-D3FD-4B77-BA3F-7BD2F8108A93}"/>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PROPOSED PLATFORM</a:t>
            </a:r>
          </a:p>
        </p:txBody>
      </p:sp>
      <p:sp>
        <p:nvSpPr>
          <p:cNvPr id="3" name="Rectangle 2">
            <a:extLst>
              <a:ext uri="{FF2B5EF4-FFF2-40B4-BE49-F238E27FC236}">
                <a16:creationId xmlns:a16="http://schemas.microsoft.com/office/drawing/2014/main" id="{07BFA592-81A5-4A81-8618-AF28F7DDB98F}"/>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30</a:t>
            </a:r>
          </a:p>
        </p:txBody>
      </p:sp>
      <p:sp>
        <p:nvSpPr>
          <p:cNvPr id="4" name="Rectangle 3">
            <a:extLst>
              <a:ext uri="{FF2B5EF4-FFF2-40B4-BE49-F238E27FC236}">
                <a16:creationId xmlns:a16="http://schemas.microsoft.com/office/drawing/2014/main" id="{75C1BFEE-B778-426C-A390-8A51CD642AE6}"/>
              </a:ext>
            </a:extLst>
          </p:cNvPr>
          <p:cNvSpPr>
            <a:spLocks noGrp="1"/>
          </p:cNvSpPr>
          <p:nvPr/>
        </p:nvSpPr>
        <p:spPr>
          <a:xfrm>
            <a:off x="609600" y="1895475"/>
            <a:ext cx="3302000" cy="857250"/>
          </a:xfrm>
          <a:prstGeom prst="rect">
            <a:avLst/>
          </a:prstGeom>
          <a:noFill/>
          <a:ln w="0">
            <a:noFill/>
          </a:ln>
        </p:spPr>
        <p:txBody>
          <a:bodyPr lIns="0" tIns="0" rIns="0" bIns="0">
            <a:noAutofit/>
          </a:bodyPr>
          <a:lstStyle/>
          <a:p>
            <a:pPr>
              <a:defRPr sz="5250" b="1">
                <a:solidFill>
                  <a:srgbClr val="FE5000"/>
                </a:solidFill>
                <a:latin typeface="DejaVu Sans"/>
                <a:ea typeface="DejaVu Sans"/>
                <a:cs typeface="DejaVu Sans"/>
              </a:defRPr>
            </a:pPr>
            <a:r>
              <a:rPr sz="5250" b="1">
                <a:solidFill>
                  <a:srgbClr val="FE5000"/>
                </a:solidFill>
                <a:latin typeface="DejaVu Sans"/>
                <a:ea typeface="DejaVu Sans"/>
                <a:cs typeface="DejaVu Sans"/>
              </a:rPr>
              <a:t>01</a:t>
            </a:r>
          </a:p>
        </p:txBody>
      </p:sp>
      <p:sp>
        <p:nvSpPr>
          <p:cNvPr id="5" name="Rectangle 4">
            <a:extLst>
              <a:ext uri="{FF2B5EF4-FFF2-40B4-BE49-F238E27FC236}">
                <a16:creationId xmlns:a16="http://schemas.microsoft.com/office/drawing/2014/main" id="{2256404E-F554-4268-9A09-F07D07DD395C}"/>
              </a:ext>
            </a:extLst>
          </p:cNvPr>
          <p:cNvSpPr>
            <a:spLocks noGrp="1"/>
          </p:cNvSpPr>
          <p:nvPr/>
        </p:nvSpPr>
        <p:spPr>
          <a:xfrm>
            <a:off x="609600" y="2962275"/>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Capture</a:t>
            </a:r>
          </a:p>
        </p:txBody>
      </p:sp>
      <p:sp>
        <p:nvSpPr>
          <p:cNvPr id="6" name="Rectangle 5">
            <a:extLst>
              <a:ext uri="{FF2B5EF4-FFF2-40B4-BE49-F238E27FC236}">
                <a16:creationId xmlns:a16="http://schemas.microsoft.com/office/drawing/2014/main" id="{A305ADF9-02FB-4B67-B954-E51C9D49572F}"/>
              </a:ext>
            </a:extLst>
          </p:cNvPr>
          <p:cNvSpPr>
            <a:spLocks noGrp="1"/>
          </p:cNvSpPr>
          <p:nvPr/>
        </p:nvSpPr>
        <p:spPr>
          <a:xfrm>
            <a:off x="609600" y="3800475"/>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Photograph the pack, batch or expiry marking, defect and wider stock position.</a:t>
            </a:r>
          </a:p>
        </p:txBody>
      </p:sp>
      <p:sp>
        <p:nvSpPr>
          <p:cNvPr id="7" name="Rectangle 6">
            <a:extLst>
              <a:ext uri="{FF2B5EF4-FFF2-40B4-BE49-F238E27FC236}">
                <a16:creationId xmlns:a16="http://schemas.microsoft.com/office/drawing/2014/main" id="{83E2831C-E856-4727-BAB3-AF251B35BB69}"/>
              </a:ext>
            </a:extLst>
          </p:cNvPr>
          <p:cNvSpPr>
            <a:spLocks noGrp="1"/>
          </p:cNvSpPr>
          <p:nvPr/>
        </p:nvSpPr>
        <p:spPr>
          <a:xfrm>
            <a:off x="4267200" y="1895475"/>
            <a:ext cx="3302000" cy="857250"/>
          </a:xfrm>
          <a:prstGeom prst="rect">
            <a:avLst/>
          </a:prstGeom>
          <a:noFill/>
          <a:ln w="0">
            <a:noFill/>
          </a:ln>
        </p:spPr>
        <p:txBody>
          <a:bodyPr lIns="0" tIns="0" rIns="0" bIns="0">
            <a:noAutofit/>
          </a:bodyPr>
          <a:lstStyle/>
          <a:p>
            <a:pPr>
              <a:defRPr sz="5250" b="1">
                <a:solidFill>
                  <a:srgbClr val="FE5000"/>
                </a:solidFill>
                <a:latin typeface="DejaVu Sans"/>
                <a:ea typeface="DejaVu Sans"/>
                <a:cs typeface="DejaVu Sans"/>
              </a:defRPr>
            </a:pPr>
            <a:r>
              <a:rPr sz="5250" b="1">
                <a:solidFill>
                  <a:srgbClr val="FE5000"/>
                </a:solidFill>
                <a:latin typeface="DejaVu Sans"/>
                <a:ea typeface="DejaVu Sans"/>
                <a:cs typeface="DejaVu Sans"/>
              </a:rPr>
              <a:t>02</a:t>
            </a:r>
          </a:p>
        </p:txBody>
      </p:sp>
      <p:sp>
        <p:nvSpPr>
          <p:cNvPr id="8" name="Rectangle 7">
            <a:extLst>
              <a:ext uri="{FF2B5EF4-FFF2-40B4-BE49-F238E27FC236}">
                <a16:creationId xmlns:a16="http://schemas.microsoft.com/office/drawing/2014/main" id="{F113E4F4-3858-4DA0-B7D0-C29554957A57}"/>
              </a:ext>
            </a:extLst>
          </p:cNvPr>
          <p:cNvSpPr>
            <a:spLocks noGrp="1"/>
          </p:cNvSpPr>
          <p:nvPr/>
        </p:nvSpPr>
        <p:spPr>
          <a:xfrm>
            <a:off x="4267200" y="2962275"/>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Tag and upload</a:t>
            </a:r>
          </a:p>
        </p:txBody>
      </p:sp>
      <p:sp>
        <p:nvSpPr>
          <p:cNvPr id="9" name="Rectangle 8">
            <a:extLst>
              <a:ext uri="{FF2B5EF4-FFF2-40B4-BE49-F238E27FC236}">
                <a16:creationId xmlns:a16="http://schemas.microsoft.com/office/drawing/2014/main" id="{6A7D5E53-FCF1-4CC4-88BC-FA117C9CEFC5}"/>
              </a:ext>
            </a:extLst>
          </p:cNvPr>
          <p:cNvSpPr>
            <a:spLocks noGrp="1"/>
          </p:cNvSpPr>
          <p:nvPr/>
        </p:nvSpPr>
        <p:spPr>
          <a:xfrm>
            <a:off x="4267200" y="3800475"/>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Link images to depot, visit, SKU, batch, quantity, condition and capture time.</a:t>
            </a:r>
          </a:p>
        </p:txBody>
      </p:sp>
      <p:sp>
        <p:nvSpPr>
          <p:cNvPr id="10" name="Rectangle 9">
            <a:extLst>
              <a:ext uri="{FF2B5EF4-FFF2-40B4-BE49-F238E27FC236}">
                <a16:creationId xmlns:a16="http://schemas.microsoft.com/office/drawing/2014/main" id="{8D82CAA9-C4E9-49EC-A1CE-DF53A3BF8BFE}"/>
              </a:ext>
            </a:extLst>
          </p:cNvPr>
          <p:cNvSpPr>
            <a:spLocks noGrp="1"/>
          </p:cNvSpPr>
          <p:nvPr/>
        </p:nvSpPr>
        <p:spPr>
          <a:xfrm>
            <a:off x="7924800" y="1895475"/>
            <a:ext cx="3302000" cy="857250"/>
          </a:xfrm>
          <a:prstGeom prst="rect">
            <a:avLst/>
          </a:prstGeom>
          <a:noFill/>
          <a:ln w="0">
            <a:noFill/>
          </a:ln>
        </p:spPr>
        <p:txBody>
          <a:bodyPr lIns="0" tIns="0" rIns="0" bIns="0">
            <a:noAutofit/>
          </a:bodyPr>
          <a:lstStyle/>
          <a:p>
            <a:pPr>
              <a:defRPr sz="5250" b="1">
                <a:solidFill>
                  <a:srgbClr val="FE5000"/>
                </a:solidFill>
                <a:latin typeface="DejaVu Sans"/>
                <a:ea typeface="DejaVu Sans"/>
                <a:cs typeface="DejaVu Sans"/>
              </a:defRPr>
            </a:pPr>
            <a:r>
              <a:rPr sz="5250" b="1">
                <a:solidFill>
                  <a:srgbClr val="FE5000"/>
                </a:solidFill>
                <a:latin typeface="DejaVu Sans"/>
                <a:ea typeface="DejaVu Sans"/>
                <a:cs typeface="DejaVu Sans"/>
              </a:rPr>
              <a:t>03</a:t>
            </a:r>
          </a:p>
        </p:txBody>
      </p:sp>
      <p:sp>
        <p:nvSpPr>
          <p:cNvPr id="11" name="Rectangle 10">
            <a:extLst>
              <a:ext uri="{FF2B5EF4-FFF2-40B4-BE49-F238E27FC236}">
                <a16:creationId xmlns:a16="http://schemas.microsoft.com/office/drawing/2014/main" id="{B25EADBF-850C-4F2A-BF78-0952DC6760BF}"/>
              </a:ext>
            </a:extLst>
          </p:cNvPr>
          <p:cNvSpPr>
            <a:spLocks noGrp="1"/>
          </p:cNvSpPr>
          <p:nvPr/>
        </p:nvSpPr>
        <p:spPr>
          <a:xfrm>
            <a:off x="7924800" y="2962275"/>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Review</a:t>
            </a:r>
          </a:p>
        </p:txBody>
      </p:sp>
      <p:sp>
        <p:nvSpPr>
          <p:cNvPr id="12" name="Rectangle 11">
            <a:extLst>
              <a:ext uri="{FF2B5EF4-FFF2-40B4-BE49-F238E27FC236}">
                <a16:creationId xmlns:a16="http://schemas.microsoft.com/office/drawing/2014/main" id="{66A9467E-53ED-4784-B02C-C44C51AD38C6}"/>
              </a:ext>
            </a:extLst>
          </p:cNvPr>
          <p:cNvSpPr>
            <a:spLocks noGrp="1"/>
          </p:cNvSpPr>
          <p:nvPr/>
        </p:nvSpPr>
        <p:spPr>
          <a:xfrm>
            <a:off x="7924800" y="3800475"/>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Validate required fields, review blurred images and log corrections before closing.</a:t>
            </a:r>
          </a:p>
        </p:txBody>
      </p:sp>
      <p:sp>
        <p:nvSpPr>
          <p:cNvPr id="13" name="Rectangle 12">
            <a:extLst>
              <a:ext uri="{FF2B5EF4-FFF2-40B4-BE49-F238E27FC236}">
                <a16:creationId xmlns:a16="http://schemas.microsoft.com/office/drawing/2014/main" id="{8E947365-C1D4-48E7-B32A-0FC12F580A8C}"/>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Store offline when needed. Show upload status, retry failed transfers and retain original evidence.</a:t>
            </a:r>
          </a:p>
        </p:txBody>
      </p:sp>
    </p:spTree>
    <p:extLst>
      <p:ext uri="{BB962C8B-B14F-4D97-AF65-F5344CB8AC3E}">
        <p14:creationId xmlns:p14="http://schemas.microsoft.com/office/powerpoint/2010/main" val="1377542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3BE9813-B30B-42F7-9AA5-1B9CAC953696}"/>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Direct client access</a:t>
            </a:r>
          </a:p>
        </p:txBody>
      </p:sp>
      <p:sp>
        <p:nvSpPr>
          <p:cNvPr id="2" name="Rectangle 1">
            <a:extLst>
              <a:ext uri="{FF2B5EF4-FFF2-40B4-BE49-F238E27FC236}">
                <a16:creationId xmlns:a16="http://schemas.microsoft.com/office/drawing/2014/main" id="{099AF4FA-1962-4A6A-BFFA-DE3E2FF7C0EF}"/>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PROPOSED PLATFORM</a:t>
            </a:r>
          </a:p>
        </p:txBody>
      </p:sp>
      <p:sp>
        <p:nvSpPr>
          <p:cNvPr id="3" name="Rectangle 2">
            <a:extLst>
              <a:ext uri="{FF2B5EF4-FFF2-40B4-BE49-F238E27FC236}">
                <a16:creationId xmlns:a16="http://schemas.microsoft.com/office/drawing/2014/main" id="{ED02B65A-AA84-4806-AEDF-53FB91B1161B}"/>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31</a:t>
            </a:r>
          </a:p>
        </p:txBody>
      </p:sp>
      <p:graphicFrame>
        <p:nvGraphicFramePr>
          <p:cNvPr id="9" name="Table 8"/>
          <p:cNvGraphicFramePr/>
          <p:nvPr/>
        </p:nvGraphicFramePr>
        <p:xfrm>
          <a:off x="609600" y="1771650"/>
          <a:ext cx="10972800" cy="3657600"/>
        </p:xfrm>
        <a:graphic>
          <a:graphicData uri="http://schemas.openxmlformats.org/drawingml/2006/table">
            <a:tbl>
              <a:tblPr/>
              <a:tblGrid>
                <a:gridCol w="276225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2876550">
                  <a:extLst>
                    <a:ext uri="{9D8B030D-6E8A-4147-A177-3AD203B41FA5}">
                      <a16:colId xmlns:a16="http://schemas.microsoft.com/office/drawing/2014/main" val="20002"/>
                    </a:ext>
                  </a:extLst>
                </a:gridCol>
              </a:tblGrid>
              <a:tr h="731520">
                <a:tc>
                  <a:txBody>
                    <a:bodyPr/>
                    <a:lstStyle/>
                    <a:p>
                      <a:r>
                        <a:rPr sz="1650" b="1">
                          <a:solidFill>
                            <a:srgbClr val="FFFFFF"/>
                          </a:solidFill>
                          <a:latin typeface="DejaVu Sans"/>
                          <a:ea typeface="DejaVu Sans"/>
                          <a:cs typeface="DejaVu Sans"/>
                        </a:rPr>
                        <a:t>Client view</a:t>
                      </a:r>
                    </a:p>
                  </a:txBody>
                  <a:tcPr>
                    <a:solidFill>
                      <a:srgbClr val="303030"/>
                    </a:solidFill>
                  </a:tcPr>
                </a:tc>
                <a:tc>
                  <a:txBody>
                    <a:bodyPr/>
                    <a:lstStyle/>
                    <a:p>
                      <a:r>
                        <a:rPr sz="1650" b="1">
                          <a:solidFill>
                            <a:srgbClr val="FFFFFF"/>
                          </a:solidFill>
                          <a:latin typeface="DejaVu Sans"/>
                          <a:ea typeface="DejaVu Sans"/>
                          <a:cs typeface="DejaVu Sans"/>
                        </a:rPr>
                        <a:t>Information available</a:t>
                      </a:r>
                    </a:p>
                  </a:txBody>
                  <a:tcPr>
                    <a:solidFill>
                      <a:srgbClr val="303030"/>
                    </a:solidFill>
                  </a:tcPr>
                </a:tc>
                <a:tc>
                  <a:txBody>
                    <a:bodyPr/>
                    <a:lstStyle/>
                    <a:p>
                      <a:r>
                        <a:rPr sz="1650" b="1">
                          <a:solidFill>
                            <a:srgbClr val="FFFFFF"/>
                          </a:solidFill>
                          <a:latin typeface="DejaVu Sans"/>
                          <a:ea typeface="DejaVu Sans"/>
                          <a:cs typeface="DejaVu Sans"/>
                        </a:rPr>
                        <a:t>Action</a:t>
                      </a:r>
                    </a:p>
                  </a:txBody>
                  <a:tcPr>
                    <a:solidFill>
                      <a:srgbClr val="303030"/>
                    </a:solidFill>
                  </a:tcPr>
                </a:tc>
                <a:extLst>
                  <a:ext uri="{0D108BD9-81ED-4DB2-BD59-A6C34878D82A}">
                    <a16:rowId xmlns:a16="http://schemas.microsoft.com/office/drawing/2014/main" val="10000"/>
                  </a:ext>
                </a:extLst>
              </a:tr>
              <a:tr h="731520">
                <a:tc>
                  <a:txBody>
                    <a:bodyPr/>
                    <a:lstStyle/>
                    <a:p>
                      <a:r>
                        <a:rPr sz="1650" b="0">
                          <a:solidFill>
                            <a:srgbClr val="303030"/>
                          </a:solidFill>
                          <a:latin typeface="DejaVu Sans"/>
                          <a:ea typeface="DejaVu Sans"/>
                          <a:cs typeface="DejaVu Sans"/>
                        </a:rPr>
                        <a:t>Depot overview</a:t>
                      </a:r>
                    </a:p>
                  </a:txBody>
                  <a:tcPr>
                    <a:solidFill>
                      <a:srgbClr val="F5F5F5"/>
                    </a:solidFill>
                  </a:tcPr>
                </a:tc>
                <a:tc>
                  <a:txBody>
                    <a:bodyPr/>
                    <a:lstStyle/>
                    <a:p>
                      <a:r>
                        <a:rPr sz="1650" b="0">
                          <a:solidFill>
                            <a:srgbClr val="303030"/>
                          </a:solidFill>
                          <a:latin typeface="DejaVu Sans"/>
                          <a:ea typeface="DejaVu Sans"/>
                          <a:cs typeface="DejaVu Sans"/>
                        </a:rPr>
                        <a:t>Coverage, location, visit status and last sync</a:t>
                      </a:r>
                    </a:p>
                  </a:txBody>
                  <a:tcPr>
                    <a:solidFill>
                      <a:srgbClr val="F5F5F5"/>
                    </a:solidFill>
                  </a:tcPr>
                </a:tc>
                <a:tc>
                  <a:txBody>
                    <a:bodyPr/>
                    <a:lstStyle/>
                    <a:p>
                      <a:r>
                        <a:rPr sz="1650" b="0">
                          <a:solidFill>
                            <a:srgbClr val="303030"/>
                          </a:solidFill>
                          <a:latin typeface="DejaVu Sans"/>
                          <a:ea typeface="DejaVu Sans"/>
                          <a:cs typeface="DejaVu Sans"/>
                        </a:rPr>
                        <a:t>Filter by region or depot</a:t>
                      </a:r>
                    </a:p>
                  </a:txBody>
                  <a:tcPr>
                    <a:solidFill>
                      <a:srgbClr val="F5F5F5"/>
                    </a:solidFill>
                  </a:tcPr>
                </a:tc>
                <a:extLst>
                  <a:ext uri="{0D108BD9-81ED-4DB2-BD59-A6C34878D82A}">
                    <a16:rowId xmlns:a16="http://schemas.microsoft.com/office/drawing/2014/main" val="10001"/>
                  </a:ext>
                </a:extLst>
              </a:tr>
              <a:tr h="731520">
                <a:tc>
                  <a:txBody>
                    <a:bodyPr/>
                    <a:lstStyle/>
                    <a:p>
                      <a:r>
                        <a:rPr sz="1650" b="0">
                          <a:solidFill>
                            <a:srgbClr val="303030"/>
                          </a:solidFill>
                          <a:latin typeface="DejaVu Sans"/>
                          <a:ea typeface="DejaVu Sans"/>
                          <a:cs typeface="DejaVu Sans"/>
                        </a:rPr>
                        <a:t>Stock and evidence</a:t>
                      </a:r>
                    </a:p>
                  </a:txBody>
                  <a:tcPr>
                    <a:solidFill>
                      <a:srgbClr val="FFFFFF"/>
                    </a:solidFill>
                  </a:tcPr>
                </a:tc>
                <a:tc>
                  <a:txBody>
                    <a:bodyPr/>
                    <a:lstStyle/>
                    <a:p>
                      <a:r>
                        <a:rPr sz="1650" b="0">
                          <a:solidFill>
                            <a:srgbClr val="303030"/>
                          </a:solidFill>
                          <a:latin typeface="DejaVu Sans"/>
                          <a:ea typeface="DejaVu Sans"/>
                          <a:cs typeface="DejaVu Sans"/>
                        </a:rPr>
                        <a:t>SKU, batch, quantity, condition and product images</a:t>
                      </a:r>
                    </a:p>
                  </a:txBody>
                  <a:tcPr>
                    <a:solidFill>
                      <a:srgbClr val="FFFFFF"/>
                    </a:solidFill>
                  </a:tcPr>
                </a:tc>
                <a:tc>
                  <a:txBody>
                    <a:bodyPr/>
                    <a:lstStyle/>
                    <a:p>
                      <a:r>
                        <a:rPr sz="1650" b="0">
                          <a:solidFill>
                            <a:srgbClr val="303030"/>
                          </a:solidFill>
                          <a:latin typeface="DejaVu Sans"/>
                          <a:ea typeface="DejaVu Sans"/>
                          <a:cs typeface="DejaVu Sans"/>
                        </a:rPr>
                        <a:t>Review the supporting record</a:t>
                      </a:r>
                    </a:p>
                  </a:txBody>
                  <a:tcPr>
                    <a:solidFill>
                      <a:srgbClr val="FFFFFF"/>
                    </a:solidFill>
                  </a:tcPr>
                </a:tc>
                <a:extLst>
                  <a:ext uri="{0D108BD9-81ED-4DB2-BD59-A6C34878D82A}">
                    <a16:rowId xmlns:a16="http://schemas.microsoft.com/office/drawing/2014/main" val="10002"/>
                  </a:ext>
                </a:extLst>
              </a:tr>
              <a:tr h="731520">
                <a:tc>
                  <a:txBody>
                    <a:bodyPr/>
                    <a:lstStyle/>
                    <a:p>
                      <a:r>
                        <a:rPr sz="1650" b="0">
                          <a:solidFill>
                            <a:srgbClr val="303030"/>
                          </a:solidFill>
                          <a:latin typeface="DejaVu Sans"/>
                          <a:ea typeface="DejaVu Sans"/>
                          <a:cs typeface="DejaVu Sans"/>
                        </a:rPr>
                        <a:t>Exceptions</a:t>
                      </a:r>
                    </a:p>
                  </a:txBody>
                  <a:tcPr>
                    <a:solidFill>
                      <a:srgbClr val="F5F5F5"/>
                    </a:solidFill>
                  </a:tcPr>
                </a:tc>
                <a:tc>
                  <a:txBody>
                    <a:bodyPr/>
                    <a:lstStyle/>
                    <a:p>
                      <a:r>
                        <a:rPr sz="1650" b="0">
                          <a:solidFill>
                            <a:srgbClr val="303030"/>
                          </a:solidFill>
                          <a:latin typeface="DejaVu Sans"/>
                          <a:ea typeface="DejaVu Sans"/>
                          <a:cs typeface="DejaVu Sans"/>
                        </a:rPr>
                        <a:t>Variances, missing evidence and outstanding holds</a:t>
                      </a:r>
                    </a:p>
                  </a:txBody>
                  <a:tcPr>
                    <a:solidFill>
                      <a:srgbClr val="F5F5F5"/>
                    </a:solidFill>
                  </a:tcPr>
                </a:tc>
                <a:tc>
                  <a:txBody>
                    <a:bodyPr/>
                    <a:lstStyle/>
                    <a:p>
                      <a:r>
                        <a:rPr sz="1650" b="0">
                          <a:solidFill>
                            <a:srgbClr val="303030"/>
                          </a:solidFill>
                          <a:latin typeface="DejaVu Sans"/>
                          <a:ea typeface="DejaVu Sans"/>
                          <a:cs typeface="DejaVu Sans"/>
                        </a:rPr>
                        <a:t>Comment or request correction</a:t>
                      </a:r>
                    </a:p>
                  </a:txBody>
                  <a:tcPr>
                    <a:solidFill>
                      <a:srgbClr val="F5F5F5"/>
                    </a:solidFill>
                  </a:tcPr>
                </a:tc>
                <a:extLst>
                  <a:ext uri="{0D108BD9-81ED-4DB2-BD59-A6C34878D82A}">
                    <a16:rowId xmlns:a16="http://schemas.microsoft.com/office/drawing/2014/main" val="10003"/>
                  </a:ext>
                </a:extLst>
              </a:tr>
              <a:tr h="731520">
                <a:tc>
                  <a:txBody>
                    <a:bodyPr/>
                    <a:lstStyle/>
                    <a:p>
                      <a:r>
                        <a:rPr sz="1650" b="0">
                          <a:solidFill>
                            <a:srgbClr val="303030"/>
                          </a:solidFill>
                          <a:latin typeface="DejaVu Sans"/>
                          <a:ea typeface="DejaVu Sans"/>
                          <a:cs typeface="DejaVu Sans"/>
                        </a:rPr>
                        <a:t>Quality decisions</a:t>
                      </a:r>
                    </a:p>
                  </a:txBody>
                  <a:tcPr>
                    <a:solidFill>
                      <a:srgbClr val="FFFFFF"/>
                    </a:solidFill>
                  </a:tcPr>
                </a:tc>
                <a:tc>
                  <a:txBody>
                    <a:bodyPr/>
                    <a:lstStyle/>
                    <a:p>
                      <a:r>
                        <a:rPr sz="1650" b="0">
                          <a:solidFill>
                            <a:srgbClr val="303030"/>
                          </a:solidFill>
                          <a:latin typeface="DejaVu Sans"/>
                          <a:ea typeface="DejaVu Sans"/>
                          <a:cs typeface="DejaVu Sans"/>
                        </a:rPr>
                        <a:t>Held stock and review history</a:t>
                      </a:r>
                    </a:p>
                  </a:txBody>
                  <a:tcPr>
                    <a:solidFill>
                      <a:srgbClr val="FFFFFF"/>
                    </a:solidFill>
                  </a:tcPr>
                </a:tc>
                <a:tc>
                  <a:txBody>
                    <a:bodyPr/>
                    <a:lstStyle/>
                    <a:p>
                      <a:r>
                        <a:rPr sz="1650" b="0">
                          <a:solidFill>
                            <a:srgbClr val="303030"/>
                          </a:solidFill>
                          <a:latin typeface="DejaVu Sans"/>
                          <a:ea typeface="DejaVu Sans"/>
                          <a:cs typeface="DejaVu Sans"/>
                        </a:rPr>
                        <a:t>Authorised GBfoods users record decisions</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789D5072-0C24-4107-A6C9-EB80AA49E35E}"/>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Role-based access keeps client visibility separate from edit, approval and administration permissions.</a:t>
            </a:r>
          </a:p>
        </p:txBody>
      </p:sp>
    </p:spTree>
    <p:extLst>
      <p:ext uri="{BB962C8B-B14F-4D97-AF65-F5344CB8AC3E}">
        <p14:creationId xmlns:p14="http://schemas.microsoft.com/office/powerpoint/2010/main" val="1746182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7BF55BD-CF9A-4AAF-8F8F-D5C94A563F83}"/>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Platform readiness before deployment</a:t>
            </a:r>
          </a:p>
        </p:txBody>
      </p:sp>
      <p:sp>
        <p:nvSpPr>
          <p:cNvPr id="2" name="Rectangle 1">
            <a:extLst>
              <a:ext uri="{FF2B5EF4-FFF2-40B4-BE49-F238E27FC236}">
                <a16:creationId xmlns:a16="http://schemas.microsoft.com/office/drawing/2014/main" id="{61DEF9EB-6730-4511-AC77-8B49D10C9F1C}"/>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PROPOSED PLATFORM</a:t>
            </a:r>
          </a:p>
        </p:txBody>
      </p:sp>
      <p:sp>
        <p:nvSpPr>
          <p:cNvPr id="3" name="Rectangle 2">
            <a:extLst>
              <a:ext uri="{FF2B5EF4-FFF2-40B4-BE49-F238E27FC236}">
                <a16:creationId xmlns:a16="http://schemas.microsoft.com/office/drawing/2014/main" id="{3CFB4B3A-E438-461C-A0A6-B27DAFA426A3}"/>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32</a:t>
            </a:r>
          </a:p>
        </p:txBody>
      </p:sp>
      <p:sp>
        <p:nvSpPr>
          <p:cNvPr id="4" name="Rectangle 3">
            <a:extLst>
              <a:ext uri="{FF2B5EF4-FFF2-40B4-BE49-F238E27FC236}">
                <a16:creationId xmlns:a16="http://schemas.microsoft.com/office/drawing/2014/main" id="{F6DC7EA2-4F5E-4C7F-BC65-15BD1D7A4B8A}"/>
              </a:ext>
            </a:extLst>
          </p:cNvPr>
          <p:cNvSpPr>
            <a:spLocks noGrp="1"/>
          </p:cNvSpPr>
          <p:nvPr/>
        </p:nvSpPr>
        <p:spPr>
          <a:xfrm>
            <a:off x="609600" y="1781175"/>
            <a:ext cx="108394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Build and configure</a:t>
            </a:r>
          </a:p>
        </p:txBody>
      </p:sp>
      <p:sp>
        <p:nvSpPr>
          <p:cNvPr id="5" name="Rectangle 4">
            <a:extLst>
              <a:ext uri="{FF2B5EF4-FFF2-40B4-BE49-F238E27FC236}">
                <a16:creationId xmlns:a16="http://schemas.microsoft.com/office/drawing/2014/main" id="{986C8FC3-2CD1-4E50-AD30-5BAED5EA8079}"/>
              </a:ext>
            </a:extLst>
          </p:cNvPr>
          <p:cNvSpPr>
            <a:spLocks noGrp="1"/>
          </p:cNvSpPr>
          <p:nvPr/>
        </p:nvSpPr>
        <p:spPr>
          <a:xfrm>
            <a:off x="609600" y="2152650"/>
            <a:ext cx="108394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Approve forms, roles, depot master data, evidence rules and export formats.</a:t>
            </a:r>
          </a:p>
        </p:txBody>
      </p:sp>
      <p:sp>
        <p:nvSpPr>
          <p:cNvPr id="6" name="Rectangle 5">
            <a:extLst>
              <a:ext uri="{FF2B5EF4-FFF2-40B4-BE49-F238E27FC236}">
                <a16:creationId xmlns:a16="http://schemas.microsoft.com/office/drawing/2014/main" id="{899DD09A-55F9-4704-BDCC-05D0FFFFED2B}"/>
              </a:ext>
            </a:extLst>
          </p:cNvPr>
          <p:cNvSpPr>
            <a:spLocks noGrp="1"/>
          </p:cNvSpPr>
          <p:nvPr/>
        </p:nvSpPr>
        <p:spPr>
          <a:xfrm>
            <a:off x="609600" y="2771775"/>
            <a:ext cx="108394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Train the supervisors</a:t>
            </a:r>
          </a:p>
        </p:txBody>
      </p:sp>
      <p:sp>
        <p:nvSpPr>
          <p:cNvPr id="7" name="Rectangle 6">
            <a:extLst>
              <a:ext uri="{FF2B5EF4-FFF2-40B4-BE49-F238E27FC236}">
                <a16:creationId xmlns:a16="http://schemas.microsoft.com/office/drawing/2014/main" id="{B4334226-B783-4044-BF06-BA3E7F4010B5}"/>
              </a:ext>
            </a:extLst>
          </p:cNvPr>
          <p:cNvSpPr>
            <a:spLocks noGrp="1"/>
          </p:cNvSpPr>
          <p:nvPr/>
        </p:nvSpPr>
        <p:spPr>
          <a:xfrm>
            <a:off x="609600" y="3143250"/>
            <a:ext cx="108394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Approved trainers teach QC persons and handlers, then record practical assessment results.</a:t>
            </a:r>
          </a:p>
        </p:txBody>
      </p:sp>
      <p:sp>
        <p:nvSpPr>
          <p:cNvPr id="8" name="Rectangle 7">
            <a:extLst>
              <a:ext uri="{FF2B5EF4-FFF2-40B4-BE49-F238E27FC236}">
                <a16:creationId xmlns:a16="http://schemas.microsoft.com/office/drawing/2014/main" id="{4A7B6FB4-6E78-4D28-82CF-A8B5E24E3605}"/>
              </a:ext>
            </a:extLst>
          </p:cNvPr>
          <p:cNvSpPr>
            <a:spLocks noGrp="1"/>
          </p:cNvSpPr>
          <p:nvPr/>
        </p:nvSpPr>
        <p:spPr>
          <a:xfrm>
            <a:off x="609600" y="3762375"/>
            <a:ext cx="108394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Test at the pilot depots</a:t>
            </a:r>
          </a:p>
        </p:txBody>
      </p:sp>
      <p:sp>
        <p:nvSpPr>
          <p:cNvPr id="9" name="Rectangle 8">
            <a:extLst>
              <a:ext uri="{FF2B5EF4-FFF2-40B4-BE49-F238E27FC236}">
                <a16:creationId xmlns:a16="http://schemas.microsoft.com/office/drawing/2014/main" id="{786C741F-3BB6-4C0A-9813-5FA49328327A}"/>
              </a:ext>
            </a:extLst>
          </p:cNvPr>
          <p:cNvSpPr>
            <a:spLocks noGrp="1"/>
          </p:cNvSpPr>
          <p:nvPr/>
        </p:nvSpPr>
        <p:spPr>
          <a:xfrm>
            <a:off x="609600" y="4133850"/>
            <a:ext cx="108394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Verify photo sign-in, GPS accuracy, offline sync, image uploads and client access.</a:t>
            </a:r>
          </a:p>
        </p:txBody>
      </p:sp>
      <p:sp>
        <p:nvSpPr>
          <p:cNvPr id="10" name="Rectangle 9">
            <a:extLst>
              <a:ext uri="{FF2B5EF4-FFF2-40B4-BE49-F238E27FC236}">
                <a16:creationId xmlns:a16="http://schemas.microsoft.com/office/drawing/2014/main" id="{9994CCA6-E6AA-4976-A92D-864047780087}"/>
              </a:ext>
            </a:extLst>
          </p:cNvPr>
          <p:cNvSpPr>
            <a:spLocks noGrp="1"/>
          </p:cNvSpPr>
          <p:nvPr/>
        </p:nvSpPr>
        <p:spPr>
          <a:xfrm>
            <a:off x="609600" y="4752975"/>
            <a:ext cx="108394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Approve go live</a:t>
            </a:r>
          </a:p>
        </p:txBody>
      </p:sp>
      <p:sp>
        <p:nvSpPr>
          <p:cNvPr id="11" name="Rectangle 10">
            <a:extLst>
              <a:ext uri="{FF2B5EF4-FFF2-40B4-BE49-F238E27FC236}">
                <a16:creationId xmlns:a16="http://schemas.microsoft.com/office/drawing/2014/main" id="{31036791-720C-435A-862B-8B67F9C2680C}"/>
              </a:ext>
            </a:extLst>
          </p:cNvPr>
          <p:cNvSpPr>
            <a:spLocks noGrp="1"/>
          </p:cNvSpPr>
          <p:nvPr/>
        </p:nvSpPr>
        <p:spPr>
          <a:xfrm>
            <a:off x="609600" y="5124450"/>
            <a:ext cx="108394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GBfoods accepts the tested workflow before nationwide field deployment begins.</a:t>
            </a:r>
          </a:p>
        </p:txBody>
      </p:sp>
      <p:sp>
        <p:nvSpPr>
          <p:cNvPr id="12" name="Rectangle 11">
            <a:extLst>
              <a:ext uri="{FF2B5EF4-FFF2-40B4-BE49-F238E27FC236}">
                <a16:creationId xmlns:a16="http://schemas.microsoft.com/office/drawing/2014/main" id="{A90F1E2F-A624-4002-8E19-9FF36E42677B}"/>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Agree access security, consent, retention and support. Development, hosting and maintenance require a separate quotation.</a:t>
            </a:r>
          </a:p>
        </p:txBody>
      </p:sp>
    </p:spTree>
    <p:extLst>
      <p:ext uri="{BB962C8B-B14F-4D97-AF65-F5344CB8AC3E}">
        <p14:creationId xmlns:p14="http://schemas.microsoft.com/office/powerpoint/2010/main" val="1408449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4FE7161-BD61-4E0B-8A60-2F4D4130707C}"/>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33</a:t>
            </a:r>
          </a:p>
        </p:txBody>
      </p:sp>
      <p:pic>
        <p:nvPicPr>
          <p:cNvPr id="7" name="Picture 6"/>
          <p:cNvPicPr>
            <a:picLocks noChangeAspect="1"/>
          </p:cNvPicPr>
          <p:nvPr/>
        </p:nvPicPr>
        <p:blipFill>
          <a:blip r:embed="rId3"/>
          <a:srcRect l="10206" r="10206"/>
          <a:stretch>
            <a:fillRect/>
          </a:stretch>
        </p:blipFill>
        <p:spPr>
          <a:xfrm>
            <a:off x="5429250" y="0"/>
            <a:ext cx="6762750" cy="6858000"/>
          </a:xfrm>
          <a:prstGeom prst="rect">
            <a:avLst/>
          </a:prstGeom>
        </p:spPr>
      </p:pic>
      <p:sp>
        <p:nvSpPr>
          <p:cNvPr id="3" name="Rectangle 2">
            <a:extLst>
              <a:ext uri="{FF2B5EF4-FFF2-40B4-BE49-F238E27FC236}">
                <a16:creationId xmlns:a16="http://schemas.microsoft.com/office/drawing/2014/main" id="{C4713FEF-BD63-4D3C-8303-0CD3B5E8E0B7}"/>
              </a:ext>
            </a:extLst>
          </p:cNvPr>
          <p:cNvSpPr>
            <a:spLocks noGrp="1"/>
          </p:cNvSpPr>
          <p:nvPr/>
        </p:nvSpPr>
        <p:spPr>
          <a:xfrm>
            <a:off x="609600" y="895350"/>
            <a:ext cx="4286250" cy="1047750"/>
          </a:xfrm>
          <a:prstGeom prst="rect">
            <a:avLst/>
          </a:prstGeom>
          <a:noFill/>
          <a:ln w="0">
            <a:noFill/>
          </a:ln>
        </p:spPr>
        <p:txBody>
          <a:bodyPr lIns="0" tIns="0" rIns="0" bIns="0">
            <a:noAutofit/>
          </a:bodyPr>
          <a:lstStyle/>
          <a:p>
            <a:pPr>
              <a:defRPr sz="7125" b="1">
                <a:solidFill>
                  <a:srgbClr val="FE5000"/>
                </a:solidFill>
                <a:latin typeface="DejaVu Sans"/>
                <a:ea typeface="DejaVu Sans"/>
                <a:cs typeface="DejaVu Sans"/>
              </a:defRPr>
            </a:pPr>
            <a:r>
              <a:rPr sz="7125" b="1">
                <a:solidFill>
                  <a:srgbClr val="FE5000"/>
                </a:solidFill>
                <a:latin typeface="DejaVu Sans"/>
                <a:ea typeface="DejaVu Sans"/>
                <a:cs typeface="DejaVu Sans"/>
              </a:rPr>
              <a:t>05</a:t>
            </a:r>
          </a:p>
        </p:txBody>
      </p:sp>
      <p:sp>
        <p:nvSpPr>
          <p:cNvPr id="4" name="Rectangle 3">
            <a:extLst>
              <a:ext uri="{FF2B5EF4-FFF2-40B4-BE49-F238E27FC236}">
                <a16:creationId xmlns:a16="http://schemas.microsoft.com/office/drawing/2014/main" id="{22981A84-4BD2-43AC-AA9E-90E4AB2E11E6}"/>
              </a:ext>
            </a:extLst>
          </p:cNvPr>
          <p:cNvSpPr>
            <a:spLocks noGrp="1"/>
          </p:cNvSpPr>
          <p:nvPr/>
        </p:nvSpPr>
        <p:spPr>
          <a:xfrm>
            <a:off x="609600" y="2371725"/>
            <a:ext cx="4476750" cy="1047750"/>
          </a:xfrm>
          <a:prstGeom prst="rect">
            <a:avLst/>
          </a:prstGeom>
          <a:noFill/>
          <a:ln w="0">
            <a:noFill/>
          </a:ln>
        </p:spPr>
        <p:txBody>
          <a:bodyPr lIns="0" tIns="0" rIns="0" bIns="0">
            <a:noAutofit/>
          </a:bodyPr>
          <a:lstStyle/>
          <a:p>
            <a:pPr>
              <a:defRPr sz="4275" b="1">
                <a:solidFill>
                  <a:srgbClr val="303030"/>
                </a:solidFill>
                <a:latin typeface="DejaVu Sans"/>
                <a:ea typeface="DejaVu Sans"/>
                <a:cs typeface="DejaVu Sans"/>
              </a:defRPr>
            </a:pPr>
            <a:r>
              <a:rPr sz="4275" b="1">
                <a:solidFill>
                  <a:srgbClr val="303030"/>
                </a:solidFill>
                <a:latin typeface="DejaVu Sans"/>
                <a:ea typeface="DejaVu Sans"/>
                <a:cs typeface="DejaVu Sans"/>
              </a:rPr>
              <a:t>During work</a:t>
            </a:r>
          </a:p>
        </p:txBody>
      </p:sp>
      <p:sp>
        <p:nvSpPr>
          <p:cNvPr id="5" name="Rectangle 4">
            <a:extLst>
              <a:ext uri="{FF2B5EF4-FFF2-40B4-BE49-F238E27FC236}">
                <a16:creationId xmlns:a16="http://schemas.microsoft.com/office/drawing/2014/main" id="{9184F944-142B-4347-8B21-1CEE6CB8014D}"/>
              </a:ext>
            </a:extLst>
          </p:cNvPr>
          <p:cNvSpPr>
            <a:spLocks noGrp="1"/>
          </p:cNvSpPr>
          <p:nvPr/>
        </p:nvSpPr>
        <p:spPr>
          <a:xfrm>
            <a:off x="609600" y="3810000"/>
            <a:ext cx="4286250" cy="1428750"/>
          </a:xfrm>
          <a:prstGeom prst="rect">
            <a:avLst/>
          </a:prstGeom>
          <a:noFill/>
          <a:ln w="0">
            <a:noFill/>
          </a:ln>
        </p:spPr>
        <p:txBody>
          <a:bodyPr lIns="0" tIns="0" rIns="0" bIns="0">
            <a:noAutofit/>
          </a:bodyPr>
          <a:lstStyle/>
          <a:p>
            <a:pPr>
              <a:defRPr sz="2100" b="0">
                <a:solidFill>
                  <a:srgbClr val="5E5E5E"/>
                </a:solidFill>
                <a:latin typeface="DejaVu Sans"/>
                <a:ea typeface="DejaVu Sans"/>
                <a:cs typeface="DejaVu Sans"/>
              </a:defRPr>
            </a:pPr>
            <a:r>
              <a:rPr sz="2100" b="0">
                <a:solidFill>
                  <a:srgbClr val="5E5E5E"/>
                </a:solidFill>
                <a:latin typeface="DejaVu Sans"/>
                <a:ea typeface="DejaVu Sans"/>
                <a:cs typeface="DejaVu Sans"/>
              </a:rPr>
              <a:t>Clear stock zones, visible supervision and a record of every movement.</a:t>
            </a:r>
          </a:p>
        </p:txBody>
      </p:sp>
    </p:spTree>
    <p:extLst>
      <p:ext uri="{BB962C8B-B14F-4D97-AF65-F5344CB8AC3E}">
        <p14:creationId xmlns:p14="http://schemas.microsoft.com/office/powerpoint/2010/main" val="10336396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E74EABB-93B3-48B5-AE46-0F13DA755582}"/>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Stock zones at each depot</a:t>
            </a:r>
          </a:p>
        </p:txBody>
      </p:sp>
      <p:sp>
        <p:nvSpPr>
          <p:cNvPr id="2" name="Rectangle 1">
            <a:extLst>
              <a:ext uri="{FF2B5EF4-FFF2-40B4-BE49-F238E27FC236}">
                <a16:creationId xmlns:a16="http://schemas.microsoft.com/office/drawing/2014/main" id="{5586DFAA-0717-4FFC-A88C-93688214D4EF}"/>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DURING WORK</a:t>
            </a:r>
          </a:p>
        </p:txBody>
      </p:sp>
      <p:sp>
        <p:nvSpPr>
          <p:cNvPr id="3" name="Rectangle 2">
            <a:extLst>
              <a:ext uri="{FF2B5EF4-FFF2-40B4-BE49-F238E27FC236}">
                <a16:creationId xmlns:a16="http://schemas.microsoft.com/office/drawing/2014/main" id="{05AB2219-C8AE-4615-9202-34C7B0534304}"/>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34</a:t>
            </a:r>
          </a:p>
        </p:txBody>
      </p:sp>
      <p:graphicFrame>
        <p:nvGraphicFramePr>
          <p:cNvPr id="9" name="Table 8"/>
          <p:cNvGraphicFramePr/>
          <p:nvPr/>
        </p:nvGraphicFramePr>
        <p:xfrm>
          <a:off x="609600" y="1800225"/>
          <a:ext cx="10972800" cy="3686175"/>
        </p:xfrm>
        <a:graphic>
          <a:graphicData uri="http://schemas.openxmlformats.org/drawingml/2006/table">
            <a:tbl>
              <a:tblPr/>
              <a:tblGrid>
                <a:gridCol w="2952750">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3876675">
                  <a:extLst>
                    <a:ext uri="{9D8B030D-6E8A-4147-A177-3AD203B41FA5}">
                      <a16:colId xmlns:a16="http://schemas.microsoft.com/office/drawing/2014/main" val="20002"/>
                    </a:ext>
                  </a:extLst>
                </a:gridCol>
              </a:tblGrid>
              <a:tr h="737235">
                <a:tc>
                  <a:txBody>
                    <a:bodyPr/>
                    <a:lstStyle/>
                    <a:p>
                      <a:r>
                        <a:rPr sz="1725" b="1">
                          <a:solidFill>
                            <a:srgbClr val="FFFFFF"/>
                          </a:solidFill>
                          <a:latin typeface="DejaVu Sans"/>
                          <a:ea typeface="DejaVu Sans"/>
                          <a:cs typeface="DejaVu Sans"/>
                        </a:rPr>
                        <a:t>Zone</a:t>
                      </a:r>
                    </a:p>
                  </a:txBody>
                  <a:tcPr>
                    <a:solidFill>
                      <a:srgbClr val="303030"/>
                    </a:solidFill>
                  </a:tcPr>
                </a:tc>
                <a:tc>
                  <a:txBody>
                    <a:bodyPr/>
                    <a:lstStyle/>
                    <a:p>
                      <a:r>
                        <a:rPr sz="1725" b="1">
                          <a:solidFill>
                            <a:srgbClr val="FFFFFF"/>
                          </a:solidFill>
                          <a:latin typeface="DejaVu Sans"/>
                          <a:ea typeface="DejaVu Sans"/>
                          <a:cs typeface="DejaVu Sans"/>
                        </a:rPr>
                        <a:t>What goes here</a:t>
                      </a:r>
                    </a:p>
                  </a:txBody>
                  <a:tcPr>
                    <a:solidFill>
                      <a:srgbClr val="303030"/>
                    </a:solidFill>
                  </a:tcPr>
                </a:tc>
                <a:tc>
                  <a:txBody>
                    <a:bodyPr/>
                    <a:lstStyle/>
                    <a:p>
                      <a:r>
                        <a:rPr sz="1725" b="1">
                          <a:solidFill>
                            <a:srgbClr val="FFFFFF"/>
                          </a:solidFill>
                          <a:latin typeface="DejaVu Sans"/>
                          <a:ea typeface="DejaVu Sans"/>
                          <a:cs typeface="DejaVu Sans"/>
                        </a:rPr>
                        <a:t>Control</a:t>
                      </a:r>
                    </a:p>
                  </a:txBody>
                  <a:tcPr>
                    <a:solidFill>
                      <a:srgbClr val="303030"/>
                    </a:solidFill>
                  </a:tcPr>
                </a:tc>
                <a:extLst>
                  <a:ext uri="{0D108BD9-81ED-4DB2-BD59-A6C34878D82A}">
                    <a16:rowId xmlns:a16="http://schemas.microsoft.com/office/drawing/2014/main" val="10000"/>
                  </a:ext>
                </a:extLst>
              </a:tr>
              <a:tr h="737235">
                <a:tc>
                  <a:txBody>
                    <a:bodyPr/>
                    <a:lstStyle/>
                    <a:p>
                      <a:r>
                        <a:rPr sz="1725" b="0">
                          <a:solidFill>
                            <a:srgbClr val="303030"/>
                          </a:solidFill>
                          <a:latin typeface="DejaVu Sans"/>
                          <a:ea typeface="DejaVu Sans"/>
                          <a:cs typeface="DejaVu Sans"/>
                        </a:rPr>
                        <a:t>Unexamined</a:t>
                      </a:r>
                    </a:p>
                  </a:txBody>
                  <a:tcPr>
                    <a:solidFill>
                      <a:srgbClr val="F5F5F5"/>
                    </a:solidFill>
                  </a:tcPr>
                </a:tc>
                <a:tc>
                  <a:txBody>
                    <a:bodyPr/>
                    <a:lstStyle/>
                    <a:p>
                      <a:r>
                        <a:rPr sz="1725" b="0">
                          <a:solidFill>
                            <a:srgbClr val="303030"/>
                          </a:solidFill>
                          <a:latin typeface="DejaVu Sans"/>
                          <a:ea typeface="DejaVu Sans"/>
                          <a:cs typeface="DejaVu Sans"/>
                        </a:rPr>
                        <a:t>Stock awaiting inspection</a:t>
                      </a:r>
                    </a:p>
                  </a:txBody>
                  <a:tcPr>
                    <a:solidFill>
                      <a:srgbClr val="F5F5F5"/>
                    </a:solidFill>
                  </a:tcPr>
                </a:tc>
                <a:tc>
                  <a:txBody>
                    <a:bodyPr/>
                    <a:lstStyle/>
                    <a:p>
                      <a:r>
                        <a:rPr sz="1725" b="0">
                          <a:solidFill>
                            <a:srgbClr val="303030"/>
                          </a:solidFill>
                          <a:latin typeface="DejaVu Sans"/>
                          <a:ea typeface="DejaVu Sans"/>
                          <a:cs typeface="DejaVu Sans"/>
                        </a:rPr>
                        <a:t>Record opening balance</a:t>
                      </a:r>
                    </a:p>
                  </a:txBody>
                  <a:tcPr>
                    <a:solidFill>
                      <a:srgbClr val="F5F5F5"/>
                    </a:solidFill>
                  </a:tcPr>
                </a:tc>
                <a:extLst>
                  <a:ext uri="{0D108BD9-81ED-4DB2-BD59-A6C34878D82A}">
                    <a16:rowId xmlns:a16="http://schemas.microsoft.com/office/drawing/2014/main" val="10001"/>
                  </a:ext>
                </a:extLst>
              </a:tr>
              <a:tr h="737235">
                <a:tc>
                  <a:txBody>
                    <a:bodyPr/>
                    <a:lstStyle/>
                    <a:p>
                      <a:r>
                        <a:rPr sz="1725" b="0">
                          <a:solidFill>
                            <a:srgbClr val="303030"/>
                          </a:solidFill>
                          <a:latin typeface="DejaVu Sans"/>
                          <a:ea typeface="DejaVu Sans"/>
                          <a:cs typeface="DejaVu Sans"/>
                        </a:rPr>
                        <a:t>Conforming pending release</a:t>
                      </a:r>
                    </a:p>
                  </a:txBody>
                  <a:tcPr>
                    <a:solidFill>
                      <a:srgbClr val="FFFFFF"/>
                    </a:solidFill>
                  </a:tcPr>
                </a:tc>
                <a:tc>
                  <a:txBody>
                    <a:bodyPr/>
                    <a:lstStyle/>
                    <a:p>
                      <a:r>
                        <a:rPr sz="1725" b="0">
                          <a:solidFill>
                            <a:srgbClr val="303030"/>
                          </a:solidFill>
                          <a:latin typeface="DejaVu Sans"/>
                          <a:ea typeface="DejaVu Sans"/>
                          <a:cs typeface="DejaVu Sans"/>
                        </a:rPr>
                        <a:t>Apparently acceptable units</a:t>
                      </a:r>
                    </a:p>
                  </a:txBody>
                  <a:tcPr>
                    <a:solidFill>
                      <a:srgbClr val="FFFFFF"/>
                    </a:solidFill>
                  </a:tcPr>
                </a:tc>
                <a:tc>
                  <a:txBody>
                    <a:bodyPr/>
                    <a:lstStyle/>
                    <a:p>
                      <a:r>
                        <a:rPr sz="1725" b="0">
                          <a:solidFill>
                            <a:srgbClr val="303030"/>
                          </a:solidFill>
                          <a:latin typeface="DejaVu Sans"/>
                          <a:ea typeface="DejaVu Sans"/>
                          <a:cs typeface="DejaVu Sans"/>
                        </a:rPr>
                        <a:t>GBfoods release decision</a:t>
                      </a:r>
                    </a:p>
                  </a:txBody>
                  <a:tcPr>
                    <a:solidFill>
                      <a:srgbClr val="FFFFFF"/>
                    </a:solidFill>
                  </a:tcPr>
                </a:tc>
                <a:extLst>
                  <a:ext uri="{0D108BD9-81ED-4DB2-BD59-A6C34878D82A}">
                    <a16:rowId xmlns:a16="http://schemas.microsoft.com/office/drawing/2014/main" val="10002"/>
                  </a:ext>
                </a:extLst>
              </a:tr>
              <a:tr h="737235">
                <a:tc>
                  <a:txBody>
                    <a:bodyPr/>
                    <a:lstStyle/>
                    <a:p>
                      <a:r>
                        <a:rPr sz="1725" b="0">
                          <a:solidFill>
                            <a:srgbClr val="303030"/>
                          </a:solidFill>
                          <a:latin typeface="DejaVu Sans"/>
                          <a:ea typeface="DejaVu Sans"/>
                          <a:cs typeface="DejaVu Sans"/>
                        </a:rPr>
                        <a:t>Recoverable pending approval</a:t>
                      </a:r>
                    </a:p>
                  </a:txBody>
                  <a:tcPr>
                    <a:solidFill>
                      <a:srgbClr val="F5F5F5"/>
                    </a:solidFill>
                  </a:tcPr>
                </a:tc>
                <a:tc>
                  <a:txBody>
                    <a:bodyPr/>
                    <a:lstStyle/>
                    <a:p>
                      <a:r>
                        <a:rPr sz="1725" b="0">
                          <a:solidFill>
                            <a:srgbClr val="303030"/>
                          </a:solidFill>
                          <a:latin typeface="DejaVu Sans"/>
                          <a:ea typeface="DejaVu Sans"/>
                          <a:cs typeface="DejaVu Sans"/>
                        </a:rPr>
                        <a:t>Intact units needing secondary repacking</a:t>
                      </a:r>
                    </a:p>
                  </a:txBody>
                  <a:tcPr>
                    <a:solidFill>
                      <a:srgbClr val="F5F5F5"/>
                    </a:solidFill>
                  </a:tcPr>
                </a:tc>
                <a:tc>
                  <a:txBody>
                    <a:bodyPr/>
                    <a:lstStyle/>
                    <a:p>
                      <a:r>
                        <a:rPr sz="1725" b="0">
                          <a:solidFill>
                            <a:srgbClr val="303030"/>
                          </a:solidFill>
                          <a:latin typeface="DejaVu Sans"/>
                          <a:ea typeface="DejaVu Sans"/>
                          <a:cs typeface="DejaVu Sans"/>
                        </a:rPr>
                        <a:t>Approved method and materials</a:t>
                      </a:r>
                    </a:p>
                  </a:txBody>
                  <a:tcPr>
                    <a:solidFill>
                      <a:srgbClr val="F5F5F5"/>
                    </a:solidFill>
                  </a:tcPr>
                </a:tc>
                <a:extLst>
                  <a:ext uri="{0D108BD9-81ED-4DB2-BD59-A6C34878D82A}">
                    <a16:rowId xmlns:a16="http://schemas.microsoft.com/office/drawing/2014/main" val="10003"/>
                  </a:ext>
                </a:extLst>
              </a:tr>
              <a:tr h="737235">
                <a:tc>
                  <a:txBody>
                    <a:bodyPr/>
                    <a:lstStyle/>
                    <a:p>
                      <a:r>
                        <a:rPr sz="1725" b="0">
                          <a:solidFill>
                            <a:srgbClr val="303030"/>
                          </a:solidFill>
                          <a:latin typeface="DejaVu Sans"/>
                          <a:ea typeface="DejaVu Sans"/>
                          <a:cs typeface="DejaVu Sans"/>
                        </a:rPr>
                        <a:t>Held or rejected</a:t>
                      </a:r>
                    </a:p>
                  </a:txBody>
                  <a:tcPr>
                    <a:solidFill>
                      <a:srgbClr val="FFFFFF"/>
                    </a:solidFill>
                  </a:tcPr>
                </a:tc>
                <a:tc>
                  <a:txBody>
                    <a:bodyPr/>
                    <a:lstStyle/>
                    <a:p>
                      <a:r>
                        <a:rPr sz="1725" b="0">
                          <a:solidFill>
                            <a:srgbClr val="303030"/>
                          </a:solidFill>
                          <a:latin typeface="DejaVu Sans"/>
                          <a:ea typeface="DejaVu Sans"/>
                          <a:cs typeface="DejaVu Sans"/>
                        </a:rPr>
                        <a:t>Suspect or quality-affected units</a:t>
                      </a:r>
                    </a:p>
                  </a:txBody>
                  <a:tcPr>
                    <a:solidFill>
                      <a:srgbClr val="FFFFFF"/>
                    </a:solidFill>
                  </a:tcPr>
                </a:tc>
                <a:tc>
                  <a:txBody>
                    <a:bodyPr/>
                    <a:lstStyle/>
                    <a:p>
                      <a:r>
                        <a:rPr sz="1725" b="0">
                          <a:solidFill>
                            <a:srgbClr val="303030"/>
                          </a:solidFill>
                          <a:latin typeface="DejaVu Sans"/>
                          <a:ea typeface="DejaVu Sans"/>
                          <a:cs typeface="DejaVu Sans"/>
                        </a:rPr>
                        <a:t>Secure, label and await instruction</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36247212-E0E3-44E5-BC55-7FAFD35E41FA}"/>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Use physical separation and written labels. Record released stock remaining on site as a separate closing category.</a:t>
            </a:r>
          </a:p>
        </p:txBody>
      </p:sp>
    </p:spTree>
    <p:extLst>
      <p:ext uri="{BB962C8B-B14F-4D97-AF65-F5344CB8AC3E}">
        <p14:creationId xmlns:p14="http://schemas.microsoft.com/office/powerpoint/2010/main" val="1690564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1E6D75-459B-4F02-9F32-4D6E03F8C433}"/>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A planned depot day</a:t>
            </a:r>
          </a:p>
        </p:txBody>
      </p:sp>
      <p:sp>
        <p:nvSpPr>
          <p:cNvPr id="2" name="Rectangle 1">
            <a:extLst>
              <a:ext uri="{FF2B5EF4-FFF2-40B4-BE49-F238E27FC236}">
                <a16:creationId xmlns:a16="http://schemas.microsoft.com/office/drawing/2014/main" id="{C636F1F8-D552-499E-9C22-2D8496B677C5}"/>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DURING WORK</a:t>
            </a:r>
          </a:p>
        </p:txBody>
      </p:sp>
      <p:sp>
        <p:nvSpPr>
          <p:cNvPr id="3" name="Rectangle 2">
            <a:extLst>
              <a:ext uri="{FF2B5EF4-FFF2-40B4-BE49-F238E27FC236}">
                <a16:creationId xmlns:a16="http://schemas.microsoft.com/office/drawing/2014/main" id="{FD4B721A-3EC4-48C6-8A5C-3AECFD7DF604}"/>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35</a:t>
            </a:r>
          </a:p>
        </p:txBody>
      </p:sp>
      <p:graphicFrame>
        <p:nvGraphicFramePr>
          <p:cNvPr id="9" name="Table 8"/>
          <p:cNvGraphicFramePr/>
          <p:nvPr/>
        </p:nvGraphicFramePr>
        <p:xfrm>
          <a:off x="609600" y="1790700"/>
          <a:ext cx="10972800" cy="3714750"/>
        </p:xfrm>
        <a:graphic>
          <a:graphicData uri="http://schemas.openxmlformats.org/drawingml/2006/table">
            <a:tbl>
              <a:tblPr/>
              <a:tblGrid>
                <a:gridCol w="2333625">
                  <a:extLst>
                    <a:ext uri="{9D8B030D-6E8A-4147-A177-3AD203B41FA5}">
                      <a16:colId xmlns:a16="http://schemas.microsoft.com/office/drawing/2014/main" val="20000"/>
                    </a:ext>
                  </a:extLst>
                </a:gridCol>
                <a:gridCol w="8639175">
                  <a:extLst>
                    <a:ext uri="{9D8B030D-6E8A-4147-A177-3AD203B41FA5}">
                      <a16:colId xmlns:a16="http://schemas.microsoft.com/office/drawing/2014/main" val="20001"/>
                    </a:ext>
                  </a:extLst>
                </a:gridCol>
              </a:tblGrid>
              <a:tr h="619125">
                <a:tc>
                  <a:txBody>
                    <a:bodyPr/>
                    <a:lstStyle/>
                    <a:p>
                      <a:r>
                        <a:rPr sz="1800" b="1">
                          <a:solidFill>
                            <a:srgbClr val="FFFFFF"/>
                          </a:solidFill>
                          <a:latin typeface="DejaVu Sans"/>
                          <a:ea typeface="DejaVu Sans"/>
                          <a:cs typeface="DejaVu Sans"/>
                        </a:rPr>
                        <a:t>Time</a:t>
                      </a:r>
                    </a:p>
                  </a:txBody>
                  <a:tcPr>
                    <a:solidFill>
                      <a:srgbClr val="303030"/>
                    </a:solidFill>
                  </a:tcPr>
                </a:tc>
                <a:tc>
                  <a:txBody>
                    <a:bodyPr/>
                    <a:lstStyle/>
                    <a:p>
                      <a:r>
                        <a:rPr sz="1800" b="1">
                          <a:solidFill>
                            <a:srgbClr val="FFFFFF"/>
                          </a:solidFill>
                          <a:latin typeface="DejaVu Sans"/>
                          <a:ea typeface="DejaVu Sans"/>
                          <a:cs typeface="DejaVu Sans"/>
                        </a:rPr>
                        <a:t>Activity</a:t>
                      </a:r>
                    </a:p>
                  </a:txBody>
                  <a:tcPr>
                    <a:solidFill>
                      <a:srgbClr val="303030"/>
                    </a:solidFill>
                  </a:tcPr>
                </a:tc>
                <a:extLst>
                  <a:ext uri="{0D108BD9-81ED-4DB2-BD59-A6C34878D82A}">
                    <a16:rowId xmlns:a16="http://schemas.microsoft.com/office/drawing/2014/main" val="10000"/>
                  </a:ext>
                </a:extLst>
              </a:tr>
              <a:tr h="619125">
                <a:tc>
                  <a:txBody>
                    <a:bodyPr/>
                    <a:lstStyle/>
                    <a:p>
                      <a:r>
                        <a:rPr sz="1800" b="0">
                          <a:solidFill>
                            <a:srgbClr val="303030"/>
                          </a:solidFill>
                          <a:latin typeface="DejaVu Sans"/>
                          <a:ea typeface="DejaVu Sans"/>
                          <a:cs typeface="DejaVu Sans"/>
                        </a:rPr>
                        <a:t>07:00–08:30</a:t>
                      </a:r>
                    </a:p>
                  </a:txBody>
                  <a:tcPr>
                    <a:solidFill>
                      <a:srgbClr val="F5F5F5"/>
                    </a:solidFill>
                  </a:tcPr>
                </a:tc>
                <a:tc>
                  <a:txBody>
                    <a:bodyPr/>
                    <a:lstStyle/>
                    <a:p>
                      <a:r>
                        <a:rPr sz="1800" b="0">
                          <a:solidFill>
                            <a:srgbClr val="303030"/>
                          </a:solidFill>
                          <a:latin typeface="DejaVu Sans"/>
                          <a:ea typeface="DejaVu Sans"/>
                          <a:cs typeface="DejaVu Sans"/>
                        </a:rPr>
                        <a:t>ID and PPE checks, travel, induction and opening count</a:t>
                      </a:r>
                    </a:p>
                  </a:txBody>
                  <a:tcPr>
                    <a:solidFill>
                      <a:srgbClr val="F5F5F5"/>
                    </a:solidFill>
                  </a:tcPr>
                </a:tc>
                <a:extLst>
                  <a:ext uri="{0D108BD9-81ED-4DB2-BD59-A6C34878D82A}">
                    <a16:rowId xmlns:a16="http://schemas.microsoft.com/office/drawing/2014/main" val="10001"/>
                  </a:ext>
                </a:extLst>
              </a:tr>
              <a:tr h="619125">
                <a:tc>
                  <a:txBody>
                    <a:bodyPr/>
                    <a:lstStyle/>
                    <a:p>
                      <a:r>
                        <a:rPr sz="1800" b="0">
                          <a:solidFill>
                            <a:srgbClr val="303030"/>
                          </a:solidFill>
                          <a:latin typeface="DejaVu Sans"/>
                          <a:ea typeface="DejaVu Sans"/>
                          <a:cs typeface="DejaVu Sans"/>
                        </a:rPr>
                        <a:t>08:30–10:30</a:t>
                      </a:r>
                    </a:p>
                  </a:txBody>
                  <a:tcPr>
                    <a:solidFill>
                      <a:srgbClr val="FFFFFF"/>
                    </a:solidFill>
                  </a:tcPr>
                </a:tc>
                <a:tc>
                  <a:txBody>
                    <a:bodyPr/>
                    <a:lstStyle/>
                    <a:p>
                      <a:r>
                        <a:rPr sz="1800" b="0">
                          <a:solidFill>
                            <a:srgbClr val="303030"/>
                          </a:solidFill>
                          <a:latin typeface="DejaVu Sans"/>
                          <a:ea typeface="DejaVu Sans"/>
                          <a:cs typeface="DejaVu Sans"/>
                        </a:rPr>
                        <a:t>Sorting block 1 and initial classification check</a:t>
                      </a:r>
                    </a:p>
                  </a:txBody>
                  <a:tcPr>
                    <a:solidFill>
                      <a:srgbClr val="FFFFFF"/>
                    </a:solidFill>
                  </a:tcPr>
                </a:tc>
                <a:extLst>
                  <a:ext uri="{0D108BD9-81ED-4DB2-BD59-A6C34878D82A}">
                    <a16:rowId xmlns:a16="http://schemas.microsoft.com/office/drawing/2014/main" val="10002"/>
                  </a:ext>
                </a:extLst>
              </a:tr>
              <a:tr h="619125">
                <a:tc>
                  <a:txBody>
                    <a:bodyPr/>
                    <a:lstStyle/>
                    <a:p>
                      <a:r>
                        <a:rPr sz="1800" b="0">
                          <a:solidFill>
                            <a:srgbClr val="303030"/>
                          </a:solidFill>
                          <a:latin typeface="DejaVu Sans"/>
                          <a:ea typeface="DejaVu Sans"/>
                          <a:cs typeface="DejaVu Sans"/>
                        </a:rPr>
                        <a:t>10:45–12:45</a:t>
                      </a:r>
                    </a:p>
                  </a:txBody>
                  <a:tcPr>
                    <a:solidFill>
                      <a:srgbClr val="F5F5F5"/>
                    </a:solidFill>
                  </a:tcPr>
                </a:tc>
                <a:tc>
                  <a:txBody>
                    <a:bodyPr/>
                    <a:lstStyle/>
                    <a:p>
                      <a:r>
                        <a:rPr sz="1800" b="0">
                          <a:solidFill>
                            <a:srgbClr val="303030"/>
                          </a:solidFill>
                          <a:latin typeface="DejaVu Sans"/>
                          <a:ea typeface="DejaVu Sans"/>
                          <a:cs typeface="DejaVu Sans"/>
                        </a:rPr>
                        <a:t>Sorting block 2 and supervisor review</a:t>
                      </a:r>
                    </a:p>
                  </a:txBody>
                  <a:tcPr>
                    <a:solidFill>
                      <a:srgbClr val="F5F5F5"/>
                    </a:solidFill>
                  </a:tcPr>
                </a:tc>
                <a:extLst>
                  <a:ext uri="{0D108BD9-81ED-4DB2-BD59-A6C34878D82A}">
                    <a16:rowId xmlns:a16="http://schemas.microsoft.com/office/drawing/2014/main" val="10003"/>
                  </a:ext>
                </a:extLst>
              </a:tr>
              <a:tr h="619125">
                <a:tc>
                  <a:txBody>
                    <a:bodyPr/>
                    <a:lstStyle/>
                    <a:p>
                      <a:r>
                        <a:rPr sz="1800" b="0">
                          <a:solidFill>
                            <a:srgbClr val="303030"/>
                          </a:solidFill>
                          <a:latin typeface="DejaVu Sans"/>
                          <a:ea typeface="DejaVu Sans"/>
                          <a:cs typeface="DejaVu Sans"/>
                        </a:rPr>
                        <a:t>13:30–15:30</a:t>
                      </a:r>
                    </a:p>
                  </a:txBody>
                  <a:tcPr>
                    <a:solidFill>
                      <a:srgbClr val="FFFFFF"/>
                    </a:solidFill>
                  </a:tcPr>
                </a:tc>
                <a:tc>
                  <a:txBody>
                    <a:bodyPr/>
                    <a:lstStyle/>
                    <a:p>
                      <a:r>
                        <a:rPr sz="1800" b="0">
                          <a:solidFill>
                            <a:srgbClr val="303030"/>
                          </a:solidFill>
                          <a:latin typeface="DejaVu Sans"/>
                          <a:ea typeface="DejaVu Sans"/>
                          <a:cs typeface="DejaVu Sans"/>
                        </a:rPr>
                        <a:t>Sorting block 3, approved repacking and quality checks</a:t>
                      </a:r>
                    </a:p>
                  </a:txBody>
                  <a:tcPr>
                    <a:solidFill>
                      <a:srgbClr val="FFFFFF"/>
                    </a:solidFill>
                  </a:tcPr>
                </a:tc>
                <a:extLst>
                  <a:ext uri="{0D108BD9-81ED-4DB2-BD59-A6C34878D82A}">
                    <a16:rowId xmlns:a16="http://schemas.microsoft.com/office/drawing/2014/main" val="10004"/>
                  </a:ext>
                </a:extLst>
              </a:tr>
              <a:tr h="619125">
                <a:tc>
                  <a:txBody>
                    <a:bodyPr/>
                    <a:lstStyle/>
                    <a:p>
                      <a:r>
                        <a:rPr sz="1800" b="0">
                          <a:solidFill>
                            <a:srgbClr val="303030"/>
                          </a:solidFill>
                          <a:latin typeface="DejaVu Sans"/>
                          <a:ea typeface="DejaVu Sans"/>
                          <a:cs typeface="DejaVu Sans"/>
                        </a:rPr>
                        <a:t>15:30–17:00</a:t>
                      </a:r>
                    </a:p>
                  </a:txBody>
                  <a:tcPr>
                    <a:solidFill>
                      <a:srgbClr val="F5F5F5"/>
                    </a:solidFill>
                  </a:tcPr>
                </a:tc>
                <a:tc>
                  <a:txBody>
                    <a:bodyPr/>
                    <a:lstStyle/>
                    <a:p>
                      <a:r>
                        <a:rPr sz="1800" b="0">
                          <a:solidFill>
                            <a:srgbClr val="303030"/>
                          </a:solidFill>
                          <a:latin typeface="DejaVu Sans"/>
                          <a:ea typeface="DejaVu Sans"/>
                          <a:cs typeface="DejaVu Sans"/>
                        </a:rPr>
                        <a:t>Reconcile, sign custody handover, return and upload</a:t>
                      </a:r>
                    </a:p>
                  </a:txBody>
                  <a:tcPr>
                    <a:solidFill>
                      <a:srgbClr val="F5F5F5"/>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85296BDA-8E97-4CB4-8069-74F875C646CD}"/>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Breaks: 10:30–10:45 and 12:45–13:30. Illustrative schedule assumes a depot 30 minutes from base.</a:t>
            </a:r>
          </a:p>
        </p:txBody>
      </p:sp>
    </p:spTree>
    <p:extLst>
      <p:ext uri="{BB962C8B-B14F-4D97-AF65-F5344CB8AC3E}">
        <p14:creationId xmlns:p14="http://schemas.microsoft.com/office/powerpoint/2010/main" val="21203612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E5000"/>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CC194C6-EA3D-41FD-A68E-0D1222AB478D}"/>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GBfoods retains release authority</a:t>
            </a:r>
          </a:p>
        </p:txBody>
      </p:sp>
      <p:sp>
        <p:nvSpPr>
          <p:cNvPr id="2" name="Rectangle 1">
            <a:extLst>
              <a:ext uri="{FF2B5EF4-FFF2-40B4-BE49-F238E27FC236}">
                <a16:creationId xmlns:a16="http://schemas.microsoft.com/office/drawing/2014/main" id="{B72EA719-ECCC-4357-B772-DA7816F24360}"/>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DURING WORK</a:t>
            </a:r>
          </a:p>
        </p:txBody>
      </p:sp>
      <p:sp>
        <p:nvSpPr>
          <p:cNvPr id="3" name="Rectangle 2">
            <a:extLst>
              <a:ext uri="{FF2B5EF4-FFF2-40B4-BE49-F238E27FC236}">
                <a16:creationId xmlns:a16="http://schemas.microsoft.com/office/drawing/2014/main" id="{3DD11429-7FDB-460B-B6C5-97C1B1CB6FF2}"/>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36</a:t>
            </a:r>
          </a:p>
        </p:txBody>
      </p:sp>
      <p:sp>
        <p:nvSpPr>
          <p:cNvPr id="4" name="Rectangle 3">
            <a:extLst>
              <a:ext uri="{FF2B5EF4-FFF2-40B4-BE49-F238E27FC236}">
                <a16:creationId xmlns:a16="http://schemas.microsoft.com/office/drawing/2014/main" id="{32019BDC-A55F-4BA9-810D-5C70CCBBF19C}"/>
              </a:ext>
            </a:extLst>
          </p:cNvPr>
          <p:cNvSpPr>
            <a:spLocks noGrp="1"/>
          </p:cNvSpPr>
          <p:nvPr/>
        </p:nvSpPr>
        <p:spPr>
          <a:xfrm>
            <a:off x="609600" y="2047875"/>
            <a:ext cx="10858500" cy="1752600"/>
          </a:xfrm>
          <a:prstGeom prst="rect">
            <a:avLst/>
          </a:prstGeom>
          <a:noFill/>
          <a:ln w="0">
            <a:noFill/>
          </a:ln>
        </p:spPr>
        <p:txBody>
          <a:bodyPr lIns="0" tIns="0" rIns="0" bIns="0">
            <a:noAutofit/>
          </a:bodyPr>
          <a:lstStyle/>
          <a:p>
            <a:pPr>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No held stock returns to sale</a:t>
            </a:r>
          </a:p>
          <a:p>
            <a:pPr>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without authorisation</a:t>
            </a:r>
          </a:p>
        </p:txBody>
      </p:sp>
      <p:sp>
        <p:nvSpPr>
          <p:cNvPr id="5" name="Rectangle 4">
            <a:extLst>
              <a:ext uri="{FF2B5EF4-FFF2-40B4-BE49-F238E27FC236}">
                <a16:creationId xmlns:a16="http://schemas.microsoft.com/office/drawing/2014/main" id="{9DB787C6-C52F-4793-B9AE-3CF1F945A52B}"/>
              </a:ext>
            </a:extLst>
          </p:cNvPr>
          <p:cNvSpPr>
            <a:spLocks noGrp="1"/>
          </p:cNvSpPr>
          <p:nvPr/>
        </p:nvSpPr>
        <p:spPr>
          <a:xfrm>
            <a:off x="609600" y="4429125"/>
            <a:ext cx="10382250" cy="1371600"/>
          </a:xfrm>
          <a:prstGeom prst="rect">
            <a:avLst/>
          </a:prstGeom>
          <a:noFill/>
          <a:ln w="0">
            <a:noFill/>
          </a:ln>
        </p:spPr>
        <p:txBody>
          <a:bodyPr lIns="0" tIns="0" rIns="0" bIns="0">
            <a:noAutofit/>
          </a:bodyPr>
          <a:lstStyle/>
          <a:p>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The assigned QC person oversees inspection and separation.</a:t>
            </a:r>
          </a:p>
          <a:p>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The cluster supervisor verifies the record.</a:t>
            </a:r>
          </a:p>
          <a:p>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GBfoods decides the quality disposition.</a:t>
            </a:r>
          </a:p>
        </p:txBody>
      </p:sp>
    </p:spTree>
    <p:extLst>
      <p:ext uri="{BB962C8B-B14F-4D97-AF65-F5344CB8AC3E}">
        <p14:creationId xmlns:p14="http://schemas.microsoft.com/office/powerpoint/2010/main" val="11923772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516F04D-872B-4A61-9BC8-6FF70313D800}"/>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The daily control desk</a:t>
            </a:r>
          </a:p>
        </p:txBody>
      </p:sp>
      <p:sp>
        <p:nvSpPr>
          <p:cNvPr id="2" name="Rectangle 1">
            <a:extLst>
              <a:ext uri="{FF2B5EF4-FFF2-40B4-BE49-F238E27FC236}">
                <a16:creationId xmlns:a16="http://schemas.microsoft.com/office/drawing/2014/main" id="{DF5B0D26-370A-457A-820F-FDF329DFC722}"/>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DURING WORK</a:t>
            </a:r>
          </a:p>
        </p:txBody>
      </p:sp>
      <p:sp>
        <p:nvSpPr>
          <p:cNvPr id="3" name="Rectangle 2">
            <a:extLst>
              <a:ext uri="{FF2B5EF4-FFF2-40B4-BE49-F238E27FC236}">
                <a16:creationId xmlns:a16="http://schemas.microsoft.com/office/drawing/2014/main" id="{26C39F75-D215-4261-96C8-BDB3A225F170}"/>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37</a:t>
            </a:r>
          </a:p>
        </p:txBody>
      </p:sp>
      <p:sp>
        <p:nvSpPr>
          <p:cNvPr id="4" name="Rectangle 3">
            <a:extLst>
              <a:ext uri="{FF2B5EF4-FFF2-40B4-BE49-F238E27FC236}">
                <a16:creationId xmlns:a16="http://schemas.microsoft.com/office/drawing/2014/main" id="{2A6BE4FA-DD92-418B-8310-B2740B996D37}"/>
              </a:ext>
            </a:extLst>
          </p:cNvPr>
          <p:cNvSpPr>
            <a:spLocks noGrp="1"/>
          </p:cNvSpPr>
          <p:nvPr/>
        </p:nvSpPr>
        <p:spPr>
          <a:xfrm>
            <a:off x="609600" y="1924050"/>
            <a:ext cx="3302000" cy="857250"/>
          </a:xfrm>
          <a:prstGeom prst="rect">
            <a:avLst/>
          </a:prstGeom>
          <a:noFill/>
          <a:ln w="0">
            <a:noFill/>
          </a:ln>
        </p:spPr>
        <p:txBody>
          <a:bodyPr lIns="0" tIns="0" rIns="0" bIns="0">
            <a:noAutofit/>
          </a:bodyPr>
          <a:lstStyle/>
          <a:p>
            <a:pPr>
              <a:defRPr sz="3375" b="1">
                <a:solidFill>
                  <a:srgbClr val="FE5000"/>
                </a:solidFill>
                <a:latin typeface="DejaVu Sans"/>
                <a:ea typeface="DejaVu Sans"/>
                <a:cs typeface="DejaVu Sans"/>
              </a:defRPr>
            </a:pPr>
            <a:r>
              <a:rPr sz="3375" b="1">
                <a:solidFill>
                  <a:srgbClr val="FE5000"/>
                </a:solidFill>
                <a:latin typeface="DejaVu Sans"/>
                <a:ea typeface="DejaVu Sans"/>
                <a:cs typeface="DejaVu Sans"/>
              </a:rPr>
              <a:t>14:00</a:t>
            </a:r>
          </a:p>
        </p:txBody>
      </p:sp>
      <p:sp>
        <p:nvSpPr>
          <p:cNvPr id="5" name="Rectangle 4">
            <a:extLst>
              <a:ext uri="{FF2B5EF4-FFF2-40B4-BE49-F238E27FC236}">
                <a16:creationId xmlns:a16="http://schemas.microsoft.com/office/drawing/2014/main" id="{EC671CC2-348A-45DD-8AE9-625C1DBA30D7}"/>
              </a:ext>
            </a:extLst>
          </p:cNvPr>
          <p:cNvSpPr>
            <a:spLocks noGrp="1"/>
          </p:cNvSpPr>
          <p:nvPr/>
        </p:nvSpPr>
        <p:spPr>
          <a:xfrm>
            <a:off x="609600" y="299085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Field forecast</a:t>
            </a:r>
          </a:p>
        </p:txBody>
      </p:sp>
      <p:sp>
        <p:nvSpPr>
          <p:cNvPr id="6" name="Rectangle 5">
            <a:extLst>
              <a:ext uri="{FF2B5EF4-FFF2-40B4-BE49-F238E27FC236}">
                <a16:creationId xmlns:a16="http://schemas.microsoft.com/office/drawing/2014/main" id="{375D266F-346D-491C-9E47-2418989FED89}"/>
              </a:ext>
            </a:extLst>
          </p:cNvPr>
          <p:cNvSpPr>
            <a:spLocks noGrp="1"/>
          </p:cNvSpPr>
          <p:nvPr/>
        </p:nvSpPr>
        <p:spPr>
          <a:xfrm>
            <a:off x="609600" y="382905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QC persons report stock and blockers through cluster and regional supervisors.</a:t>
            </a:r>
          </a:p>
        </p:txBody>
      </p:sp>
      <p:sp>
        <p:nvSpPr>
          <p:cNvPr id="7" name="Rectangle 6">
            <a:extLst>
              <a:ext uri="{FF2B5EF4-FFF2-40B4-BE49-F238E27FC236}">
                <a16:creationId xmlns:a16="http://schemas.microsoft.com/office/drawing/2014/main" id="{030A6E2F-BBEC-4504-9A81-E5DC0B10D7D7}"/>
              </a:ext>
            </a:extLst>
          </p:cNvPr>
          <p:cNvSpPr>
            <a:spLocks noGrp="1"/>
          </p:cNvSpPr>
          <p:nvPr/>
        </p:nvSpPr>
        <p:spPr>
          <a:xfrm>
            <a:off x="4267200" y="1924050"/>
            <a:ext cx="3302000" cy="857250"/>
          </a:xfrm>
          <a:prstGeom prst="rect">
            <a:avLst/>
          </a:prstGeom>
          <a:noFill/>
          <a:ln w="0">
            <a:noFill/>
          </a:ln>
        </p:spPr>
        <p:txBody>
          <a:bodyPr lIns="0" tIns="0" rIns="0" bIns="0">
            <a:noAutofit/>
          </a:bodyPr>
          <a:lstStyle/>
          <a:p>
            <a:pPr>
              <a:defRPr sz="3375" b="1">
                <a:solidFill>
                  <a:srgbClr val="FE5000"/>
                </a:solidFill>
                <a:latin typeface="DejaVu Sans"/>
                <a:ea typeface="DejaVu Sans"/>
                <a:cs typeface="DejaVu Sans"/>
              </a:defRPr>
            </a:pPr>
            <a:r>
              <a:rPr sz="3375" b="1">
                <a:solidFill>
                  <a:srgbClr val="FE5000"/>
                </a:solidFill>
                <a:latin typeface="DejaVu Sans"/>
                <a:ea typeface="DejaVu Sans"/>
                <a:cs typeface="DejaVu Sans"/>
              </a:rPr>
              <a:t>17:00</a:t>
            </a:r>
          </a:p>
        </p:txBody>
      </p:sp>
      <p:sp>
        <p:nvSpPr>
          <p:cNvPr id="8" name="Rectangle 7">
            <a:extLst>
              <a:ext uri="{FF2B5EF4-FFF2-40B4-BE49-F238E27FC236}">
                <a16:creationId xmlns:a16="http://schemas.microsoft.com/office/drawing/2014/main" id="{27727BBA-76B5-4B64-8457-DD9F511E910E}"/>
              </a:ext>
            </a:extLst>
          </p:cNvPr>
          <p:cNvSpPr>
            <a:spLocks noGrp="1"/>
          </p:cNvSpPr>
          <p:nvPr/>
        </p:nvSpPr>
        <p:spPr>
          <a:xfrm>
            <a:off x="4267200" y="299085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Dispatch plan</a:t>
            </a:r>
          </a:p>
        </p:txBody>
      </p:sp>
      <p:sp>
        <p:nvSpPr>
          <p:cNvPr id="9" name="Rectangle 8">
            <a:extLst>
              <a:ext uri="{FF2B5EF4-FFF2-40B4-BE49-F238E27FC236}">
                <a16:creationId xmlns:a16="http://schemas.microsoft.com/office/drawing/2014/main" id="{7E8B13FD-67C2-455C-8C1F-30B2EFE3F6CD}"/>
              </a:ext>
            </a:extLst>
          </p:cNvPr>
          <p:cNvSpPr>
            <a:spLocks noGrp="1"/>
          </p:cNvSpPr>
          <p:nvPr/>
        </p:nvSpPr>
        <p:spPr>
          <a:xfrm>
            <a:off x="4267200" y="382905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Regional supervisors confirm routes and access with National Operations.</a:t>
            </a:r>
          </a:p>
        </p:txBody>
      </p:sp>
      <p:sp>
        <p:nvSpPr>
          <p:cNvPr id="10" name="Rectangle 9">
            <a:extLst>
              <a:ext uri="{FF2B5EF4-FFF2-40B4-BE49-F238E27FC236}">
                <a16:creationId xmlns:a16="http://schemas.microsoft.com/office/drawing/2014/main" id="{E29FFCDB-7CB0-433E-AA64-BD79E29C4D7C}"/>
              </a:ext>
            </a:extLst>
          </p:cNvPr>
          <p:cNvSpPr>
            <a:spLocks noGrp="1"/>
          </p:cNvSpPr>
          <p:nvPr/>
        </p:nvSpPr>
        <p:spPr>
          <a:xfrm>
            <a:off x="7924800" y="1924050"/>
            <a:ext cx="3302000" cy="857250"/>
          </a:xfrm>
          <a:prstGeom prst="rect">
            <a:avLst/>
          </a:prstGeom>
          <a:noFill/>
          <a:ln w="0">
            <a:noFill/>
          </a:ln>
        </p:spPr>
        <p:txBody>
          <a:bodyPr lIns="0" tIns="0" rIns="0" bIns="0">
            <a:noAutofit/>
          </a:bodyPr>
          <a:lstStyle/>
          <a:p>
            <a:pPr>
              <a:defRPr sz="3375" b="1">
                <a:solidFill>
                  <a:srgbClr val="FE5000"/>
                </a:solidFill>
                <a:latin typeface="DejaVu Sans"/>
                <a:ea typeface="DejaVu Sans"/>
                <a:cs typeface="DejaVu Sans"/>
              </a:defRPr>
            </a:pPr>
            <a:r>
              <a:rPr sz="3375" b="1">
                <a:solidFill>
                  <a:srgbClr val="FE5000"/>
                </a:solidFill>
                <a:latin typeface="DejaVu Sans"/>
                <a:ea typeface="DejaVu Sans"/>
                <a:cs typeface="DejaVu Sans"/>
              </a:rPr>
              <a:t>18:00</a:t>
            </a:r>
          </a:p>
        </p:txBody>
      </p:sp>
      <p:sp>
        <p:nvSpPr>
          <p:cNvPr id="11" name="Rectangle 10">
            <a:extLst>
              <a:ext uri="{FF2B5EF4-FFF2-40B4-BE49-F238E27FC236}">
                <a16:creationId xmlns:a16="http://schemas.microsoft.com/office/drawing/2014/main" id="{B7992684-E0F0-4599-A1D6-D2DECBC29DF2}"/>
              </a:ext>
            </a:extLst>
          </p:cNvPr>
          <p:cNvSpPr>
            <a:spLocks noGrp="1"/>
          </p:cNvSpPr>
          <p:nvPr/>
        </p:nvSpPr>
        <p:spPr>
          <a:xfrm>
            <a:off x="7924800" y="299085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Client dashboard</a:t>
            </a:r>
          </a:p>
        </p:txBody>
      </p:sp>
      <p:sp>
        <p:nvSpPr>
          <p:cNvPr id="12" name="Rectangle 11">
            <a:extLst>
              <a:ext uri="{FF2B5EF4-FFF2-40B4-BE49-F238E27FC236}">
                <a16:creationId xmlns:a16="http://schemas.microsoft.com/office/drawing/2014/main" id="{06E38E48-1DA9-4A94-89AC-D4A1F77BA767}"/>
              </a:ext>
            </a:extLst>
          </p:cNvPr>
          <p:cNvSpPr>
            <a:spLocks noGrp="1"/>
          </p:cNvSpPr>
          <p:nvPr/>
        </p:nvSpPr>
        <p:spPr>
          <a:xfrm>
            <a:off x="7924800" y="382905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Coverage, stock status, variances, incidents and cost to complete.</a:t>
            </a:r>
          </a:p>
        </p:txBody>
      </p:sp>
      <p:sp>
        <p:nvSpPr>
          <p:cNvPr id="13" name="Rectangle 12">
            <a:extLst>
              <a:ext uri="{FF2B5EF4-FFF2-40B4-BE49-F238E27FC236}">
                <a16:creationId xmlns:a16="http://schemas.microsoft.com/office/drawing/2014/main" id="{29E33C1A-56DC-4138-834F-C916B33E23B5}"/>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A daily 15-minute client check-in resolves decisions. Twice-weekly reviews track progress and spend.</a:t>
            </a:r>
          </a:p>
        </p:txBody>
      </p:sp>
    </p:spTree>
    <p:extLst>
      <p:ext uri="{BB962C8B-B14F-4D97-AF65-F5344CB8AC3E}">
        <p14:creationId xmlns:p14="http://schemas.microsoft.com/office/powerpoint/2010/main" val="2771761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2570FBF-5BF6-4B73-A416-1D97DDF9CC12}"/>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Rapid response to exceptions</a:t>
            </a:r>
          </a:p>
        </p:txBody>
      </p:sp>
      <p:sp>
        <p:nvSpPr>
          <p:cNvPr id="2" name="Rectangle 1">
            <a:extLst>
              <a:ext uri="{FF2B5EF4-FFF2-40B4-BE49-F238E27FC236}">
                <a16:creationId xmlns:a16="http://schemas.microsoft.com/office/drawing/2014/main" id="{5CC7B4A6-B8D9-4F15-B3C7-112FEA3F0AFD}"/>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DURING WORK</a:t>
            </a:r>
          </a:p>
        </p:txBody>
      </p:sp>
      <p:sp>
        <p:nvSpPr>
          <p:cNvPr id="3" name="Rectangle 2">
            <a:extLst>
              <a:ext uri="{FF2B5EF4-FFF2-40B4-BE49-F238E27FC236}">
                <a16:creationId xmlns:a16="http://schemas.microsoft.com/office/drawing/2014/main" id="{4FCE4559-93AE-4490-A24F-EB1BD22FA0D8}"/>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38</a:t>
            </a:r>
          </a:p>
        </p:txBody>
      </p:sp>
      <p:graphicFrame>
        <p:nvGraphicFramePr>
          <p:cNvPr id="9" name="Table 8"/>
          <p:cNvGraphicFramePr/>
          <p:nvPr/>
        </p:nvGraphicFramePr>
        <p:xfrm>
          <a:off x="609600" y="1828800"/>
          <a:ext cx="10972800" cy="3514725"/>
        </p:xfrm>
        <a:graphic>
          <a:graphicData uri="http://schemas.openxmlformats.org/drawingml/2006/table">
            <a:tbl>
              <a:tblPr/>
              <a:tblGrid>
                <a:gridCol w="3238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702945">
                <a:tc>
                  <a:txBody>
                    <a:bodyPr/>
                    <a:lstStyle/>
                    <a:p>
                      <a:r>
                        <a:rPr sz="1725" b="1">
                          <a:solidFill>
                            <a:srgbClr val="FFFFFF"/>
                          </a:solidFill>
                          <a:latin typeface="DejaVu Sans"/>
                          <a:ea typeface="DejaVu Sans"/>
                          <a:cs typeface="DejaVu Sans"/>
                        </a:rPr>
                        <a:t>Trigger</a:t>
                      </a:r>
                    </a:p>
                  </a:txBody>
                  <a:tcPr>
                    <a:solidFill>
                      <a:srgbClr val="303030"/>
                    </a:solidFill>
                  </a:tcPr>
                </a:tc>
                <a:tc>
                  <a:txBody>
                    <a:bodyPr/>
                    <a:lstStyle/>
                    <a:p>
                      <a:r>
                        <a:rPr sz="1725" b="1">
                          <a:solidFill>
                            <a:srgbClr val="FFFFFF"/>
                          </a:solidFill>
                          <a:latin typeface="DejaVu Sans"/>
                          <a:ea typeface="DejaVu Sans"/>
                          <a:cs typeface="DejaVu Sans"/>
                        </a:rPr>
                        <a:t>Immediate response</a:t>
                      </a:r>
                    </a:p>
                  </a:txBody>
                  <a:tcPr>
                    <a:solidFill>
                      <a:srgbClr val="303030"/>
                    </a:solidFill>
                  </a:tcPr>
                </a:tc>
                <a:tc>
                  <a:txBody>
                    <a:bodyPr/>
                    <a:lstStyle/>
                    <a:p>
                      <a:r>
                        <a:rPr sz="1725" b="1">
                          <a:solidFill>
                            <a:srgbClr val="FFFFFF"/>
                          </a:solidFill>
                          <a:latin typeface="DejaVu Sans"/>
                          <a:ea typeface="DejaVu Sans"/>
                          <a:cs typeface="DejaVu Sans"/>
                        </a:rPr>
                        <a:t>Decision owner</a:t>
                      </a:r>
                    </a:p>
                  </a:txBody>
                  <a:tcPr>
                    <a:solidFill>
                      <a:srgbClr val="303030"/>
                    </a:solidFill>
                  </a:tcPr>
                </a:tc>
                <a:extLst>
                  <a:ext uri="{0D108BD9-81ED-4DB2-BD59-A6C34878D82A}">
                    <a16:rowId xmlns:a16="http://schemas.microsoft.com/office/drawing/2014/main" val="10000"/>
                  </a:ext>
                </a:extLst>
              </a:tr>
              <a:tr h="702945">
                <a:tc>
                  <a:txBody>
                    <a:bodyPr/>
                    <a:lstStyle/>
                    <a:p>
                      <a:r>
                        <a:rPr sz="1725" b="0">
                          <a:solidFill>
                            <a:srgbClr val="303030"/>
                          </a:solidFill>
                          <a:latin typeface="DejaVu Sans"/>
                          <a:ea typeface="DejaVu Sans"/>
                          <a:cs typeface="DejaVu Sans"/>
                        </a:rPr>
                        <a:t>Quality or safety event</a:t>
                      </a:r>
                    </a:p>
                  </a:txBody>
                  <a:tcPr>
                    <a:solidFill>
                      <a:srgbClr val="F5F5F5"/>
                    </a:solidFill>
                  </a:tcPr>
                </a:tc>
                <a:tc>
                  <a:txBody>
                    <a:bodyPr/>
                    <a:lstStyle/>
                    <a:p>
                      <a:r>
                        <a:rPr sz="1725" b="0">
                          <a:solidFill>
                            <a:srgbClr val="303030"/>
                          </a:solidFill>
                          <a:latin typeface="DejaVu Sans"/>
                          <a:ea typeface="DejaVu Sans"/>
                          <a:cs typeface="DejaVu Sans"/>
                        </a:rPr>
                        <a:t>Stop the affected task and secure stock</a:t>
                      </a:r>
                    </a:p>
                  </a:txBody>
                  <a:tcPr>
                    <a:solidFill>
                      <a:srgbClr val="F5F5F5"/>
                    </a:solidFill>
                  </a:tcPr>
                </a:tc>
                <a:tc>
                  <a:txBody>
                    <a:bodyPr/>
                    <a:lstStyle/>
                    <a:p>
                      <a:r>
                        <a:rPr sz="1725" b="0">
                          <a:solidFill>
                            <a:srgbClr val="303030"/>
                          </a:solidFill>
                          <a:latin typeface="DejaVu Sans"/>
                          <a:ea typeface="DejaVu Sans"/>
                          <a:cs typeface="DejaVu Sans"/>
                        </a:rPr>
                        <a:t>Quality Lead + GBfoods</a:t>
                      </a:r>
                    </a:p>
                  </a:txBody>
                  <a:tcPr>
                    <a:solidFill>
                      <a:srgbClr val="F5F5F5"/>
                    </a:solidFill>
                  </a:tcPr>
                </a:tc>
                <a:extLst>
                  <a:ext uri="{0D108BD9-81ED-4DB2-BD59-A6C34878D82A}">
                    <a16:rowId xmlns:a16="http://schemas.microsoft.com/office/drawing/2014/main" val="10001"/>
                  </a:ext>
                </a:extLst>
              </a:tr>
              <a:tr h="702945">
                <a:tc>
                  <a:txBody>
                    <a:bodyPr/>
                    <a:lstStyle/>
                    <a:p>
                      <a:r>
                        <a:rPr sz="1725" b="0">
                          <a:solidFill>
                            <a:srgbClr val="303030"/>
                          </a:solidFill>
                          <a:latin typeface="DejaVu Sans"/>
                          <a:ea typeface="DejaVu Sans"/>
                          <a:cs typeface="DejaVu Sans"/>
                        </a:rPr>
                        <a:t>Count mismatch</a:t>
                      </a:r>
                    </a:p>
                  </a:txBody>
                  <a:tcPr>
                    <a:solidFill>
                      <a:srgbClr val="FFFFFF"/>
                    </a:solidFill>
                  </a:tcPr>
                </a:tc>
                <a:tc>
                  <a:txBody>
                    <a:bodyPr/>
                    <a:lstStyle/>
                    <a:p>
                      <a:r>
                        <a:rPr sz="1725" b="0">
                          <a:solidFill>
                            <a:srgbClr val="303030"/>
                          </a:solidFill>
                          <a:latin typeface="DejaVu Sans"/>
                          <a:ea typeface="DejaVu Sans"/>
                          <a:cs typeface="DejaVu Sans"/>
                        </a:rPr>
                        <a:t>Recount and isolate disputed quantities</a:t>
                      </a:r>
                    </a:p>
                  </a:txBody>
                  <a:tcPr>
                    <a:solidFill>
                      <a:srgbClr val="FFFFFF"/>
                    </a:solidFill>
                  </a:tcPr>
                </a:tc>
                <a:tc>
                  <a:txBody>
                    <a:bodyPr/>
                    <a:lstStyle/>
                    <a:p>
                      <a:r>
                        <a:rPr sz="1725" b="0">
                          <a:solidFill>
                            <a:srgbClr val="303030"/>
                          </a:solidFill>
                          <a:latin typeface="DejaVu Sans"/>
                          <a:ea typeface="DejaVu Sans"/>
                          <a:cs typeface="DejaVu Sans"/>
                        </a:rPr>
                        <a:t>Cluster supervisor</a:t>
                      </a:r>
                    </a:p>
                  </a:txBody>
                  <a:tcPr>
                    <a:solidFill>
                      <a:srgbClr val="FFFFFF"/>
                    </a:solidFill>
                  </a:tcPr>
                </a:tc>
                <a:extLst>
                  <a:ext uri="{0D108BD9-81ED-4DB2-BD59-A6C34878D82A}">
                    <a16:rowId xmlns:a16="http://schemas.microsoft.com/office/drawing/2014/main" val="10002"/>
                  </a:ext>
                </a:extLst>
              </a:tr>
              <a:tr h="702945">
                <a:tc>
                  <a:txBody>
                    <a:bodyPr/>
                    <a:lstStyle/>
                    <a:p>
                      <a:r>
                        <a:rPr sz="1725" b="0">
                          <a:solidFill>
                            <a:srgbClr val="303030"/>
                          </a:solidFill>
                          <a:latin typeface="DejaVu Sans"/>
                          <a:ea typeface="DejaVu Sans"/>
                          <a:cs typeface="DejaVu Sans"/>
                        </a:rPr>
                        <a:t>Access or crew failure</a:t>
                      </a:r>
                    </a:p>
                  </a:txBody>
                  <a:tcPr>
                    <a:solidFill>
                      <a:srgbClr val="F5F5F5"/>
                    </a:solidFill>
                  </a:tcPr>
                </a:tc>
                <a:tc>
                  <a:txBody>
                    <a:bodyPr/>
                    <a:lstStyle/>
                    <a:p>
                      <a:r>
                        <a:rPr sz="1725" b="0">
                          <a:solidFill>
                            <a:srgbClr val="303030"/>
                          </a:solidFill>
                          <a:latin typeface="DejaVu Sans"/>
                          <a:ea typeface="DejaVu Sans"/>
                          <a:cs typeface="DejaVu Sans"/>
                        </a:rPr>
                        <a:t>Activate a confirmed nearby alternative or reserve</a:t>
                      </a:r>
                    </a:p>
                  </a:txBody>
                  <a:tcPr>
                    <a:solidFill>
                      <a:srgbClr val="F5F5F5"/>
                    </a:solidFill>
                  </a:tcPr>
                </a:tc>
                <a:tc>
                  <a:txBody>
                    <a:bodyPr/>
                    <a:lstStyle/>
                    <a:p>
                      <a:r>
                        <a:rPr sz="1725" b="0">
                          <a:solidFill>
                            <a:srgbClr val="303030"/>
                          </a:solidFill>
                          <a:latin typeface="DejaVu Sans"/>
                          <a:ea typeface="DejaVu Sans"/>
                          <a:cs typeface="DejaVu Sans"/>
                        </a:rPr>
                        <a:t>Operations Manager</a:t>
                      </a:r>
                    </a:p>
                  </a:txBody>
                  <a:tcPr>
                    <a:solidFill>
                      <a:srgbClr val="F5F5F5"/>
                    </a:solidFill>
                  </a:tcPr>
                </a:tc>
                <a:extLst>
                  <a:ext uri="{0D108BD9-81ED-4DB2-BD59-A6C34878D82A}">
                    <a16:rowId xmlns:a16="http://schemas.microsoft.com/office/drawing/2014/main" val="10003"/>
                  </a:ext>
                </a:extLst>
              </a:tr>
              <a:tr h="702945">
                <a:tc>
                  <a:txBody>
                    <a:bodyPr/>
                    <a:lstStyle/>
                    <a:p>
                      <a:r>
                        <a:rPr sz="1725" b="0">
                          <a:solidFill>
                            <a:srgbClr val="303030"/>
                          </a:solidFill>
                          <a:latin typeface="DejaVu Sans"/>
                          <a:ea typeface="DejaVu Sans"/>
                          <a:cs typeface="DejaVu Sans"/>
                        </a:rPr>
                        <a:t>Excess volume or delay</a:t>
                      </a:r>
                    </a:p>
                  </a:txBody>
                  <a:tcPr>
                    <a:solidFill>
                      <a:srgbClr val="FFFFFF"/>
                    </a:solidFill>
                  </a:tcPr>
                </a:tc>
                <a:tc>
                  <a:txBody>
                    <a:bodyPr/>
                    <a:lstStyle/>
                    <a:p>
                      <a:r>
                        <a:rPr sz="1725" b="0">
                          <a:solidFill>
                            <a:srgbClr val="303030"/>
                          </a:solidFill>
                          <a:latin typeface="DejaVu Sans"/>
                          <a:ea typeface="DejaVu Sans"/>
                          <a:cs typeface="DejaVu Sans"/>
                        </a:rPr>
                        <a:t>Reforecast days and cost before expanding scope</a:t>
                      </a:r>
                    </a:p>
                  </a:txBody>
                  <a:tcPr>
                    <a:solidFill>
                      <a:srgbClr val="FFFFFF"/>
                    </a:solidFill>
                  </a:tcPr>
                </a:tc>
                <a:tc>
                  <a:txBody>
                    <a:bodyPr/>
                    <a:lstStyle/>
                    <a:p>
                      <a:r>
                        <a:rPr sz="1725" b="0">
                          <a:solidFill>
                            <a:srgbClr val="303030"/>
                          </a:solidFill>
                          <a:latin typeface="DejaVu Sans"/>
                          <a:ea typeface="DejaVu Sans"/>
                          <a:cs typeface="DejaVu Sans"/>
                        </a:rPr>
                        <a:t>Operations + GBfoods</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9E09AB58-0CD1-47EF-8D47-756C99D451E0}"/>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Critical event target: immediate escalation, call within 15 minutes where possible, written record within 1 hour.</a:t>
            </a:r>
          </a:p>
        </p:txBody>
      </p:sp>
    </p:spTree>
    <p:extLst>
      <p:ext uri="{BB962C8B-B14F-4D97-AF65-F5344CB8AC3E}">
        <p14:creationId xmlns:p14="http://schemas.microsoft.com/office/powerpoint/2010/main" val="59117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C44343-DF71-4B9A-9C51-A3DDBA0CFF06}"/>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39</a:t>
            </a:r>
          </a:p>
        </p:txBody>
      </p:sp>
      <p:pic>
        <p:nvPicPr>
          <p:cNvPr id="7" name="Picture 6"/>
          <p:cNvPicPr>
            <a:picLocks noChangeAspect="1"/>
          </p:cNvPicPr>
          <p:nvPr/>
        </p:nvPicPr>
        <p:blipFill>
          <a:blip r:embed="rId3"/>
          <a:srcRect l="13021" r="13021"/>
          <a:stretch>
            <a:fillRect/>
          </a:stretch>
        </p:blipFill>
        <p:spPr>
          <a:xfrm>
            <a:off x="5429250" y="0"/>
            <a:ext cx="6762750" cy="6858000"/>
          </a:xfrm>
          <a:prstGeom prst="rect">
            <a:avLst/>
          </a:prstGeom>
        </p:spPr>
      </p:pic>
      <p:sp>
        <p:nvSpPr>
          <p:cNvPr id="3" name="Rectangle 2">
            <a:extLst>
              <a:ext uri="{FF2B5EF4-FFF2-40B4-BE49-F238E27FC236}">
                <a16:creationId xmlns:a16="http://schemas.microsoft.com/office/drawing/2014/main" id="{B848DE62-6F84-46AF-8E50-A65F09A603E3}"/>
              </a:ext>
            </a:extLst>
          </p:cNvPr>
          <p:cNvSpPr>
            <a:spLocks noGrp="1"/>
          </p:cNvSpPr>
          <p:nvPr/>
        </p:nvSpPr>
        <p:spPr>
          <a:xfrm>
            <a:off x="609600" y="895350"/>
            <a:ext cx="4286250" cy="1047750"/>
          </a:xfrm>
          <a:prstGeom prst="rect">
            <a:avLst/>
          </a:prstGeom>
          <a:noFill/>
          <a:ln w="0">
            <a:noFill/>
          </a:ln>
        </p:spPr>
        <p:txBody>
          <a:bodyPr lIns="0" tIns="0" rIns="0" bIns="0">
            <a:noAutofit/>
          </a:bodyPr>
          <a:lstStyle/>
          <a:p>
            <a:pPr>
              <a:defRPr sz="7125" b="1">
                <a:solidFill>
                  <a:srgbClr val="FE5000"/>
                </a:solidFill>
                <a:latin typeface="DejaVu Sans"/>
                <a:ea typeface="DejaVu Sans"/>
                <a:cs typeface="DejaVu Sans"/>
              </a:defRPr>
            </a:pPr>
            <a:r>
              <a:rPr sz="7125" b="1">
                <a:solidFill>
                  <a:srgbClr val="FE5000"/>
                </a:solidFill>
                <a:latin typeface="DejaVu Sans"/>
                <a:ea typeface="DejaVu Sans"/>
                <a:cs typeface="DejaVu Sans"/>
              </a:rPr>
              <a:t>06</a:t>
            </a:r>
          </a:p>
        </p:txBody>
      </p:sp>
      <p:sp>
        <p:nvSpPr>
          <p:cNvPr id="4" name="Rectangle 3">
            <a:extLst>
              <a:ext uri="{FF2B5EF4-FFF2-40B4-BE49-F238E27FC236}">
                <a16:creationId xmlns:a16="http://schemas.microsoft.com/office/drawing/2014/main" id="{F63B244E-719F-4EBC-A286-BD279112A7C7}"/>
              </a:ext>
            </a:extLst>
          </p:cNvPr>
          <p:cNvSpPr>
            <a:spLocks noGrp="1"/>
          </p:cNvSpPr>
          <p:nvPr/>
        </p:nvSpPr>
        <p:spPr>
          <a:xfrm>
            <a:off x="609600" y="2371725"/>
            <a:ext cx="4476750" cy="1047750"/>
          </a:xfrm>
          <a:prstGeom prst="rect">
            <a:avLst/>
          </a:prstGeom>
          <a:noFill/>
          <a:ln w="0">
            <a:noFill/>
          </a:ln>
        </p:spPr>
        <p:txBody>
          <a:bodyPr lIns="0" tIns="0" rIns="0" bIns="0">
            <a:noAutofit/>
          </a:bodyPr>
          <a:lstStyle/>
          <a:p>
            <a:pPr>
              <a:defRPr sz="4275" b="1">
                <a:solidFill>
                  <a:srgbClr val="303030"/>
                </a:solidFill>
                <a:latin typeface="DejaVu Sans"/>
                <a:ea typeface="DejaVu Sans"/>
                <a:cs typeface="DejaVu Sans"/>
              </a:defRPr>
            </a:pPr>
            <a:r>
              <a:rPr sz="4275" b="1">
                <a:solidFill>
                  <a:srgbClr val="303030"/>
                </a:solidFill>
                <a:latin typeface="DejaVu Sans"/>
                <a:ea typeface="DejaVu Sans"/>
                <a:cs typeface="DejaVu Sans"/>
              </a:rPr>
              <a:t>Post work</a:t>
            </a:r>
          </a:p>
        </p:txBody>
      </p:sp>
      <p:sp>
        <p:nvSpPr>
          <p:cNvPr id="5" name="Rectangle 4">
            <a:extLst>
              <a:ext uri="{FF2B5EF4-FFF2-40B4-BE49-F238E27FC236}">
                <a16:creationId xmlns:a16="http://schemas.microsoft.com/office/drawing/2014/main" id="{6D76D6E7-E737-45DD-8A57-9860BE2E6111}"/>
              </a:ext>
            </a:extLst>
          </p:cNvPr>
          <p:cNvSpPr>
            <a:spLocks noGrp="1"/>
          </p:cNvSpPr>
          <p:nvPr/>
        </p:nvSpPr>
        <p:spPr>
          <a:xfrm>
            <a:off x="609600" y="3810000"/>
            <a:ext cx="4286250" cy="1428750"/>
          </a:xfrm>
          <a:prstGeom prst="rect">
            <a:avLst/>
          </a:prstGeom>
          <a:noFill/>
          <a:ln w="0">
            <a:noFill/>
          </a:ln>
        </p:spPr>
        <p:txBody>
          <a:bodyPr lIns="0" tIns="0" rIns="0" bIns="0">
            <a:noAutofit/>
          </a:bodyPr>
          <a:lstStyle/>
          <a:p>
            <a:pPr>
              <a:defRPr sz="2100" b="0">
                <a:solidFill>
                  <a:srgbClr val="5E5E5E"/>
                </a:solidFill>
                <a:latin typeface="DejaVu Sans"/>
                <a:ea typeface="DejaVu Sans"/>
                <a:cs typeface="DejaVu Sans"/>
              </a:defRPr>
            </a:pPr>
            <a:r>
              <a:rPr sz="2100" b="0">
                <a:solidFill>
                  <a:srgbClr val="5E5E5E"/>
                </a:solidFill>
                <a:latin typeface="DejaVu Sans"/>
                <a:ea typeface="DejaVu Sans"/>
                <a:cs typeface="DejaVu Sans"/>
              </a:rPr>
              <a:t>A signed balance, accountable custody and a clear next action at every depot.</a:t>
            </a:r>
          </a:p>
        </p:txBody>
      </p:sp>
    </p:spTree>
    <p:extLst>
      <p:ext uri="{BB962C8B-B14F-4D97-AF65-F5344CB8AC3E}">
        <p14:creationId xmlns:p14="http://schemas.microsoft.com/office/powerpoint/2010/main" val="721241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EDD3A3-635E-43FE-8B18-A8F6C5F078CE}"/>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The stock reconciliation</a:t>
            </a:r>
          </a:p>
        </p:txBody>
      </p:sp>
      <p:sp>
        <p:nvSpPr>
          <p:cNvPr id="2" name="Rectangle 1">
            <a:extLst>
              <a:ext uri="{FF2B5EF4-FFF2-40B4-BE49-F238E27FC236}">
                <a16:creationId xmlns:a16="http://schemas.microsoft.com/office/drawing/2014/main" id="{ADD124CE-29F5-4709-9582-18DFB96D63DC}"/>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POST WORK</a:t>
            </a:r>
          </a:p>
        </p:txBody>
      </p:sp>
      <p:sp>
        <p:nvSpPr>
          <p:cNvPr id="3" name="Rectangle 2">
            <a:extLst>
              <a:ext uri="{FF2B5EF4-FFF2-40B4-BE49-F238E27FC236}">
                <a16:creationId xmlns:a16="http://schemas.microsoft.com/office/drawing/2014/main" id="{63CEA684-33C4-49EF-B3AD-3EC65915026D}"/>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40</a:t>
            </a:r>
          </a:p>
        </p:txBody>
      </p:sp>
      <p:sp>
        <p:nvSpPr>
          <p:cNvPr id="4" name="Rectangle 3">
            <a:extLst>
              <a:ext uri="{FF2B5EF4-FFF2-40B4-BE49-F238E27FC236}">
                <a16:creationId xmlns:a16="http://schemas.microsoft.com/office/drawing/2014/main" id="{1BAB34EE-605E-49E7-BD17-9ECC27538372}"/>
              </a:ext>
            </a:extLst>
          </p:cNvPr>
          <p:cNvSpPr>
            <a:spLocks noGrp="1"/>
          </p:cNvSpPr>
          <p:nvPr/>
        </p:nvSpPr>
        <p:spPr>
          <a:xfrm>
            <a:off x="609600" y="2019300"/>
            <a:ext cx="10858500" cy="1676400"/>
          </a:xfrm>
          <a:prstGeom prst="rect">
            <a:avLst/>
          </a:prstGeom>
          <a:noFill/>
          <a:ln w="0">
            <a:noFill/>
          </a:ln>
        </p:spPr>
        <p:txBody>
          <a:bodyPr lIns="0" tIns="0" rIns="0" bIns="0">
            <a:noAutofit/>
          </a:bodyPr>
          <a:lstStyle/>
          <a:p>
            <a:pPr>
              <a:defRPr sz="3825" b="1">
                <a:solidFill>
                  <a:srgbClr val="FE5000"/>
                </a:solidFill>
                <a:latin typeface="DejaVu Sans"/>
                <a:ea typeface="DejaVu Sans"/>
                <a:cs typeface="DejaVu Sans"/>
              </a:defRPr>
            </a:pPr>
            <a:r>
              <a:rPr sz="3825" b="1">
                <a:solidFill>
                  <a:srgbClr val="FE5000"/>
                </a:solidFill>
                <a:latin typeface="DejaVu Sans"/>
                <a:ea typeface="DejaVu Sans"/>
                <a:cs typeface="DejaVu Sans"/>
              </a:rPr>
              <a:t>Opening + Inward − Outward</a:t>
            </a:r>
          </a:p>
          <a:p>
            <a:pPr>
              <a:defRPr sz="3825" b="1">
                <a:solidFill>
                  <a:srgbClr val="FE5000"/>
                </a:solidFill>
                <a:latin typeface="DejaVu Sans"/>
                <a:ea typeface="DejaVu Sans"/>
                <a:cs typeface="DejaVu Sans"/>
              </a:defRPr>
            </a:pPr>
            <a:r>
              <a:rPr sz="3825" b="1">
                <a:solidFill>
                  <a:srgbClr val="FE5000"/>
                </a:solidFill>
                <a:latin typeface="DejaVu Sans"/>
                <a:ea typeface="DejaVu Sans"/>
                <a:cs typeface="DejaVu Sans"/>
              </a:rPr>
              <a:t>= Closing stock</a:t>
            </a:r>
          </a:p>
        </p:txBody>
      </p:sp>
      <p:sp>
        <p:nvSpPr>
          <p:cNvPr id="5" name="Rectangle 4">
            <a:extLst>
              <a:ext uri="{FF2B5EF4-FFF2-40B4-BE49-F238E27FC236}">
                <a16:creationId xmlns:a16="http://schemas.microsoft.com/office/drawing/2014/main" id="{1D445B0B-A33F-4061-8AD3-1C852965009B}"/>
              </a:ext>
            </a:extLst>
          </p:cNvPr>
          <p:cNvSpPr>
            <a:spLocks noGrp="1"/>
          </p:cNvSpPr>
          <p:nvPr/>
        </p:nvSpPr>
        <p:spPr>
          <a:xfrm>
            <a:off x="609600" y="4048125"/>
            <a:ext cx="3302000" cy="419100"/>
          </a:xfrm>
          <a:prstGeom prst="rect">
            <a:avLst/>
          </a:prstGeom>
          <a:noFill/>
          <a:ln w="0">
            <a:noFill/>
          </a:ln>
        </p:spPr>
        <p:txBody>
          <a:bodyPr lIns="0" tIns="0" rIns="0" bIns="0">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SKU</a:t>
            </a:r>
          </a:p>
        </p:txBody>
      </p:sp>
      <p:sp>
        <p:nvSpPr>
          <p:cNvPr id="6" name="Rectangle 5">
            <a:extLst>
              <a:ext uri="{FF2B5EF4-FFF2-40B4-BE49-F238E27FC236}">
                <a16:creationId xmlns:a16="http://schemas.microsoft.com/office/drawing/2014/main" id="{E671B5D2-DC8F-4AFC-8DD2-519319CF2D88}"/>
              </a:ext>
            </a:extLst>
          </p:cNvPr>
          <p:cNvSpPr>
            <a:spLocks noGrp="1"/>
          </p:cNvSpPr>
          <p:nvPr/>
        </p:nvSpPr>
        <p:spPr>
          <a:xfrm>
            <a:off x="609600" y="4552950"/>
            <a:ext cx="3111500" cy="571500"/>
          </a:xfrm>
          <a:prstGeom prst="rect">
            <a:avLst/>
          </a:prstGeom>
          <a:noFill/>
          <a:ln w="0">
            <a:noFill/>
          </a:ln>
        </p:spPr>
        <p:txBody>
          <a:bodyPr lIns="0" tIns="0" rIns="0" bIns="0">
            <a:noAutofit/>
          </a:bodyPr>
          <a:lstStyle/>
          <a:p>
            <a:pPr>
              <a:defRPr sz="1875" b="1">
                <a:solidFill>
                  <a:srgbClr val="303030"/>
                </a:solidFill>
                <a:latin typeface="DejaVu Sans"/>
                <a:ea typeface="DejaVu Sans"/>
                <a:cs typeface="DejaVu Sans"/>
              </a:defRPr>
            </a:pPr>
            <a:r>
              <a:rPr sz="1875" b="1">
                <a:solidFill>
                  <a:srgbClr val="303030"/>
                </a:solidFill>
                <a:latin typeface="DejaVu Sans"/>
                <a:ea typeface="DejaVu Sans"/>
                <a:cs typeface="DejaVu Sans"/>
              </a:rPr>
              <a:t>One unit basis</a:t>
            </a:r>
          </a:p>
        </p:txBody>
      </p:sp>
      <p:sp>
        <p:nvSpPr>
          <p:cNvPr id="7" name="Rectangle 6">
            <a:extLst>
              <a:ext uri="{FF2B5EF4-FFF2-40B4-BE49-F238E27FC236}">
                <a16:creationId xmlns:a16="http://schemas.microsoft.com/office/drawing/2014/main" id="{1C0E94C1-9BD0-405B-BD3D-FFD7DD2AF391}"/>
              </a:ext>
            </a:extLst>
          </p:cNvPr>
          <p:cNvSpPr>
            <a:spLocks noGrp="1"/>
          </p:cNvSpPr>
          <p:nvPr/>
        </p:nvSpPr>
        <p:spPr>
          <a:xfrm>
            <a:off x="609600" y="5238750"/>
            <a:ext cx="3092450" cy="914400"/>
          </a:xfrm>
          <a:prstGeom prst="rect">
            <a:avLst/>
          </a:prstGeom>
          <a:noFill/>
          <a:ln w="0">
            <a:noFill/>
          </a:ln>
        </p:spPr>
        <p:txBody>
          <a:bodyPr lIns="0" tIns="0" rIns="0" bIns="0">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Convert cases and loose packs with approved pack factors.</a:t>
            </a:r>
          </a:p>
        </p:txBody>
      </p:sp>
      <p:sp>
        <p:nvSpPr>
          <p:cNvPr id="8" name="Rectangle 7">
            <a:extLst>
              <a:ext uri="{FF2B5EF4-FFF2-40B4-BE49-F238E27FC236}">
                <a16:creationId xmlns:a16="http://schemas.microsoft.com/office/drawing/2014/main" id="{8F91F4BB-51C6-4CAD-A50B-D3EB571C7813}"/>
              </a:ext>
            </a:extLst>
          </p:cNvPr>
          <p:cNvSpPr>
            <a:spLocks noGrp="1"/>
          </p:cNvSpPr>
          <p:nvPr/>
        </p:nvSpPr>
        <p:spPr>
          <a:xfrm>
            <a:off x="4267200" y="4048125"/>
            <a:ext cx="3302000" cy="419100"/>
          </a:xfrm>
          <a:prstGeom prst="rect">
            <a:avLst/>
          </a:prstGeom>
          <a:noFill/>
          <a:ln w="0">
            <a:noFill/>
          </a:ln>
        </p:spPr>
        <p:txBody>
          <a:bodyPr lIns="0" tIns="0" rIns="0" bIns="0">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BATCH</a:t>
            </a:r>
          </a:p>
        </p:txBody>
      </p:sp>
      <p:sp>
        <p:nvSpPr>
          <p:cNvPr id="9" name="Rectangle 8">
            <a:extLst>
              <a:ext uri="{FF2B5EF4-FFF2-40B4-BE49-F238E27FC236}">
                <a16:creationId xmlns:a16="http://schemas.microsoft.com/office/drawing/2014/main" id="{6584C1DE-C785-437F-8D84-153E49075AF2}"/>
              </a:ext>
            </a:extLst>
          </p:cNvPr>
          <p:cNvSpPr>
            <a:spLocks noGrp="1"/>
          </p:cNvSpPr>
          <p:nvPr/>
        </p:nvSpPr>
        <p:spPr>
          <a:xfrm>
            <a:off x="4267200" y="4552950"/>
            <a:ext cx="3111500" cy="571500"/>
          </a:xfrm>
          <a:prstGeom prst="rect">
            <a:avLst/>
          </a:prstGeom>
          <a:noFill/>
          <a:ln w="0">
            <a:noFill/>
          </a:ln>
        </p:spPr>
        <p:txBody>
          <a:bodyPr lIns="0" tIns="0" rIns="0" bIns="0">
            <a:noAutofit/>
          </a:bodyPr>
          <a:lstStyle/>
          <a:p>
            <a:pPr>
              <a:defRPr sz="1875" b="1">
                <a:solidFill>
                  <a:srgbClr val="303030"/>
                </a:solidFill>
                <a:latin typeface="DejaVu Sans"/>
                <a:ea typeface="DejaVu Sans"/>
                <a:cs typeface="DejaVu Sans"/>
              </a:defRPr>
            </a:pPr>
            <a:r>
              <a:rPr sz="1875" b="1">
                <a:solidFill>
                  <a:srgbClr val="303030"/>
                </a:solidFill>
                <a:latin typeface="DejaVu Sans"/>
                <a:ea typeface="DejaVu Sans"/>
                <a:cs typeface="DejaVu Sans"/>
              </a:rPr>
              <a:t>One stock identity</a:t>
            </a:r>
          </a:p>
        </p:txBody>
      </p:sp>
      <p:sp>
        <p:nvSpPr>
          <p:cNvPr id="10" name="Rectangle 9">
            <a:extLst>
              <a:ext uri="{FF2B5EF4-FFF2-40B4-BE49-F238E27FC236}">
                <a16:creationId xmlns:a16="http://schemas.microsoft.com/office/drawing/2014/main" id="{C751F2DE-E7A6-447E-9B5B-89CB29FA3A9F}"/>
              </a:ext>
            </a:extLst>
          </p:cNvPr>
          <p:cNvSpPr>
            <a:spLocks noGrp="1"/>
          </p:cNvSpPr>
          <p:nvPr/>
        </p:nvSpPr>
        <p:spPr>
          <a:xfrm>
            <a:off x="4267200" y="5238750"/>
            <a:ext cx="3092450" cy="914400"/>
          </a:xfrm>
          <a:prstGeom prst="rect">
            <a:avLst/>
          </a:prstGeom>
          <a:noFill/>
          <a:ln w="0">
            <a:noFill/>
          </a:ln>
        </p:spPr>
        <p:txBody>
          <a:bodyPr lIns="0" tIns="0" rIns="0" bIns="0">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Retain batch and expiry references throughout handling.</a:t>
            </a:r>
          </a:p>
        </p:txBody>
      </p:sp>
      <p:sp>
        <p:nvSpPr>
          <p:cNvPr id="11" name="Rectangle 10">
            <a:extLst>
              <a:ext uri="{FF2B5EF4-FFF2-40B4-BE49-F238E27FC236}">
                <a16:creationId xmlns:a16="http://schemas.microsoft.com/office/drawing/2014/main" id="{33ED00AF-F31A-43B6-862B-CCD13C5E63FC}"/>
              </a:ext>
            </a:extLst>
          </p:cNvPr>
          <p:cNvSpPr>
            <a:spLocks noGrp="1"/>
          </p:cNvSpPr>
          <p:nvPr/>
        </p:nvSpPr>
        <p:spPr>
          <a:xfrm>
            <a:off x="7924800" y="4048125"/>
            <a:ext cx="3302000" cy="419100"/>
          </a:xfrm>
          <a:prstGeom prst="rect">
            <a:avLst/>
          </a:prstGeom>
          <a:noFill/>
          <a:ln w="0">
            <a:noFill/>
          </a:ln>
        </p:spPr>
        <p:txBody>
          <a:bodyPr lIns="0" tIns="0" rIns="0" bIns="0">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SIGN</a:t>
            </a:r>
          </a:p>
        </p:txBody>
      </p:sp>
      <p:sp>
        <p:nvSpPr>
          <p:cNvPr id="12" name="Rectangle 11">
            <a:extLst>
              <a:ext uri="{FF2B5EF4-FFF2-40B4-BE49-F238E27FC236}">
                <a16:creationId xmlns:a16="http://schemas.microsoft.com/office/drawing/2014/main" id="{9A13086D-16E1-49EC-B848-4500D79C429A}"/>
              </a:ext>
            </a:extLst>
          </p:cNvPr>
          <p:cNvSpPr>
            <a:spLocks noGrp="1"/>
          </p:cNvSpPr>
          <p:nvPr/>
        </p:nvSpPr>
        <p:spPr>
          <a:xfrm>
            <a:off x="7924800" y="4552950"/>
            <a:ext cx="3111500" cy="571500"/>
          </a:xfrm>
          <a:prstGeom prst="rect">
            <a:avLst/>
          </a:prstGeom>
          <a:noFill/>
          <a:ln w="0">
            <a:noFill/>
          </a:ln>
        </p:spPr>
        <p:txBody>
          <a:bodyPr lIns="0" tIns="0" rIns="0" bIns="0">
            <a:noAutofit/>
          </a:bodyPr>
          <a:lstStyle/>
          <a:p>
            <a:pPr>
              <a:defRPr sz="1875" b="1">
                <a:solidFill>
                  <a:srgbClr val="303030"/>
                </a:solidFill>
                <a:latin typeface="DejaVu Sans"/>
                <a:ea typeface="DejaVu Sans"/>
                <a:cs typeface="DejaVu Sans"/>
              </a:defRPr>
            </a:pPr>
            <a:r>
              <a:rPr sz="1875" b="1">
                <a:solidFill>
                  <a:srgbClr val="303030"/>
                </a:solidFill>
                <a:latin typeface="DejaVu Sans"/>
                <a:ea typeface="DejaVu Sans"/>
                <a:cs typeface="DejaVu Sans"/>
              </a:rPr>
              <a:t>One accountable handover</a:t>
            </a:r>
          </a:p>
        </p:txBody>
      </p:sp>
      <p:sp>
        <p:nvSpPr>
          <p:cNvPr id="13" name="Rectangle 12">
            <a:extLst>
              <a:ext uri="{FF2B5EF4-FFF2-40B4-BE49-F238E27FC236}">
                <a16:creationId xmlns:a16="http://schemas.microsoft.com/office/drawing/2014/main" id="{0CF39C85-FFA9-4D3D-AF6D-6AD35DB5D68A}"/>
              </a:ext>
            </a:extLst>
          </p:cNvPr>
          <p:cNvSpPr>
            <a:spLocks noGrp="1"/>
          </p:cNvSpPr>
          <p:nvPr/>
        </p:nvSpPr>
        <p:spPr>
          <a:xfrm>
            <a:off x="7924800" y="5238750"/>
            <a:ext cx="3092450" cy="914400"/>
          </a:xfrm>
          <a:prstGeom prst="rect">
            <a:avLst/>
          </a:prstGeom>
          <a:noFill/>
          <a:ln w="0">
            <a:noFill/>
          </a:ln>
        </p:spPr>
        <p:txBody>
          <a:bodyPr lIns="0" tIns="0" rIns="0" bIns="0">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Assigned QC person, cluster supervisor and depot representative confirm the balance.</a:t>
            </a:r>
          </a:p>
        </p:txBody>
      </p:sp>
    </p:spTree>
    <p:extLst>
      <p:ext uri="{BB962C8B-B14F-4D97-AF65-F5344CB8AC3E}">
        <p14:creationId xmlns:p14="http://schemas.microsoft.com/office/powerpoint/2010/main" val="19020312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3D7C84-70DC-4C59-A00E-62D88262EAA5}"/>
              </a:ext>
            </a:extLst>
          </p:cNvPr>
          <p:cNvSpPr>
            <a:spLocks noGrp="1"/>
          </p:cNvSpPr>
          <p:nvPr/>
        </p:nvSpPr>
        <p:spPr>
          <a:xfrm>
            <a:off x="609600" y="266700"/>
            <a:ext cx="3810000" cy="342900"/>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028B6ED8-3101-43DE-BD18-56CFBEDB7C46}"/>
              </a:ext>
            </a:extLst>
          </p:cNvPr>
          <p:cNvSpPr>
            <a:spLocks noGrp="1"/>
          </p:cNvSpPr>
          <p:nvPr/>
        </p:nvSpPr>
        <p:spPr>
          <a:xfrm>
            <a:off x="609600" y="885825"/>
            <a:ext cx="10972800" cy="990600"/>
          </a:xfrm>
          <a:prstGeom prst="rect">
            <a:avLst/>
          </a:prstGeom>
          <a:noFill/>
          <a:ln w="0">
            <a:noFill/>
          </a:ln>
        </p:spPr>
        <p:txBody>
          <a:bodyPr>
            <a:noAutofit/>
          </a:bodyPr>
          <a:lstStyle/>
          <a:p>
            <a:pPr>
              <a:defRPr sz="3000" b="1">
                <a:solidFill>
                  <a:srgbClr val="303030"/>
                </a:solidFill>
                <a:latin typeface="DejaVu Sans"/>
                <a:ea typeface="DejaVu Sans"/>
                <a:cs typeface="DejaVu Sans"/>
              </a:defRPr>
            </a:pPr>
            <a:r>
              <a:rPr sz="3000" b="1">
                <a:solidFill>
                  <a:srgbClr val="303030"/>
                </a:solidFill>
                <a:latin typeface="DejaVu Sans"/>
                <a:ea typeface="DejaVu Sans"/>
                <a:cs typeface="DejaVu Sans"/>
              </a:rPr>
              <a:t>A complete handover at every depot</a:t>
            </a:r>
          </a:p>
        </p:txBody>
      </p:sp>
      <p:sp>
        <p:nvSpPr>
          <p:cNvPr id="3" name="Rectangle 2">
            <a:extLst>
              <a:ext uri="{FF2B5EF4-FFF2-40B4-BE49-F238E27FC236}">
                <a16:creationId xmlns:a16="http://schemas.microsoft.com/office/drawing/2014/main" id="{937BA3DA-D00F-4782-83EE-AA94C0C74344}"/>
              </a:ext>
            </a:extLst>
          </p:cNvPr>
          <p:cNvSpPr>
            <a:spLocks noGrp="1"/>
          </p:cNvSpPr>
          <p:nvPr/>
        </p:nvSpPr>
        <p:spPr>
          <a:xfrm>
            <a:off x="609600" y="1847850"/>
            <a:ext cx="10972800" cy="609600"/>
          </a:xfrm>
          <a:prstGeom prst="rect">
            <a:avLst/>
          </a:prstGeom>
          <a:noFill/>
          <a:ln w="0">
            <a:noFill/>
          </a:ln>
        </p:spPr>
        <p:txBody>
          <a:bodyPr>
            <a:noAutofit/>
          </a:bodyPr>
          <a:lstStyle/>
          <a:p>
            <a:pPr>
              <a:defRPr sz="1650" b="0">
                <a:solidFill>
                  <a:srgbClr val="5E5E5E"/>
                </a:solidFill>
                <a:latin typeface="DejaVu Sans"/>
                <a:ea typeface="DejaVu Sans"/>
                <a:cs typeface="DejaVu Sans"/>
              </a:defRPr>
            </a:pPr>
            <a:r>
              <a:rPr sz="1650" b="0">
                <a:solidFill>
                  <a:srgbClr val="5E5E5E"/>
                </a:solidFill>
                <a:latin typeface="DejaVu Sans"/>
                <a:ea typeface="DejaVu Sans"/>
                <a:cs typeface="DejaVu Sans"/>
              </a:rPr>
              <a:t>Completion means a verified stock record, accountable custody and a documented next action.</a:t>
            </a:r>
          </a:p>
        </p:txBody>
      </p:sp>
      <p:sp>
        <p:nvSpPr>
          <p:cNvPr id="4" name="Rectangle 3">
            <a:extLst>
              <a:ext uri="{FF2B5EF4-FFF2-40B4-BE49-F238E27FC236}">
                <a16:creationId xmlns:a16="http://schemas.microsoft.com/office/drawing/2014/main" id="{EA63FAE5-5E8D-4F4E-9018-C758EA59D40E}"/>
              </a:ext>
            </a:extLst>
          </p:cNvPr>
          <p:cNvSpPr>
            <a:spLocks noGrp="1"/>
          </p:cNvSpPr>
          <p:nvPr/>
        </p:nvSpPr>
        <p:spPr>
          <a:xfrm>
            <a:off x="609600" y="26860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Signed stock balance</a:t>
            </a:r>
          </a:p>
        </p:txBody>
      </p:sp>
      <p:sp>
        <p:nvSpPr>
          <p:cNvPr id="5" name="Rectangle 4">
            <a:extLst>
              <a:ext uri="{FF2B5EF4-FFF2-40B4-BE49-F238E27FC236}">
                <a16:creationId xmlns:a16="http://schemas.microsoft.com/office/drawing/2014/main" id="{84B83520-902C-4E3E-80C9-02EC73EEFFD4}"/>
              </a:ext>
            </a:extLst>
          </p:cNvPr>
          <p:cNvSpPr>
            <a:spLocks noGrp="1"/>
          </p:cNvSpPr>
          <p:nvPr/>
        </p:nvSpPr>
        <p:spPr>
          <a:xfrm>
            <a:off x="4029075" y="26860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QC person, cluster supervisor and distributor representative confirm the reconciliation and movements.</a:t>
            </a:r>
          </a:p>
        </p:txBody>
      </p:sp>
      <p:sp>
        <p:nvSpPr>
          <p:cNvPr id="6" name="Rectangle 5">
            <a:extLst>
              <a:ext uri="{FF2B5EF4-FFF2-40B4-BE49-F238E27FC236}">
                <a16:creationId xmlns:a16="http://schemas.microsoft.com/office/drawing/2014/main" id="{FF5B0343-8C6C-4B7D-8CC6-574C24025985}"/>
              </a:ext>
            </a:extLst>
          </p:cNvPr>
          <p:cNvSpPr>
            <a:spLocks noGrp="1"/>
          </p:cNvSpPr>
          <p:nvPr/>
        </p:nvSpPr>
        <p:spPr>
          <a:xfrm>
            <a:off x="609600" y="35052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Evidence and custody</a:t>
            </a:r>
          </a:p>
        </p:txBody>
      </p:sp>
      <p:sp>
        <p:nvSpPr>
          <p:cNvPr id="7" name="Rectangle 6">
            <a:extLst>
              <a:ext uri="{FF2B5EF4-FFF2-40B4-BE49-F238E27FC236}">
                <a16:creationId xmlns:a16="http://schemas.microsoft.com/office/drawing/2014/main" id="{1776F81C-93C2-4739-AF26-8AE4E36361A8}"/>
              </a:ext>
            </a:extLst>
          </p:cNvPr>
          <p:cNvSpPr>
            <a:spLocks noGrp="1"/>
          </p:cNvSpPr>
          <p:nvPr/>
        </p:nvSpPr>
        <p:spPr>
          <a:xfrm>
            <a:off x="4029075" y="35052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Attach SKU and batch records, photos and location evidence. Name the custodian for every held stock quantity.</a:t>
            </a:r>
          </a:p>
        </p:txBody>
      </p:sp>
      <p:sp>
        <p:nvSpPr>
          <p:cNvPr id="8" name="Rectangle 7">
            <a:extLst>
              <a:ext uri="{FF2B5EF4-FFF2-40B4-BE49-F238E27FC236}">
                <a16:creationId xmlns:a16="http://schemas.microsoft.com/office/drawing/2014/main" id="{A29C799B-C352-477D-90F5-6483CD0E288C}"/>
              </a:ext>
            </a:extLst>
          </p:cNvPr>
          <p:cNvSpPr>
            <a:spLocks noGrp="1"/>
          </p:cNvSpPr>
          <p:nvPr/>
        </p:nvSpPr>
        <p:spPr>
          <a:xfrm>
            <a:off x="609600" y="43243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Regional verification</a:t>
            </a:r>
          </a:p>
        </p:txBody>
      </p:sp>
      <p:sp>
        <p:nvSpPr>
          <p:cNvPr id="9" name="Rectangle 8">
            <a:extLst>
              <a:ext uri="{FF2B5EF4-FFF2-40B4-BE49-F238E27FC236}">
                <a16:creationId xmlns:a16="http://schemas.microsoft.com/office/drawing/2014/main" id="{AB234140-C7B8-479D-83B2-9297DF8D2EED}"/>
              </a:ext>
            </a:extLst>
          </p:cNvPr>
          <p:cNvSpPr>
            <a:spLocks noGrp="1"/>
          </p:cNvSpPr>
          <p:nvPr/>
        </p:nvSpPr>
        <p:spPr>
          <a:xfrm>
            <a:off x="4029075" y="43243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Regional supervisors check completeness and consolidate unresolved issues with owners and due dates.</a:t>
            </a:r>
          </a:p>
        </p:txBody>
      </p:sp>
      <p:sp>
        <p:nvSpPr>
          <p:cNvPr id="10" name="Rectangle 9">
            <a:extLst>
              <a:ext uri="{FF2B5EF4-FFF2-40B4-BE49-F238E27FC236}">
                <a16:creationId xmlns:a16="http://schemas.microsoft.com/office/drawing/2014/main" id="{A21A0372-B892-4B38-BAC0-1E13024FB69E}"/>
              </a:ext>
            </a:extLst>
          </p:cNvPr>
          <p:cNvSpPr>
            <a:spLocks noGrp="1"/>
          </p:cNvSpPr>
          <p:nvPr/>
        </p:nvSpPr>
        <p:spPr>
          <a:xfrm>
            <a:off x="609600" y="51435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National acceptance</a:t>
            </a:r>
          </a:p>
        </p:txBody>
      </p:sp>
      <p:sp>
        <p:nvSpPr>
          <p:cNvPr id="11" name="Rectangle 10">
            <a:extLst>
              <a:ext uri="{FF2B5EF4-FFF2-40B4-BE49-F238E27FC236}">
                <a16:creationId xmlns:a16="http://schemas.microsoft.com/office/drawing/2014/main" id="{08B5C63C-B129-403D-9112-38E510B7A14E}"/>
              </a:ext>
            </a:extLst>
          </p:cNvPr>
          <p:cNvSpPr>
            <a:spLocks noGrp="1"/>
          </p:cNvSpPr>
          <p:nvPr/>
        </p:nvSpPr>
        <p:spPr>
          <a:xfrm>
            <a:off x="4029075" y="51435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Submit the national report, evidence register and financial reconciliation for GBfoods review and acceptance.</a:t>
            </a:r>
          </a:p>
        </p:txBody>
      </p:sp>
      <p:sp>
        <p:nvSpPr>
          <p:cNvPr id="12" name="Rectangle 11">
            <a:extLst>
              <a:ext uri="{FF2B5EF4-FFF2-40B4-BE49-F238E27FC236}">
                <a16:creationId xmlns:a16="http://schemas.microsoft.com/office/drawing/2014/main" id="{265FAEA6-ED22-44BE-B21A-244007196207}"/>
              </a:ext>
            </a:extLst>
          </p:cNvPr>
          <p:cNvSpPr>
            <a:spLocks noGrp="1"/>
          </p:cNvSpPr>
          <p:nvPr/>
        </p:nvSpPr>
        <p:spPr>
          <a:xfrm>
            <a:off x="609600" y="6238875"/>
            <a:ext cx="10972800" cy="361950"/>
          </a:xfrm>
          <a:prstGeom prst="rect">
            <a:avLst/>
          </a:prstGeom>
          <a:noFill/>
          <a:ln w="0">
            <a:noFill/>
          </a:ln>
        </p:spPr>
        <p:txBody>
          <a:bodyPr>
            <a:noAutofit/>
          </a:bodyPr>
          <a:lstStyle/>
          <a:p>
            <a:pPr>
              <a:defRPr sz="1500" b="0">
                <a:solidFill>
                  <a:srgbClr val="5E5E5E"/>
                </a:solidFill>
                <a:latin typeface="DejaVu Sans"/>
                <a:ea typeface="DejaVu Sans"/>
                <a:cs typeface="DejaVu Sans"/>
              </a:defRPr>
            </a:pPr>
            <a:r>
              <a:rPr sz="1500" b="0">
                <a:solidFill>
                  <a:srgbClr val="5E5E5E"/>
                </a:solidFill>
                <a:latin typeface="DejaVu Sans"/>
                <a:ea typeface="DejaVu Sans"/>
                <a:cs typeface="DejaVu Sans"/>
              </a:rPr>
              <a:t>Where GBfoods accepts an open action, record its owner and due date explicitly in the final handover.</a:t>
            </a:r>
          </a:p>
        </p:txBody>
      </p:sp>
    </p:spTree>
    <p:extLst>
      <p:ext uri="{BB962C8B-B14F-4D97-AF65-F5344CB8AC3E}">
        <p14:creationId xmlns:p14="http://schemas.microsoft.com/office/powerpoint/2010/main" val="6005936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AFF08FD-B3B7-4B73-9AD2-6D9012A42C18}"/>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The proposed scorecard</a:t>
            </a:r>
          </a:p>
        </p:txBody>
      </p:sp>
      <p:sp>
        <p:nvSpPr>
          <p:cNvPr id="2" name="Rectangle 1">
            <a:extLst>
              <a:ext uri="{FF2B5EF4-FFF2-40B4-BE49-F238E27FC236}">
                <a16:creationId xmlns:a16="http://schemas.microsoft.com/office/drawing/2014/main" id="{3DEAD407-E547-46B4-80D3-07DA3AD7075E}"/>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POST WORK</a:t>
            </a:r>
          </a:p>
        </p:txBody>
      </p:sp>
      <p:sp>
        <p:nvSpPr>
          <p:cNvPr id="3" name="Rectangle 2">
            <a:extLst>
              <a:ext uri="{FF2B5EF4-FFF2-40B4-BE49-F238E27FC236}">
                <a16:creationId xmlns:a16="http://schemas.microsoft.com/office/drawing/2014/main" id="{E65D1F85-6A6C-4C9F-9F63-F103CCA4E4E0}"/>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42</a:t>
            </a:r>
          </a:p>
        </p:txBody>
      </p:sp>
      <p:graphicFrame>
        <p:nvGraphicFramePr>
          <p:cNvPr id="9" name="Table 8"/>
          <p:cNvGraphicFramePr/>
          <p:nvPr/>
        </p:nvGraphicFramePr>
        <p:xfrm>
          <a:off x="609600" y="1847850"/>
          <a:ext cx="10972800" cy="3524250"/>
        </p:xfrm>
        <a:graphic>
          <a:graphicData uri="http://schemas.openxmlformats.org/drawingml/2006/table">
            <a:tbl>
              <a:tblPr/>
              <a:tblGrid>
                <a:gridCol w="3333750">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3114675">
                  <a:extLst>
                    <a:ext uri="{9D8B030D-6E8A-4147-A177-3AD203B41FA5}">
                      <a16:colId xmlns:a16="http://schemas.microsoft.com/office/drawing/2014/main" val="20002"/>
                    </a:ext>
                  </a:extLst>
                </a:gridCol>
              </a:tblGrid>
              <a:tr h="704850">
                <a:tc>
                  <a:txBody>
                    <a:bodyPr/>
                    <a:lstStyle/>
                    <a:p>
                      <a:r>
                        <a:rPr sz="1725" b="1">
                          <a:solidFill>
                            <a:srgbClr val="FFFFFF"/>
                          </a:solidFill>
                          <a:latin typeface="DejaVu Sans"/>
                          <a:ea typeface="DejaVu Sans"/>
                          <a:cs typeface="DejaVu Sans"/>
                        </a:rPr>
                        <a:t>Measure</a:t>
                      </a:r>
                    </a:p>
                  </a:txBody>
                  <a:tcPr>
                    <a:solidFill>
                      <a:srgbClr val="303030"/>
                    </a:solidFill>
                  </a:tcPr>
                </a:tc>
                <a:tc>
                  <a:txBody>
                    <a:bodyPr/>
                    <a:lstStyle/>
                    <a:p>
                      <a:r>
                        <a:rPr sz="1725" b="1">
                          <a:solidFill>
                            <a:srgbClr val="FFFFFF"/>
                          </a:solidFill>
                          <a:latin typeface="DejaVu Sans"/>
                          <a:ea typeface="DejaVu Sans"/>
                          <a:cs typeface="DejaVu Sans"/>
                        </a:rPr>
                        <a:t>Target</a:t>
                      </a:r>
                    </a:p>
                  </a:txBody>
                  <a:tcPr>
                    <a:solidFill>
                      <a:srgbClr val="303030"/>
                    </a:solidFill>
                  </a:tcPr>
                </a:tc>
                <a:tc>
                  <a:txBody>
                    <a:bodyPr/>
                    <a:lstStyle/>
                    <a:p>
                      <a:r>
                        <a:rPr sz="1725" b="1">
                          <a:solidFill>
                            <a:srgbClr val="FFFFFF"/>
                          </a:solidFill>
                          <a:latin typeface="DejaVu Sans"/>
                          <a:ea typeface="DejaVu Sans"/>
                          <a:cs typeface="DejaVu Sans"/>
                        </a:rPr>
                        <a:t>Evidence</a:t>
                      </a:r>
                    </a:p>
                  </a:txBody>
                  <a:tcPr>
                    <a:solidFill>
                      <a:srgbClr val="303030"/>
                    </a:solidFill>
                  </a:tcPr>
                </a:tc>
                <a:extLst>
                  <a:ext uri="{0D108BD9-81ED-4DB2-BD59-A6C34878D82A}">
                    <a16:rowId xmlns:a16="http://schemas.microsoft.com/office/drawing/2014/main" val="10000"/>
                  </a:ext>
                </a:extLst>
              </a:tr>
              <a:tr h="704850">
                <a:tc>
                  <a:txBody>
                    <a:bodyPr/>
                    <a:lstStyle/>
                    <a:p>
                      <a:r>
                        <a:rPr sz="1725" b="0">
                          <a:solidFill>
                            <a:srgbClr val="303030"/>
                          </a:solidFill>
                          <a:latin typeface="DejaVu Sans"/>
                          <a:ea typeface="DejaVu Sans"/>
                          <a:cs typeface="DejaVu Sans"/>
                        </a:rPr>
                        <a:t>Depot coverage</a:t>
                      </a:r>
                    </a:p>
                  </a:txBody>
                  <a:tcPr>
                    <a:solidFill>
                      <a:srgbClr val="F5F5F5"/>
                    </a:solidFill>
                  </a:tcPr>
                </a:tc>
                <a:tc>
                  <a:txBody>
                    <a:bodyPr/>
                    <a:lstStyle/>
                    <a:p>
                      <a:r>
                        <a:rPr sz="1725" b="0">
                          <a:solidFill>
                            <a:srgbClr val="303030"/>
                          </a:solidFill>
                          <a:latin typeface="DejaVu Sans"/>
                          <a:ea typeface="DejaVu Sans"/>
                          <a:cs typeface="DejaVu Sans"/>
                        </a:rPr>
                        <a:t>100% completed or explicit exception</a:t>
                      </a:r>
                    </a:p>
                  </a:txBody>
                  <a:tcPr>
                    <a:solidFill>
                      <a:srgbClr val="F5F5F5"/>
                    </a:solidFill>
                  </a:tcPr>
                </a:tc>
                <a:tc>
                  <a:txBody>
                    <a:bodyPr/>
                    <a:lstStyle/>
                    <a:p>
                      <a:r>
                        <a:rPr sz="1725" b="0">
                          <a:solidFill>
                            <a:srgbClr val="303030"/>
                          </a:solidFill>
                          <a:latin typeface="DejaVu Sans"/>
                          <a:ea typeface="DejaVu Sans"/>
                          <a:cs typeface="DejaVu Sans"/>
                        </a:rPr>
                        <a:t>Approved depot register</a:t>
                      </a:r>
                    </a:p>
                  </a:txBody>
                  <a:tcPr>
                    <a:solidFill>
                      <a:srgbClr val="F5F5F5"/>
                    </a:solidFill>
                  </a:tcPr>
                </a:tc>
                <a:extLst>
                  <a:ext uri="{0D108BD9-81ED-4DB2-BD59-A6C34878D82A}">
                    <a16:rowId xmlns:a16="http://schemas.microsoft.com/office/drawing/2014/main" val="10001"/>
                  </a:ext>
                </a:extLst>
              </a:tr>
              <a:tr h="704850">
                <a:tc>
                  <a:txBody>
                    <a:bodyPr/>
                    <a:lstStyle/>
                    <a:p>
                      <a:r>
                        <a:rPr sz="1725" b="0">
                          <a:solidFill>
                            <a:srgbClr val="303030"/>
                          </a:solidFill>
                          <a:latin typeface="DejaVu Sans"/>
                          <a:ea typeface="DejaVu Sans"/>
                          <a:cs typeface="DejaVu Sans"/>
                        </a:rPr>
                        <a:t>Stock reconciliation</a:t>
                      </a:r>
                    </a:p>
                  </a:txBody>
                  <a:tcPr>
                    <a:solidFill>
                      <a:srgbClr val="FFFFFF"/>
                    </a:solidFill>
                  </a:tcPr>
                </a:tc>
                <a:tc>
                  <a:txBody>
                    <a:bodyPr/>
                    <a:lstStyle/>
                    <a:p>
                      <a:r>
                        <a:rPr sz="1725" b="0">
                          <a:solidFill>
                            <a:srgbClr val="303030"/>
                          </a:solidFill>
                          <a:latin typeface="DejaVu Sans"/>
                          <a:ea typeface="DejaVu Sans"/>
                          <a:cs typeface="DejaVu Sans"/>
                        </a:rPr>
                        <a:t>100% signed, no unexplained variance at close</a:t>
                      </a:r>
                    </a:p>
                  </a:txBody>
                  <a:tcPr>
                    <a:solidFill>
                      <a:srgbClr val="FFFFFF"/>
                    </a:solidFill>
                  </a:tcPr>
                </a:tc>
                <a:tc>
                  <a:txBody>
                    <a:bodyPr/>
                    <a:lstStyle/>
                    <a:p>
                      <a:r>
                        <a:rPr sz="1725" b="0">
                          <a:solidFill>
                            <a:srgbClr val="303030"/>
                          </a:solidFill>
                          <a:latin typeface="DejaVu Sans"/>
                          <a:ea typeface="DejaVu Sans"/>
                          <a:cs typeface="DejaVu Sans"/>
                        </a:rPr>
                        <a:t>Depot reconciliation packs</a:t>
                      </a:r>
                    </a:p>
                  </a:txBody>
                  <a:tcPr>
                    <a:solidFill>
                      <a:srgbClr val="FFFFFF"/>
                    </a:solidFill>
                  </a:tcPr>
                </a:tc>
                <a:extLst>
                  <a:ext uri="{0D108BD9-81ED-4DB2-BD59-A6C34878D82A}">
                    <a16:rowId xmlns:a16="http://schemas.microsoft.com/office/drawing/2014/main" val="10002"/>
                  </a:ext>
                </a:extLst>
              </a:tr>
              <a:tr h="704850">
                <a:tc>
                  <a:txBody>
                    <a:bodyPr/>
                    <a:lstStyle/>
                    <a:p>
                      <a:r>
                        <a:rPr sz="1725" b="0">
                          <a:solidFill>
                            <a:srgbClr val="303030"/>
                          </a:solidFill>
                          <a:latin typeface="DejaVu Sans"/>
                          <a:ea typeface="DejaVu Sans"/>
                          <a:cs typeface="DejaVu Sans"/>
                        </a:rPr>
                        <a:t>Daily reporting</a:t>
                      </a:r>
                    </a:p>
                  </a:txBody>
                  <a:tcPr>
                    <a:solidFill>
                      <a:srgbClr val="F5F5F5"/>
                    </a:solidFill>
                  </a:tcPr>
                </a:tc>
                <a:tc>
                  <a:txBody>
                    <a:bodyPr/>
                    <a:lstStyle/>
                    <a:p>
                      <a:r>
                        <a:rPr sz="1725" b="0">
                          <a:solidFill>
                            <a:srgbClr val="303030"/>
                          </a:solidFill>
                          <a:latin typeface="DejaVu Sans"/>
                          <a:ea typeface="DejaVu Sans"/>
                          <a:cs typeface="DejaVu Sans"/>
                        </a:rPr>
                        <a:t>At least 95% by the cutoff</a:t>
                      </a:r>
                    </a:p>
                  </a:txBody>
                  <a:tcPr>
                    <a:solidFill>
                      <a:srgbClr val="F5F5F5"/>
                    </a:solidFill>
                  </a:tcPr>
                </a:tc>
                <a:tc>
                  <a:txBody>
                    <a:bodyPr/>
                    <a:lstStyle/>
                    <a:p>
                      <a:r>
                        <a:rPr sz="1725" b="0">
                          <a:solidFill>
                            <a:srgbClr val="303030"/>
                          </a:solidFill>
                          <a:latin typeface="DejaVu Sans"/>
                          <a:ea typeface="DejaVu Sans"/>
                          <a:cs typeface="DejaVu Sans"/>
                        </a:rPr>
                        <a:t>Timestamped daily returns</a:t>
                      </a:r>
                    </a:p>
                  </a:txBody>
                  <a:tcPr>
                    <a:solidFill>
                      <a:srgbClr val="F5F5F5"/>
                    </a:solidFill>
                  </a:tcPr>
                </a:tc>
                <a:extLst>
                  <a:ext uri="{0D108BD9-81ED-4DB2-BD59-A6C34878D82A}">
                    <a16:rowId xmlns:a16="http://schemas.microsoft.com/office/drawing/2014/main" val="10003"/>
                  </a:ext>
                </a:extLst>
              </a:tr>
              <a:tr h="704850">
                <a:tc>
                  <a:txBody>
                    <a:bodyPr/>
                    <a:lstStyle/>
                    <a:p>
                      <a:r>
                        <a:rPr sz="1725" b="0">
                          <a:solidFill>
                            <a:srgbClr val="303030"/>
                          </a:solidFill>
                          <a:latin typeface="DejaVu Sans"/>
                          <a:ea typeface="DejaVu Sans"/>
                          <a:cs typeface="DejaVu Sans"/>
                        </a:rPr>
                        <a:t>Held stock traceability</a:t>
                      </a:r>
                    </a:p>
                  </a:txBody>
                  <a:tcPr>
                    <a:solidFill>
                      <a:srgbClr val="FFFFFF"/>
                    </a:solidFill>
                  </a:tcPr>
                </a:tc>
                <a:tc>
                  <a:txBody>
                    <a:bodyPr/>
                    <a:lstStyle/>
                    <a:p>
                      <a:r>
                        <a:rPr sz="1725" b="0">
                          <a:solidFill>
                            <a:srgbClr val="303030"/>
                          </a:solidFill>
                          <a:latin typeface="DejaVu Sans"/>
                          <a:ea typeface="DejaVu Sans"/>
                          <a:cs typeface="DejaVu Sans"/>
                        </a:rPr>
                        <a:t>100% with reason and custodian</a:t>
                      </a:r>
                    </a:p>
                  </a:txBody>
                  <a:tcPr>
                    <a:solidFill>
                      <a:srgbClr val="FFFFFF"/>
                    </a:solidFill>
                  </a:tcPr>
                </a:tc>
                <a:tc>
                  <a:txBody>
                    <a:bodyPr/>
                    <a:lstStyle/>
                    <a:p>
                      <a:r>
                        <a:rPr sz="1725" b="0">
                          <a:solidFill>
                            <a:srgbClr val="303030"/>
                          </a:solidFill>
                          <a:latin typeface="DejaVu Sans"/>
                          <a:ea typeface="DejaVu Sans"/>
                          <a:cs typeface="DejaVu Sans"/>
                        </a:rPr>
                        <a:t>Batch register and hold log</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2CFB6200-1398-4145-AA08-B84DC8B2993B}"/>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Agree productivity targets after the pilot. Report recovery rates without promising an unverified recovery percentage.</a:t>
            </a:r>
          </a:p>
        </p:txBody>
      </p:sp>
    </p:spTree>
    <p:extLst>
      <p:ext uri="{BB962C8B-B14F-4D97-AF65-F5344CB8AC3E}">
        <p14:creationId xmlns:p14="http://schemas.microsoft.com/office/powerpoint/2010/main" val="20757854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E5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116389A-A864-4C11-AB61-D643CEC69028}"/>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43</a:t>
            </a:r>
          </a:p>
        </p:txBody>
      </p:sp>
      <p:sp>
        <p:nvSpPr>
          <p:cNvPr id="2" name="Rectangle 1">
            <a:extLst>
              <a:ext uri="{FF2B5EF4-FFF2-40B4-BE49-F238E27FC236}">
                <a16:creationId xmlns:a16="http://schemas.microsoft.com/office/drawing/2014/main" id="{F5952E99-D4EC-4785-84AB-DD06A75C7540}"/>
              </a:ext>
            </a:extLst>
          </p:cNvPr>
          <p:cNvSpPr>
            <a:spLocks noGrp="1"/>
          </p:cNvSpPr>
          <p:nvPr/>
        </p:nvSpPr>
        <p:spPr>
          <a:xfrm>
            <a:off x="609600" y="790575"/>
            <a:ext cx="4762500" cy="895350"/>
          </a:xfrm>
          <a:prstGeom prst="rect">
            <a:avLst/>
          </a:prstGeom>
          <a:noFill/>
          <a:ln w="0">
            <a:noFill/>
          </a:ln>
        </p:spPr>
        <p:txBody>
          <a:bodyPr lIns="0" tIns="0" rIns="0" bIns="0">
            <a:noAutofit/>
          </a:bodyPr>
          <a:lstStyle/>
          <a:p>
            <a:pPr>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07</a:t>
            </a:r>
          </a:p>
        </p:txBody>
      </p:sp>
      <p:sp>
        <p:nvSpPr>
          <p:cNvPr id="3" name="Rectangle 2">
            <a:extLst>
              <a:ext uri="{FF2B5EF4-FFF2-40B4-BE49-F238E27FC236}">
                <a16:creationId xmlns:a16="http://schemas.microsoft.com/office/drawing/2014/main" id="{2C754F12-3CDC-4B11-AEF3-07D52551CCE1}"/>
              </a:ext>
            </a:extLst>
          </p:cNvPr>
          <p:cNvSpPr>
            <a:spLocks noGrp="1"/>
          </p:cNvSpPr>
          <p:nvPr/>
        </p:nvSpPr>
        <p:spPr>
          <a:xfrm>
            <a:off x="609600" y="2390775"/>
            <a:ext cx="10763250" cy="1200150"/>
          </a:xfrm>
          <a:prstGeom prst="rect">
            <a:avLst/>
          </a:prstGeom>
          <a:noFill/>
          <a:ln w="0">
            <a:noFill/>
          </a:ln>
        </p:spPr>
        <p:txBody>
          <a:bodyPr lIns="0" tIns="0" rIns="0" bIns="0">
            <a:noAutofit/>
          </a:bodyPr>
          <a:lstStyle/>
          <a:p>
            <a:pPr>
              <a:defRPr sz="4950" b="1">
                <a:solidFill>
                  <a:srgbClr val="FFFFFF"/>
                </a:solidFill>
                <a:latin typeface="DejaVu Sans"/>
                <a:ea typeface="DejaVu Sans"/>
                <a:cs typeface="DejaVu Sans"/>
              </a:defRPr>
            </a:pPr>
            <a:r>
              <a:rPr sz="4950" b="1">
                <a:solidFill>
                  <a:srgbClr val="FFFFFF"/>
                </a:solidFill>
                <a:latin typeface="DejaVu Sans"/>
                <a:ea typeface="DejaVu Sans"/>
                <a:cs typeface="DejaVu Sans"/>
              </a:rPr>
              <a:t>Delivery and investment</a:t>
            </a:r>
          </a:p>
        </p:txBody>
      </p:sp>
      <p:sp>
        <p:nvSpPr>
          <p:cNvPr id="4" name="Rectangle 3">
            <a:extLst>
              <a:ext uri="{FF2B5EF4-FFF2-40B4-BE49-F238E27FC236}">
                <a16:creationId xmlns:a16="http://schemas.microsoft.com/office/drawing/2014/main" id="{C5AB258C-71BE-4CB3-81A6-A6BA4635FD44}"/>
              </a:ext>
            </a:extLst>
          </p:cNvPr>
          <p:cNvSpPr>
            <a:spLocks noGrp="1"/>
          </p:cNvSpPr>
          <p:nvPr/>
        </p:nvSpPr>
        <p:spPr>
          <a:xfrm>
            <a:off x="609600" y="4267200"/>
            <a:ext cx="9620250" cy="1295400"/>
          </a:xfrm>
          <a:prstGeom prst="rect">
            <a:avLst/>
          </a:prstGeom>
          <a:noFill/>
          <a:ln w="0">
            <a:noFill/>
          </a:ln>
        </p:spPr>
        <p:txBody>
          <a:bodyPr lIns="0" tIns="0" rIns="0" bIns="0">
            <a:noAutofit/>
          </a:bodyPr>
          <a:lstStyle/>
          <a:p>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The rollout programme, field cost assumptions and platform development scope.</a:t>
            </a:r>
          </a:p>
        </p:txBody>
      </p:sp>
    </p:spTree>
    <p:extLst>
      <p:ext uri="{BB962C8B-B14F-4D97-AF65-F5344CB8AC3E}">
        <p14:creationId xmlns:p14="http://schemas.microsoft.com/office/powerpoint/2010/main" val="1930072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2E2FE99-28C3-4FD1-BCB6-CE611DB1A36F}"/>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A proposed 15 working day programme</a:t>
            </a:r>
          </a:p>
        </p:txBody>
      </p:sp>
      <p:sp>
        <p:nvSpPr>
          <p:cNvPr id="2" name="Rectangle 1">
            <a:extLst>
              <a:ext uri="{FF2B5EF4-FFF2-40B4-BE49-F238E27FC236}">
                <a16:creationId xmlns:a16="http://schemas.microsoft.com/office/drawing/2014/main" id="{A5EDDFED-3A9B-4314-8DD3-3795461A856C}"/>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DELIVERY PLAN</a:t>
            </a:r>
          </a:p>
        </p:txBody>
      </p:sp>
      <p:sp>
        <p:nvSpPr>
          <p:cNvPr id="3" name="Rectangle 2">
            <a:extLst>
              <a:ext uri="{FF2B5EF4-FFF2-40B4-BE49-F238E27FC236}">
                <a16:creationId xmlns:a16="http://schemas.microsoft.com/office/drawing/2014/main" id="{84EE110F-BF32-4DAC-9FE9-26FB608983AB}"/>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44</a:t>
            </a:r>
          </a:p>
        </p:txBody>
      </p:sp>
      <p:graphicFrame>
        <p:nvGraphicFramePr>
          <p:cNvPr id="9" name="Table 8"/>
          <p:cNvGraphicFramePr/>
          <p:nvPr/>
        </p:nvGraphicFramePr>
        <p:xfrm>
          <a:off x="609600" y="1771650"/>
          <a:ext cx="10972800" cy="3743328"/>
        </p:xfrm>
        <a:graphic>
          <a:graphicData uri="http://schemas.openxmlformats.org/drawingml/2006/table">
            <a:tbl>
              <a:tblPr/>
              <a:tblGrid>
                <a:gridCol w="1952625">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4638675">
                  <a:extLst>
                    <a:ext uri="{9D8B030D-6E8A-4147-A177-3AD203B41FA5}">
                      <a16:colId xmlns:a16="http://schemas.microsoft.com/office/drawing/2014/main" val="20002"/>
                    </a:ext>
                  </a:extLst>
                </a:gridCol>
              </a:tblGrid>
              <a:tr h="623888">
                <a:tc>
                  <a:txBody>
                    <a:bodyPr/>
                    <a:lstStyle/>
                    <a:p>
                      <a:r>
                        <a:rPr sz="1725" b="1">
                          <a:solidFill>
                            <a:srgbClr val="FFFFFF"/>
                          </a:solidFill>
                          <a:latin typeface="DejaVu Sans"/>
                          <a:ea typeface="DejaVu Sans"/>
                          <a:cs typeface="DejaVu Sans"/>
                        </a:rPr>
                        <a:t>Window</a:t>
                      </a:r>
                    </a:p>
                  </a:txBody>
                  <a:tcPr>
                    <a:solidFill>
                      <a:srgbClr val="303030"/>
                    </a:solidFill>
                  </a:tcPr>
                </a:tc>
                <a:tc>
                  <a:txBody>
                    <a:bodyPr/>
                    <a:lstStyle/>
                    <a:p>
                      <a:r>
                        <a:rPr sz="1725" b="1">
                          <a:solidFill>
                            <a:srgbClr val="FFFFFF"/>
                          </a:solidFill>
                          <a:latin typeface="DejaVu Sans"/>
                          <a:ea typeface="DejaVu Sans"/>
                          <a:cs typeface="DejaVu Sans"/>
                        </a:rPr>
                        <a:t>Activity</a:t>
                      </a:r>
                    </a:p>
                  </a:txBody>
                  <a:tcPr>
                    <a:solidFill>
                      <a:srgbClr val="303030"/>
                    </a:solidFill>
                  </a:tcPr>
                </a:tc>
                <a:tc>
                  <a:txBody>
                    <a:bodyPr/>
                    <a:lstStyle/>
                    <a:p>
                      <a:r>
                        <a:rPr sz="1725" b="1">
                          <a:solidFill>
                            <a:srgbClr val="FFFFFF"/>
                          </a:solidFill>
                          <a:latin typeface="DejaVu Sans"/>
                          <a:ea typeface="DejaVu Sans"/>
                          <a:cs typeface="DejaVu Sans"/>
                        </a:rPr>
                        <a:t>Approval or output</a:t>
                      </a:r>
                    </a:p>
                  </a:txBody>
                  <a:tcPr>
                    <a:solidFill>
                      <a:srgbClr val="303030"/>
                    </a:solidFill>
                  </a:tcPr>
                </a:tc>
                <a:extLst>
                  <a:ext uri="{0D108BD9-81ED-4DB2-BD59-A6C34878D82A}">
                    <a16:rowId xmlns:a16="http://schemas.microsoft.com/office/drawing/2014/main" val="10000"/>
                  </a:ext>
                </a:extLst>
              </a:tr>
              <a:tr h="623888">
                <a:tc>
                  <a:txBody>
                    <a:bodyPr/>
                    <a:lstStyle/>
                    <a:p>
                      <a:r>
                        <a:rPr sz="1725" b="0">
                          <a:solidFill>
                            <a:srgbClr val="303030"/>
                          </a:solidFill>
                          <a:latin typeface="DejaVu Sans"/>
                          <a:ea typeface="DejaVu Sans"/>
                          <a:cs typeface="DejaVu Sans"/>
                        </a:rPr>
                        <a:t>Days 1–3</a:t>
                      </a:r>
                    </a:p>
                  </a:txBody>
                  <a:tcPr>
                    <a:solidFill>
                      <a:srgbClr val="F5F5F5"/>
                    </a:solidFill>
                  </a:tcPr>
                </a:tc>
                <a:tc>
                  <a:txBody>
                    <a:bodyPr/>
                    <a:lstStyle/>
                    <a:p>
                      <a:r>
                        <a:rPr sz="1725" b="0">
                          <a:solidFill>
                            <a:srgbClr val="303030"/>
                          </a:solidFill>
                          <a:latin typeface="DejaVu Sans"/>
                          <a:ea typeface="DejaVu Sans"/>
                          <a:cs typeface="DejaVu Sans"/>
                        </a:rPr>
                        <a:t>Trainer workshop, team training and assessment</a:t>
                      </a:r>
                    </a:p>
                  </a:txBody>
                  <a:tcPr>
                    <a:solidFill>
                      <a:srgbClr val="F5F5F5"/>
                    </a:solidFill>
                  </a:tcPr>
                </a:tc>
                <a:tc>
                  <a:txBody>
                    <a:bodyPr/>
                    <a:lstStyle/>
                    <a:p>
                      <a:r>
                        <a:rPr sz="1725" b="0">
                          <a:solidFill>
                            <a:srgbClr val="303030"/>
                          </a:solidFill>
                          <a:latin typeface="DejaVu Sans"/>
                          <a:ea typeface="DejaVu Sans"/>
                          <a:cs typeface="DejaVu Sans"/>
                        </a:rPr>
                        <a:t>Certified roster, IDs, PPE and approved routes</a:t>
                      </a:r>
                    </a:p>
                  </a:txBody>
                  <a:tcPr>
                    <a:solidFill>
                      <a:srgbClr val="F5F5F5"/>
                    </a:solidFill>
                  </a:tcPr>
                </a:tc>
                <a:extLst>
                  <a:ext uri="{0D108BD9-81ED-4DB2-BD59-A6C34878D82A}">
                    <a16:rowId xmlns:a16="http://schemas.microsoft.com/office/drawing/2014/main" val="10001"/>
                  </a:ext>
                </a:extLst>
              </a:tr>
              <a:tr h="623888">
                <a:tc>
                  <a:txBody>
                    <a:bodyPr/>
                    <a:lstStyle/>
                    <a:p>
                      <a:r>
                        <a:rPr sz="1725" b="0">
                          <a:solidFill>
                            <a:srgbClr val="303030"/>
                          </a:solidFill>
                          <a:latin typeface="DejaVu Sans"/>
                          <a:ea typeface="DejaVu Sans"/>
                          <a:cs typeface="DejaVu Sans"/>
                        </a:rPr>
                        <a:t>Day 4</a:t>
                      </a:r>
                    </a:p>
                  </a:txBody>
                  <a:tcPr>
                    <a:solidFill>
                      <a:srgbClr val="FFFFFF"/>
                    </a:solidFill>
                  </a:tcPr>
                </a:tc>
                <a:tc>
                  <a:txBody>
                    <a:bodyPr/>
                    <a:lstStyle/>
                    <a:p>
                      <a:r>
                        <a:rPr sz="1725" b="0">
                          <a:solidFill>
                            <a:srgbClr val="303030"/>
                          </a:solidFill>
                          <a:latin typeface="DejaVu Sans"/>
                          <a:ea typeface="DejaVu Sans"/>
                          <a:cs typeface="DejaVu Sans"/>
                        </a:rPr>
                        <a:t>Two depot pilots</a:t>
                      </a:r>
                    </a:p>
                  </a:txBody>
                  <a:tcPr>
                    <a:solidFill>
                      <a:srgbClr val="FFFFFF"/>
                    </a:solidFill>
                  </a:tcPr>
                </a:tc>
                <a:tc>
                  <a:txBody>
                    <a:bodyPr/>
                    <a:lstStyle/>
                    <a:p>
                      <a:r>
                        <a:rPr sz="1725" b="0">
                          <a:solidFill>
                            <a:srgbClr val="303030"/>
                          </a:solidFill>
                          <a:latin typeface="DejaVu Sans"/>
                          <a:ea typeface="DejaVu Sans"/>
                          <a:cs typeface="DejaVu Sans"/>
                        </a:rPr>
                        <a:t>Measured capacity and quality review</a:t>
                      </a:r>
                    </a:p>
                  </a:txBody>
                  <a:tcPr>
                    <a:solidFill>
                      <a:srgbClr val="FFFFFF"/>
                    </a:solidFill>
                  </a:tcPr>
                </a:tc>
                <a:extLst>
                  <a:ext uri="{0D108BD9-81ED-4DB2-BD59-A6C34878D82A}">
                    <a16:rowId xmlns:a16="http://schemas.microsoft.com/office/drawing/2014/main" val="10002"/>
                  </a:ext>
                </a:extLst>
              </a:tr>
              <a:tr h="623888">
                <a:tc>
                  <a:txBody>
                    <a:bodyPr/>
                    <a:lstStyle/>
                    <a:p>
                      <a:r>
                        <a:rPr sz="1725" b="0">
                          <a:solidFill>
                            <a:srgbClr val="303030"/>
                          </a:solidFill>
                          <a:latin typeface="DejaVu Sans"/>
                          <a:ea typeface="DejaVu Sans"/>
                          <a:cs typeface="DejaVu Sans"/>
                        </a:rPr>
                        <a:t>Days 5–12</a:t>
                      </a:r>
                    </a:p>
                  </a:txBody>
                  <a:tcPr>
                    <a:solidFill>
                      <a:srgbClr val="F5F5F5"/>
                    </a:solidFill>
                  </a:tcPr>
                </a:tc>
                <a:tc>
                  <a:txBody>
                    <a:bodyPr/>
                    <a:lstStyle/>
                    <a:p>
                      <a:r>
                        <a:rPr sz="1725" b="0">
                          <a:solidFill>
                            <a:srgbClr val="303030"/>
                          </a:solidFill>
                          <a:latin typeface="DejaVu Sans"/>
                          <a:ea typeface="DejaVu Sans"/>
                          <a:cs typeface="DejaVu Sans"/>
                        </a:rPr>
                        <a:t>Staggered national execution</a:t>
                      </a:r>
                    </a:p>
                  </a:txBody>
                  <a:tcPr>
                    <a:solidFill>
                      <a:srgbClr val="F5F5F5"/>
                    </a:solidFill>
                  </a:tcPr>
                </a:tc>
                <a:tc>
                  <a:txBody>
                    <a:bodyPr/>
                    <a:lstStyle/>
                    <a:p>
                      <a:r>
                        <a:rPr sz="1725" b="0">
                          <a:solidFill>
                            <a:srgbClr val="303030"/>
                          </a:solidFill>
                          <a:latin typeface="DejaVu Sans"/>
                          <a:ea typeface="DejaVu Sans"/>
                          <a:cs typeface="DejaVu Sans"/>
                        </a:rPr>
                        <a:t>Accepted pilot and daily depot packs</a:t>
                      </a:r>
                    </a:p>
                  </a:txBody>
                  <a:tcPr>
                    <a:solidFill>
                      <a:srgbClr val="F5F5F5"/>
                    </a:solidFill>
                  </a:tcPr>
                </a:tc>
                <a:extLst>
                  <a:ext uri="{0D108BD9-81ED-4DB2-BD59-A6C34878D82A}">
                    <a16:rowId xmlns:a16="http://schemas.microsoft.com/office/drawing/2014/main" val="10003"/>
                  </a:ext>
                </a:extLst>
              </a:tr>
              <a:tr h="623888">
                <a:tc>
                  <a:txBody>
                    <a:bodyPr/>
                    <a:lstStyle/>
                    <a:p>
                      <a:r>
                        <a:rPr sz="1725" b="0">
                          <a:solidFill>
                            <a:srgbClr val="303030"/>
                          </a:solidFill>
                          <a:latin typeface="DejaVu Sans"/>
                          <a:ea typeface="DejaVu Sans"/>
                          <a:cs typeface="DejaVu Sans"/>
                        </a:rPr>
                        <a:t>Days 13–14</a:t>
                      </a:r>
                    </a:p>
                  </a:txBody>
                  <a:tcPr>
                    <a:solidFill>
                      <a:srgbClr val="FFFFFF"/>
                    </a:solidFill>
                  </a:tcPr>
                </a:tc>
                <a:tc>
                  <a:txBody>
                    <a:bodyPr/>
                    <a:lstStyle/>
                    <a:p>
                      <a:r>
                        <a:rPr sz="1725" b="0">
                          <a:solidFill>
                            <a:srgbClr val="303030"/>
                          </a:solidFill>
                          <a:latin typeface="DejaVu Sans"/>
                          <a:ea typeface="DejaVu Sans"/>
                          <a:cs typeface="DejaVu Sans"/>
                        </a:rPr>
                        <a:t>Reconciliation and authorised corrections</a:t>
                      </a:r>
                    </a:p>
                  </a:txBody>
                  <a:tcPr>
                    <a:solidFill>
                      <a:srgbClr val="FFFFFF"/>
                    </a:solidFill>
                  </a:tcPr>
                </a:tc>
                <a:tc>
                  <a:txBody>
                    <a:bodyPr/>
                    <a:lstStyle/>
                    <a:p>
                      <a:r>
                        <a:rPr sz="1725" b="0">
                          <a:solidFill>
                            <a:srgbClr val="303030"/>
                          </a:solidFill>
                          <a:latin typeface="DejaVu Sans"/>
                          <a:ea typeface="DejaVu Sans"/>
                          <a:cs typeface="DejaVu Sans"/>
                        </a:rPr>
                        <a:t>Resolved records and exception list</a:t>
                      </a:r>
                    </a:p>
                  </a:txBody>
                  <a:tcPr>
                    <a:solidFill>
                      <a:srgbClr val="FFFFFF"/>
                    </a:solidFill>
                  </a:tcPr>
                </a:tc>
                <a:extLst>
                  <a:ext uri="{0D108BD9-81ED-4DB2-BD59-A6C34878D82A}">
                    <a16:rowId xmlns:a16="http://schemas.microsoft.com/office/drawing/2014/main" val="10004"/>
                  </a:ext>
                </a:extLst>
              </a:tr>
              <a:tr h="623888">
                <a:tc>
                  <a:txBody>
                    <a:bodyPr/>
                    <a:lstStyle/>
                    <a:p>
                      <a:r>
                        <a:rPr sz="1725" b="0">
                          <a:solidFill>
                            <a:srgbClr val="303030"/>
                          </a:solidFill>
                          <a:latin typeface="DejaVu Sans"/>
                          <a:ea typeface="DejaVu Sans"/>
                          <a:cs typeface="DejaVu Sans"/>
                        </a:rPr>
                        <a:t>Day 15</a:t>
                      </a:r>
                    </a:p>
                  </a:txBody>
                  <a:tcPr>
                    <a:solidFill>
                      <a:srgbClr val="F5F5F5"/>
                    </a:solidFill>
                  </a:tcPr>
                </a:tc>
                <a:tc>
                  <a:txBody>
                    <a:bodyPr/>
                    <a:lstStyle/>
                    <a:p>
                      <a:r>
                        <a:rPr sz="1725" b="0">
                          <a:solidFill>
                            <a:srgbClr val="303030"/>
                          </a:solidFill>
                          <a:latin typeface="DejaVu Sans"/>
                          <a:ea typeface="DejaVu Sans"/>
                          <a:cs typeface="DejaVu Sans"/>
                        </a:rPr>
                        <a:t>National review and financial closeout</a:t>
                      </a:r>
                    </a:p>
                  </a:txBody>
                  <a:tcPr>
                    <a:solidFill>
                      <a:srgbClr val="F5F5F5"/>
                    </a:solidFill>
                  </a:tcPr>
                </a:tc>
                <a:tc>
                  <a:txBody>
                    <a:bodyPr/>
                    <a:lstStyle/>
                    <a:p>
                      <a:r>
                        <a:rPr sz="1725" b="0">
                          <a:solidFill>
                            <a:srgbClr val="303030"/>
                          </a:solidFill>
                          <a:latin typeface="DejaVu Sans"/>
                          <a:ea typeface="DejaVu Sans"/>
                          <a:cs typeface="DejaVu Sans"/>
                        </a:rPr>
                        <a:t>Final acceptance or agreed open actions</a:t>
                      </a:r>
                    </a:p>
                  </a:txBody>
                  <a:tcPr>
                    <a:solidFill>
                      <a:srgbClr val="F5F5F5"/>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BAF66F9A-7001-4A2B-966B-9A3D90C6DA6C}"/>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Recce and platform readiness precede Day 1. Confirm the 15-day window after pilot results and regional allocation.</a:t>
            </a:r>
          </a:p>
        </p:txBody>
      </p:sp>
    </p:spTree>
    <p:extLst>
      <p:ext uri="{BB962C8B-B14F-4D97-AF65-F5344CB8AC3E}">
        <p14:creationId xmlns:p14="http://schemas.microsoft.com/office/powerpoint/2010/main" val="9420662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EE2C01-B6F5-4C02-A782-CAA95794A3FE}"/>
              </a:ext>
            </a:extLst>
          </p:cNvPr>
          <p:cNvSpPr>
            <a:spLocks noGrp="1"/>
          </p:cNvSpPr>
          <p:nvPr/>
        </p:nvSpPr>
        <p:spPr>
          <a:xfrm>
            <a:off x="609600" y="247650"/>
            <a:ext cx="3810000" cy="333375"/>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36579347-E12A-46D5-8739-E15E1102838A}"/>
              </a:ext>
            </a:extLst>
          </p:cNvPr>
          <p:cNvSpPr>
            <a:spLocks noGrp="1"/>
          </p:cNvSpPr>
          <p:nvPr/>
        </p:nvSpPr>
        <p:spPr>
          <a:xfrm>
            <a:off x="609600" y="790575"/>
            <a:ext cx="11049000" cy="1238250"/>
          </a:xfrm>
          <a:prstGeom prst="rect">
            <a:avLst/>
          </a:prstGeom>
          <a:noFill/>
          <a:ln w="0">
            <a:noFill/>
          </a:ln>
        </p:spPr>
        <p:txBody>
          <a:bodyPr>
            <a:noAutofit/>
          </a:bodyPr>
          <a:lstStyle/>
          <a:p>
            <a:pPr>
              <a:defRPr sz="2925" b="1">
                <a:solidFill>
                  <a:srgbClr val="303030"/>
                </a:solidFill>
                <a:latin typeface="DejaVu Sans"/>
                <a:ea typeface="DejaVu Sans"/>
                <a:cs typeface="DejaVu Sans"/>
              </a:defRPr>
            </a:pPr>
            <a:r>
              <a:rPr sz="2925" b="1">
                <a:solidFill>
                  <a:srgbClr val="303030"/>
                </a:solidFill>
                <a:latin typeface="DejaVu Sans"/>
                <a:ea typeface="DejaVu Sans"/>
                <a:cs typeface="DejaVu Sans"/>
              </a:rPr>
              <a:t>Investment aligned to the revised structure</a:t>
            </a:r>
          </a:p>
        </p:txBody>
      </p:sp>
      <p:sp>
        <p:nvSpPr>
          <p:cNvPr id="3" name="Rectangle 2">
            <a:extLst>
              <a:ext uri="{FF2B5EF4-FFF2-40B4-BE49-F238E27FC236}">
                <a16:creationId xmlns:a16="http://schemas.microsoft.com/office/drawing/2014/main" id="{5F7529C1-5ABF-4ED6-9439-3A1142FC3FA7}"/>
              </a:ext>
            </a:extLst>
          </p:cNvPr>
          <p:cNvSpPr>
            <a:spLocks noGrp="1"/>
          </p:cNvSpPr>
          <p:nvPr/>
        </p:nvSpPr>
        <p:spPr>
          <a:xfrm>
            <a:off x="609600" y="1533525"/>
            <a:ext cx="10953750" cy="571500"/>
          </a:xfrm>
          <a:prstGeom prst="rect">
            <a:avLst/>
          </a:prstGeom>
          <a:noFill/>
          <a:ln w="0">
            <a:noFill/>
          </a:ln>
        </p:spPr>
        <p:txBody>
          <a:bodyPr>
            <a:noAutofit/>
          </a:bodyPr>
          <a:lstStyle/>
          <a:p>
            <a:pPr>
              <a:defRPr sz="1575" b="0">
                <a:solidFill>
                  <a:srgbClr val="5E5E5E"/>
                </a:solidFill>
                <a:latin typeface="DejaVu Sans"/>
                <a:ea typeface="DejaVu Sans"/>
                <a:cs typeface="DejaVu Sans"/>
              </a:defRPr>
            </a:pPr>
            <a:r>
              <a:rPr sz="1575" b="0">
                <a:solidFill>
                  <a:srgbClr val="5E5E5E"/>
                </a:solidFill>
                <a:latin typeface="DejaVu Sans"/>
                <a:ea typeface="DejaVu Sans"/>
                <a:cs typeface="DejaVu Sans"/>
              </a:rPr>
              <a:t>Final field pricing follows confirmation of regional allocations, workload and deployment days.</a:t>
            </a:r>
          </a:p>
        </p:txBody>
      </p:sp>
      <p:sp>
        <p:nvSpPr>
          <p:cNvPr id="4" name="Rectangle 3">
            <a:extLst>
              <a:ext uri="{FF2B5EF4-FFF2-40B4-BE49-F238E27FC236}">
                <a16:creationId xmlns:a16="http://schemas.microsoft.com/office/drawing/2014/main" id="{E620E161-957A-4B8D-816C-FCDD5FEAF5E6}"/>
              </a:ext>
            </a:extLst>
          </p:cNvPr>
          <p:cNvSpPr>
            <a:spLocks noGrp="1"/>
          </p:cNvSpPr>
          <p:nvPr/>
        </p:nvSpPr>
        <p:spPr>
          <a:xfrm>
            <a:off x="609600" y="2571750"/>
            <a:ext cx="10668000" cy="1238250"/>
          </a:xfrm>
          <a:prstGeom prst="rect">
            <a:avLst/>
          </a:prstGeom>
          <a:noFill/>
          <a:ln w="0">
            <a:noFill/>
          </a:ln>
        </p:spPr>
        <p:txBody>
          <a:bodyPr>
            <a:noAutofit/>
          </a:bodyPr>
          <a:lstStyle/>
          <a:p>
            <a:pPr>
              <a:defRPr sz="3300" b="1">
                <a:solidFill>
                  <a:srgbClr val="FE5000"/>
                </a:solidFill>
                <a:latin typeface="DejaVu Sans"/>
                <a:ea typeface="DejaVu Sans"/>
                <a:cs typeface="DejaVu Sans"/>
              </a:defRPr>
            </a:pPr>
            <a:r>
              <a:rPr sz="3300" b="1">
                <a:solidFill>
                  <a:srgbClr val="FE5000"/>
                </a:solidFill>
                <a:latin typeface="DejaVu Sans"/>
                <a:ea typeface="DejaVu Sans"/>
                <a:cs typeface="DejaVu Sans"/>
              </a:rPr>
              <a:t>The previous field ceiling</a:t>
            </a:r>
          </a:p>
          <a:p>
            <a:pPr>
              <a:defRPr sz="3300" b="1">
                <a:solidFill>
                  <a:srgbClr val="FE5000"/>
                </a:solidFill>
                <a:latin typeface="DejaVu Sans"/>
                <a:ea typeface="DejaVu Sans"/>
                <a:cs typeface="DejaVu Sans"/>
              </a:defRPr>
            </a:pPr>
            <a:r>
              <a:rPr sz="3300" b="1">
                <a:solidFill>
                  <a:srgbClr val="FE5000"/>
                </a:solidFill>
                <a:latin typeface="DejaVu Sans"/>
                <a:ea typeface="DejaVu Sans"/>
                <a:cs typeface="DejaVu Sans"/>
              </a:rPr>
              <a:t>requires a revised quotation</a:t>
            </a:r>
          </a:p>
        </p:txBody>
      </p:sp>
      <p:sp>
        <p:nvSpPr>
          <p:cNvPr id="5" name="Rectangle 4">
            <a:extLst>
              <a:ext uri="{FF2B5EF4-FFF2-40B4-BE49-F238E27FC236}">
                <a16:creationId xmlns:a16="http://schemas.microsoft.com/office/drawing/2014/main" id="{1315347B-E515-4464-84F9-68515DBBB157}"/>
              </a:ext>
            </a:extLst>
          </p:cNvPr>
          <p:cNvSpPr>
            <a:spLocks noGrp="1"/>
          </p:cNvSpPr>
          <p:nvPr/>
        </p:nvSpPr>
        <p:spPr>
          <a:xfrm>
            <a:off x="609600" y="4143375"/>
            <a:ext cx="10572750" cy="904875"/>
          </a:xfrm>
          <a:prstGeom prst="rect">
            <a:avLst/>
          </a:prstGeom>
          <a:noFill/>
          <a:ln w="0">
            <a:noFill/>
          </a:ln>
        </p:spPr>
        <p:txBody>
          <a:bodyPr>
            <a:noAutofit/>
          </a:bodyPr>
          <a:lstStyle/>
          <a:p>
            <a:pPr>
              <a:defRPr sz="2100" b="0">
                <a:solidFill>
                  <a:srgbClr val="303030"/>
                </a:solidFill>
                <a:latin typeface="DejaVu Sans"/>
                <a:ea typeface="DejaVu Sans"/>
                <a:cs typeface="DejaVu Sans"/>
              </a:defRPr>
            </a:pPr>
            <a:r>
              <a:rPr sz="2100" b="0">
                <a:solidFill>
                  <a:srgbClr val="303030"/>
                </a:solidFill>
                <a:latin typeface="DejaVu Sans"/>
                <a:ea typeface="DejaVu Sans"/>
                <a:cs typeface="DejaVu Sans"/>
              </a:rPr>
              <a:t>The source estimate of GHS 352,877.50 before tax used a different crew structure. It is not the price of this revised proposal.</a:t>
            </a:r>
          </a:p>
        </p:txBody>
      </p:sp>
      <p:sp>
        <p:nvSpPr>
          <p:cNvPr id="6" name="Rectangle 5">
            <a:extLst>
              <a:ext uri="{FF2B5EF4-FFF2-40B4-BE49-F238E27FC236}">
                <a16:creationId xmlns:a16="http://schemas.microsoft.com/office/drawing/2014/main" id="{F010CA8F-0EBD-40AB-BAAD-293A02A789B5}"/>
              </a:ext>
            </a:extLst>
          </p:cNvPr>
          <p:cNvSpPr>
            <a:spLocks noGrp="1"/>
          </p:cNvSpPr>
          <p:nvPr/>
        </p:nvSpPr>
        <p:spPr>
          <a:xfrm>
            <a:off x="609600" y="5438775"/>
            <a:ext cx="10477500" cy="762000"/>
          </a:xfrm>
          <a:prstGeom prst="rect">
            <a:avLst/>
          </a:prstGeom>
          <a:noFill/>
          <a:ln w="0">
            <a:noFill/>
          </a:ln>
        </p:spPr>
        <p:txBody>
          <a:bodyPr>
            <a:noAutofit/>
          </a:bodyPr>
          <a:lstStyle/>
          <a:p>
            <a:pPr>
              <a:defRPr sz="1800" b="0">
                <a:solidFill>
                  <a:srgbClr val="5E5E5E"/>
                </a:solidFill>
                <a:latin typeface="DejaVu Sans"/>
                <a:ea typeface="DejaVu Sans"/>
                <a:cs typeface="DejaVu Sans"/>
              </a:defRPr>
            </a:pPr>
            <a:r>
              <a:rPr sz="1800" b="0">
                <a:solidFill>
                  <a:srgbClr val="5E5E5E"/>
                </a:solidFill>
                <a:latin typeface="DejaVu Sans"/>
                <a:ea typeface="DejaVu Sans"/>
                <a:cs typeface="DejaVu Sans"/>
              </a:rPr>
              <a:t>Price dedicated QC coverage, cluster supervision and regional supervision separately. Platform development, hosting and support remain additional.</a:t>
            </a:r>
          </a:p>
        </p:txBody>
      </p:sp>
    </p:spTree>
    <p:extLst>
      <p:ext uri="{BB962C8B-B14F-4D97-AF65-F5344CB8AC3E}">
        <p14:creationId xmlns:p14="http://schemas.microsoft.com/office/powerpoint/2010/main" val="10416819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856AF8-4846-49C2-9CFF-3724B9F5E2B6}"/>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The value of the proposed model</a:t>
            </a:r>
          </a:p>
        </p:txBody>
      </p:sp>
      <p:sp>
        <p:nvSpPr>
          <p:cNvPr id="2" name="Rectangle 1">
            <a:extLst>
              <a:ext uri="{FF2B5EF4-FFF2-40B4-BE49-F238E27FC236}">
                <a16:creationId xmlns:a16="http://schemas.microsoft.com/office/drawing/2014/main" id="{30EA4429-708C-4985-B0BF-3ED383E4FF26}"/>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RECOMMENDATION</a:t>
            </a:r>
          </a:p>
        </p:txBody>
      </p:sp>
      <p:sp>
        <p:nvSpPr>
          <p:cNvPr id="3" name="Rectangle 2">
            <a:extLst>
              <a:ext uri="{FF2B5EF4-FFF2-40B4-BE49-F238E27FC236}">
                <a16:creationId xmlns:a16="http://schemas.microsoft.com/office/drawing/2014/main" id="{7EF0453A-D630-432A-B284-58450C50F649}"/>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46</a:t>
            </a:r>
          </a:p>
        </p:txBody>
      </p:sp>
      <p:sp>
        <p:nvSpPr>
          <p:cNvPr id="4" name="Rectangle 3">
            <a:extLst>
              <a:ext uri="{FF2B5EF4-FFF2-40B4-BE49-F238E27FC236}">
                <a16:creationId xmlns:a16="http://schemas.microsoft.com/office/drawing/2014/main" id="{01C7A77D-DADC-4805-944E-011F6235DD59}"/>
              </a:ext>
            </a:extLst>
          </p:cNvPr>
          <p:cNvSpPr>
            <a:spLocks noGrp="1"/>
          </p:cNvSpPr>
          <p:nvPr/>
        </p:nvSpPr>
        <p:spPr>
          <a:xfrm>
            <a:off x="609600" y="1809750"/>
            <a:ext cx="3302000" cy="857250"/>
          </a:xfrm>
          <a:prstGeom prst="rect">
            <a:avLst/>
          </a:prstGeom>
          <a:noFill/>
          <a:ln w="0">
            <a:noFill/>
          </a:ln>
        </p:spPr>
        <p:txBody>
          <a:bodyPr lIns="0" tIns="0" rIns="0" bIns="0">
            <a:noAutofit/>
          </a:bodyPr>
          <a:lstStyle/>
          <a:p>
            <a:pPr>
              <a:defRPr sz="3375" b="1">
                <a:solidFill>
                  <a:srgbClr val="FE5000"/>
                </a:solidFill>
                <a:latin typeface="DejaVu Sans"/>
                <a:ea typeface="DejaVu Sans"/>
                <a:cs typeface="DejaVu Sans"/>
              </a:defRPr>
            </a:pPr>
            <a:r>
              <a:rPr sz="3375" b="1">
                <a:solidFill>
                  <a:srgbClr val="FE5000"/>
                </a:solidFill>
                <a:latin typeface="DejaVu Sans"/>
                <a:ea typeface="DejaVu Sans"/>
                <a:cs typeface="DejaVu Sans"/>
              </a:rPr>
              <a:t>COVER</a:t>
            </a:r>
          </a:p>
        </p:txBody>
      </p:sp>
      <p:sp>
        <p:nvSpPr>
          <p:cNvPr id="5" name="Rectangle 4">
            <a:extLst>
              <a:ext uri="{FF2B5EF4-FFF2-40B4-BE49-F238E27FC236}">
                <a16:creationId xmlns:a16="http://schemas.microsoft.com/office/drawing/2014/main" id="{BD13FD53-6638-4735-88DB-90E1C2E10D38}"/>
              </a:ext>
            </a:extLst>
          </p:cNvPr>
          <p:cNvSpPr>
            <a:spLocks noGrp="1"/>
          </p:cNvSpPr>
          <p:nvPr/>
        </p:nvSpPr>
        <p:spPr>
          <a:xfrm>
            <a:off x="609600" y="287655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National coordination</a:t>
            </a:r>
          </a:p>
        </p:txBody>
      </p:sp>
      <p:sp>
        <p:nvSpPr>
          <p:cNvPr id="6" name="Rectangle 5">
            <a:extLst>
              <a:ext uri="{FF2B5EF4-FFF2-40B4-BE49-F238E27FC236}">
                <a16:creationId xmlns:a16="http://schemas.microsoft.com/office/drawing/2014/main" id="{4CA343DC-4E25-445A-A9AC-4A6F0FD143C7}"/>
              </a:ext>
            </a:extLst>
          </p:cNvPr>
          <p:cNvSpPr>
            <a:spLocks noGrp="1"/>
          </p:cNvSpPr>
          <p:nvPr/>
        </p:nvSpPr>
        <p:spPr>
          <a:xfrm>
            <a:off x="609600" y="371475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One control desk links local teams and keeps GBfoods informed.</a:t>
            </a:r>
          </a:p>
        </p:txBody>
      </p:sp>
      <p:sp>
        <p:nvSpPr>
          <p:cNvPr id="7" name="Rectangle 6">
            <a:extLst>
              <a:ext uri="{FF2B5EF4-FFF2-40B4-BE49-F238E27FC236}">
                <a16:creationId xmlns:a16="http://schemas.microsoft.com/office/drawing/2014/main" id="{047B3540-B2C0-4BB3-ACD0-A2BE442839D9}"/>
              </a:ext>
            </a:extLst>
          </p:cNvPr>
          <p:cNvSpPr>
            <a:spLocks noGrp="1"/>
          </p:cNvSpPr>
          <p:nvPr/>
        </p:nvSpPr>
        <p:spPr>
          <a:xfrm>
            <a:off x="4267200" y="1809750"/>
            <a:ext cx="3302000" cy="857250"/>
          </a:xfrm>
          <a:prstGeom prst="rect">
            <a:avLst/>
          </a:prstGeom>
          <a:noFill/>
          <a:ln w="0">
            <a:noFill/>
          </a:ln>
        </p:spPr>
        <p:txBody>
          <a:bodyPr lIns="0" tIns="0" rIns="0" bIns="0">
            <a:noAutofit/>
          </a:bodyPr>
          <a:lstStyle/>
          <a:p>
            <a:pPr>
              <a:defRPr sz="3375" b="1">
                <a:solidFill>
                  <a:srgbClr val="FE5000"/>
                </a:solidFill>
                <a:latin typeface="DejaVu Sans"/>
                <a:ea typeface="DejaVu Sans"/>
                <a:cs typeface="DejaVu Sans"/>
              </a:defRPr>
            </a:pPr>
            <a:r>
              <a:rPr sz="3375" b="1">
                <a:solidFill>
                  <a:srgbClr val="FE5000"/>
                </a:solidFill>
                <a:latin typeface="DejaVu Sans"/>
                <a:ea typeface="DejaVu Sans"/>
                <a:cs typeface="DejaVu Sans"/>
              </a:rPr>
              <a:t>CONTROL</a:t>
            </a:r>
          </a:p>
        </p:txBody>
      </p:sp>
      <p:sp>
        <p:nvSpPr>
          <p:cNvPr id="8" name="Rectangle 7">
            <a:extLst>
              <a:ext uri="{FF2B5EF4-FFF2-40B4-BE49-F238E27FC236}">
                <a16:creationId xmlns:a16="http://schemas.microsoft.com/office/drawing/2014/main" id="{58F1444A-137F-46C0-83C5-222F49E1FA21}"/>
              </a:ext>
            </a:extLst>
          </p:cNvPr>
          <p:cNvSpPr>
            <a:spLocks noGrp="1"/>
          </p:cNvSpPr>
          <p:nvPr/>
        </p:nvSpPr>
        <p:spPr>
          <a:xfrm>
            <a:off x="4267200" y="287655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Clear accountability</a:t>
            </a:r>
          </a:p>
        </p:txBody>
      </p:sp>
      <p:sp>
        <p:nvSpPr>
          <p:cNvPr id="9" name="Rectangle 8">
            <a:extLst>
              <a:ext uri="{FF2B5EF4-FFF2-40B4-BE49-F238E27FC236}">
                <a16:creationId xmlns:a16="http://schemas.microsoft.com/office/drawing/2014/main" id="{5920B450-142F-4BC3-8D8D-70BA0520E45C}"/>
              </a:ext>
            </a:extLst>
          </p:cNvPr>
          <p:cNvSpPr>
            <a:spLocks noGrp="1"/>
          </p:cNvSpPr>
          <p:nvPr/>
        </p:nvSpPr>
        <p:spPr>
          <a:xfrm>
            <a:off x="4267200" y="371475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Every distributor has an assigned QC person, supported by cluster and regional supervisors.</a:t>
            </a:r>
          </a:p>
        </p:txBody>
      </p:sp>
      <p:sp>
        <p:nvSpPr>
          <p:cNvPr id="10" name="Rectangle 9">
            <a:extLst>
              <a:ext uri="{FF2B5EF4-FFF2-40B4-BE49-F238E27FC236}">
                <a16:creationId xmlns:a16="http://schemas.microsoft.com/office/drawing/2014/main" id="{BF7A867C-C811-4FAB-8474-99FB4E5A2FB8}"/>
              </a:ext>
            </a:extLst>
          </p:cNvPr>
          <p:cNvSpPr>
            <a:spLocks noGrp="1"/>
          </p:cNvSpPr>
          <p:nvPr/>
        </p:nvSpPr>
        <p:spPr>
          <a:xfrm>
            <a:off x="7924800" y="1809750"/>
            <a:ext cx="3302000" cy="857250"/>
          </a:xfrm>
          <a:prstGeom prst="rect">
            <a:avLst/>
          </a:prstGeom>
          <a:noFill/>
          <a:ln w="0">
            <a:noFill/>
          </a:ln>
        </p:spPr>
        <p:txBody>
          <a:bodyPr lIns="0" tIns="0" rIns="0" bIns="0">
            <a:noAutofit/>
          </a:bodyPr>
          <a:lstStyle/>
          <a:p>
            <a:pPr>
              <a:defRPr sz="3375" b="1">
                <a:solidFill>
                  <a:srgbClr val="FE5000"/>
                </a:solidFill>
                <a:latin typeface="DejaVu Sans"/>
                <a:ea typeface="DejaVu Sans"/>
                <a:cs typeface="DejaVu Sans"/>
              </a:defRPr>
            </a:pPr>
            <a:r>
              <a:rPr sz="3375" b="1">
                <a:solidFill>
                  <a:srgbClr val="FE5000"/>
                </a:solidFill>
                <a:latin typeface="DejaVu Sans"/>
                <a:ea typeface="DejaVu Sans"/>
                <a:cs typeface="DejaVu Sans"/>
              </a:rPr>
              <a:t>CLOSE</a:t>
            </a:r>
          </a:p>
        </p:txBody>
      </p:sp>
      <p:sp>
        <p:nvSpPr>
          <p:cNvPr id="11" name="Rectangle 10">
            <a:extLst>
              <a:ext uri="{FF2B5EF4-FFF2-40B4-BE49-F238E27FC236}">
                <a16:creationId xmlns:a16="http://schemas.microsoft.com/office/drawing/2014/main" id="{929402F2-3E40-4E8A-80D4-90EC2D43F163}"/>
              </a:ext>
            </a:extLst>
          </p:cNvPr>
          <p:cNvSpPr>
            <a:spLocks noGrp="1"/>
          </p:cNvSpPr>
          <p:nvPr/>
        </p:nvSpPr>
        <p:spPr>
          <a:xfrm>
            <a:off x="7924800" y="2876550"/>
            <a:ext cx="3111500" cy="666750"/>
          </a:xfrm>
          <a:prstGeom prst="rect">
            <a:avLst/>
          </a:prstGeom>
          <a:noFill/>
          <a:ln w="0">
            <a:noFill/>
          </a:ln>
        </p:spPr>
        <p:txBody>
          <a:bodyPr lIns="0" tIns="0" rIns="0" bIns="0">
            <a:noAutofit/>
          </a:bodyPr>
          <a:lstStyle/>
          <a:p>
            <a:pPr>
              <a:defRPr sz="2100" b="1">
                <a:solidFill>
                  <a:srgbClr val="303030"/>
                </a:solidFill>
                <a:latin typeface="DejaVu Sans"/>
                <a:ea typeface="DejaVu Sans"/>
                <a:cs typeface="DejaVu Sans"/>
              </a:defRPr>
            </a:pPr>
            <a:r>
              <a:rPr sz="2100" b="1">
                <a:solidFill>
                  <a:srgbClr val="303030"/>
                </a:solidFill>
                <a:latin typeface="DejaVu Sans"/>
                <a:ea typeface="DejaVu Sans"/>
                <a:cs typeface="DejaVu Sans"/>
              </a:rPr>
              <a:t>Verifiable completion</a:t>
            </a:r>
          </a:p>
        </p:txBody>
      </p:sp>
      <p:sp>
        <p:nvSpPr>
          <p:cNvPr id="12" name="Rectangle 11">
            <a:extLst>
              <a:ext uri="{FF2B5EF4-FFF2-40B4-BE49-F238E27FC236}">
                <a16:creationId xmlns:a16="http://schemas.microsoft.com/office/drawing/2014/main" id="{47BE3640-3126-4F54-9909-2B05ADCE0F43}"/>
              </a:ext>
            </a:extLst>
          </p:cNvPr>
          <p:cNvSpPr>
            <a:spLocks noGrp="1"/>
          </p:cNvSpPr>
          <p:nvPr/>
        </p:nvSpPr>
        <p:spPr>
          <a:xfrm>
            <a:off x="7924800" y="3714750"/>
            <a:ext cx="3092450" cy="135255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Every depot closes with reconciled stock and documented custody.</a:t>
            </a:r>
          </a:p>
        </p:txBody>
      </p:sp>
      <p:sp>
        <p:nvSpPr>
          <p:cNvPr id="13" name="Rectangle 12">
            <a:extLst>
              <a:ext uri="{FF2B5EF4-FFF2-40B4-BE49-F238E27FC236}">
                <a16:creationId xmlns:a16="http://schemas.microsoft.com/office/drawing/2014/main" id="{25996527-7034-4438-A8BB-F633EFC5AE7B}"/>
              </a:ext>
            </a:extLst>
          </p:cNvPr>
          <p:cNvSpPr>
            <a:spLocks noGrp="1"/>
          </p:cNvSpPr>
          <p:nvPr/>
        </p:nvSpPr>
        <p:spPr>
          <a:xfrm>
            <a:off x="609600" y="6019800"/>
            <a:ext cx="10477500" cy="333375"/>
          </a:xfrm>
          <a:prstGeom prst="rect">
            <a:avLst/>
          </a:prstGeom>
          <a:noFill/>
          <a:ln w="0">
            <a:noFill/>
          </a:ln>
        </p:spPr>
        <p:txBody>
          <a:bodyPr lIns="0" tIns="0" rIns="0" bIns="0">
            <a:noAutofit/>
          </a:bodyPr>
          <a:lstStyle/>
          <a:p>
            <a:pPr>
              <a:defRPr sz="1125" b="0">
                <a:solidFill>
                  <a:srgbClr val="5E5E5E"/>
                </a:solidFill>
                <a:latin typeface="DejaVu Sans"/>
                <a:ea typeface="DejaVu Sans"/>
                <a:cs typeface="DejaVu Sans"/>
              </a:defRPr>
            </a:pPr>
            <a:r>
              <a:rPr sz="1125" b="0">
                <a:solidFill>
                  <a:srgbClr val="5E5E5E"/>
                </a:solidFill>
                <a:latin typeface="DejaVu Sans"/>
                <a:ea typeface="DejaVu Sans"/>
                <a:cs typeface="DejaVu Sans"/>
              </a:rPr>
              <a:t>Recommended next step: agree the depot register, quality instructions and pilot scope to confirm the final offer.</a:t>
            </a:r>
          </a:p>
        </p:txBody>
      </p:sp>
    </p:spTree>
    <p:extLst>
      <p:ext uri="{BB962C8B-B14F-4D97-AF65-F5344CB8AC3E}">
        <p14:creationId xmlns:p14="http://schemas.microsoft.com/office/powerpoint/2010/main" val="10846037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E5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FB59FA3-70C9-4286-8F34-26D07CA4D404}"/>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47</a:t>
            </a:r>
          </a:p>
        </p:txBody>
      </p:sp>
      <p:sp>
        <p:nvSpPr>
          <p:cNvPr id="2" name="Rectangle 1">
            <a:extLst>
              <a:ext uri="{FF2B5EF4-FFF2-40B4-BE49-F238E27FC236}">
                <a16:creationId xmlns:a16="http://schemas.microsoft.com/office/drawing/2014/main" id="{CF11CFF9-87DC-44FB-8947-F00061F18B2B}"/>
              </a:ext>
            </a:extLst>
          </p:cNvPr>
          <p:cNvSpPr>
            <a:spLocks noGrp="1"/>
          </p:cNvSpPr>
          <p:nvPr/>
        </p:nvSpPr>
        <p:spPr>
          <a:xfrm>
            <a:off x="609600" y="790575"/>
            <a:ext cx="4762500" cy="895350"/>
          </a:xfrm>
          <a:prstGeom prst="rect">
            <a:avLst/>
          </a:prstGeom>
          <a:noFill/>
          <a:ln w="0">
            <a:noFill/>
          </a:ln>
        </p:spPr>
        <p:txBody>
          <a:bodyPr lIns="0" tIns="0" rIns="0" bIns="0">
            <a:noAutofit/>
          </a:bodyPr>
          <a:lstStyle/>
          <a:p>
            <a:pPr>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08</a:t>
            </a:r>
          </a:p>
        </p:txBody>
      </p:sp>
      <p:sp>
        <p:nvSpPr>
          <p:cNvPr id="3" name="Rectangle 2">
            <a:extLst>
              <a:ext uri="{FF2B5EF4-FFF2-40B4-BE49-F238E27FC236}">
                <a16:creationId xmlns:a16="http://schemas.microsoft.com/office/drawing/2014/main" id="{299DC067-5497-4D8E-BFA4-348D21ED0BC3}"/>
              </a:ext>
            </a:extLst>
          </p:cNvPr>
          <p:cNvSpPr>
            <a:spLocks noGrp="1"/>
          </p:cNvSpPr>
          <p:nvPr/>
        </p:nvSpPr>
        <p:spPr>
          <a:xfrm>
            <a:off x="609600" y="2390775"/>
            <a:ext cx="10763250" cy="1200150"/>
          </a:xfrm>
          <a:prstGeom prst="rect">
            <a:avLst/>
          </a:prstGeom>
          <a:noFill/>
          <a:ln w="0">
            <a:noFill/>
          </a:ln>
        </p:spPr>
        <p:txBody>
          <a:bodyPr lIns="0" tIns="0" rIns="0" bIns="0">
            <a:noAutofit/>
          </a:bodyPr>
          <a:lstStyle/>
          <a:p>
            <a:pPr>
              <a:defRPr sz="4950" b="1">
                <a:solidFill>
                  <a:srgbClr val="FFFFFF"/>
                </a:solidFill>
                <a:latin typeface="DejaVu Sans"/>
                <a:ea typeface="DejaVu Sans"/>
                <a:cs typeface="DejaVu Sans"/>
              </a:defRPr>
            </a:pPr>
            <a:r>
              <a:rPr sz="4950" b="1">
                <a:solidFill>
                  <a:srgbClr val="FFFFFF"/>
                </a:solidFill>
                <a:latin typeface="DejaVu Sans"/>
                <a:ea typeface="DejaVu Sans"/>
                <a:cs typeface="DejaVu Sans"/>
              </a:rPr>
              <a:t>Commercial appendix</a:t>
            </a:r>
          </a:p>
        </p:txBody>
      </p:sp>
      <p:sp>
        <p:nvSpPr>
          <p:cNvPr id="4" name="Rectangle 3">
            <a:extLst>
              <a:ext uri="{FF2B5EF4-FFF2-40B4-BE49-F238E27FC236}">
                <a16:creationId xmlns:a16="http://schemas.microsoft.com/office/drawing/2014/main" id="{AF2598F0-4FD5-47BC-A827-D42D6A4B274F}"/>
              </a:ext>
            </a:extLst>
          </p:cNvPr>
          <p:cNvSpPr>
            <a:spLocks noGrp="1"/>
          </p:cNvSpPr>
          <p:nvPr/>
        </p:nvSpPr>
        <p:spPr>
          <a:xfrm>
            <a:off x="609600" y="4267200"/>
            <a:ext cx="9620250" cy="1295400"/>
          </a:xfrm>
          <a:prstGeom prst="rect">
            <a:avLst/>
          </a:prstGeom>
          <a:noFill/>
          <a:ln w="0">
            <a:noFill/>
          </a:ln>
        </p:spPr>
        <p:txBody>
          <a:bodyPr lIns="0" tIns="0" rIns="0" bIns="0">
            <a:noAutofit/>
          </a:bodyPr>
          <a:lstStyle/>
          <a:p>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Revised staffing and deployment costing basis. Final rates follow the approved scope.</a:t>
            </a:r>
          </a:p>
        </p:txBody>
      </p:sp>
    </p:spTree>
    <p:extLst>
      <p:ext uri="{BB962C8B-B14F-4D97-AF65-F5344CB8AC3E}">
        <p14:creationId xmlns:p14="http://schemas.microsoft.com/office/powerpoint/2010/main" val="1745280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AA51DD0-CBD2-4464-87D4-EEC33304311F}"/>
              </a:ext>
            </a:extLst>
          </p:cNvPr>
          <p:cNvSpPr>
            <a:spLocks noGrp="1"/>
          </p:cNvSpPr>
          <p:nvPr/>
        </p:nvSpPr>
        <p:spPr>
          <a:xfrm>
            <a:off x="609600" y="247650"/>
            <a:ext cx="3810000" cy="333375"/>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7D3C5DD3-E743-4104-B833-0C700B76C524}"/>
              </a:ext>
            </a:extLst>
          </p:cNvPr>
          <p:cNvSpPr>
            <a:spLocks noGrp="1"/>
          </p:cNvSpPr>
          <p:nvPr/>
        </p:nvSpPr>
        <p:spPr>
          <a:xfrm>
            <a:off x="609600" y="790575"/>
            <a:ext cx="11049000" cy="1238250"/>
          </a:xfrm>
          <a:prstGeom prst="rect">
            <a:avLst/>
          </a:prstGeom>
          <a:noFill/>
          <a:ln w="0">
            <a:noFill/>
          </a:ln>
        </p:spPr>
        <p:txBody>
          <a:bodyPr>
            <a:noAutofit/>
          </a:bodyPr>
          <a:lstStyle/>
          <a:p>
            <a:pPr>
              <a:defRPr sz="2925" b="1">
                <a:solidFill>
                  <a:srgbClr val="303030"/>
                </a:solidFill>
                <a:latin typeface="DejaVu Sans"/>
                <a:ea typeface="DejaVu Sans"/>
                <a:cs typeface="DejaVu Sans"/>
              </a:defRPr>
            </a:pPr>
            <a:r>
              <a:rPr sz="2925" b="1">
                <a:solidFill>
                  <a:srgbClr val="303030"/>
                </a:solidFill>
                <a:latin typeface="DejaVu Sans"/>
                <a:ea typeface="DejaVu Sans"/>
                <a:cs typeface="DejaVu Sans"/>
              </a:rPr>
              <a:t>People and deployment costing basis</a:t>
            </a:r>
          </a:p>
        </p:txBody>
      </p:sp>
      <p:sp>
        <p:nvSpPr>
          <p:cNvPr id="3" name="Rectangle 2">
            <a:extLst>
              <a:ext uri="{FF2B5EF4-FFF2-40B4-BE49-F238E27FC236}">
                <a16:creationId xmlns:a16="http://schemas.microsoft.com/office/drawing/2014/main" id="{B8F39BD3-FDA9-4D67-808A-2E2DB61E871A}"/>
              </a:ext>
            </a:extLst>
          </p:cNvPr>
          <p:cNvSpPr>
            <a:spLocks noGrp="1"/>
          </p:cNvSpPr>
          <p:nvPr/>
        </p:nvSpPr>
        <p:spPr>
          <a:xfrm>
            <a:off x="609600" y="1533525"/>
            <a:ext cx="10953750" cy="571500"/>
          </a:xfrm>
          <a:prstGeom prst="rect">
            <a:avLst/>
          </a:prstGeom>
          <a:noFill/>
          <a:ln w="0">
            <a:noFill/>
          </a:ln>
        </p:spPr>
        <p:txBody>
          <a:bodyPr>
            <a:noAutofit/>
          </a:bodyPr>
          <a:lstStyle/>
          <a:p>
            <a:pPr>
              <a:defRPr sz="1575" b="0">
                <a:solidFill>
                  <a:srgbClr val="5E5E5E"/>
                </a:solidFill>
                <a:latin typeface="DejaVu Sans"/>
                <a:ea typeface="DejaVu Sans"/>
                <a:cs typeface="DejaVu Sans"/>
              </a:defRPr>
            </a:pPr>
            <a:r>
              <a:rPr sz="1575" b="0">
                <a:solidFill>
                  <a:srgbClr val="5E5E5E"/>
                </a:solidFill>
                <a:latin typeface="DejaVu Sans"/>
                <a:ea typeface="DejaVu Sans"/>
                <a:cs typeface="DejaVu Sans"/>
              </a:rPr>
              <a:t>All rates and days require commercial confirmation before mobilisation.</a:t>
            </a:r>
          </a:p>
        </p:txBody>
      </p:sp>
      <p:sp>
        <p:nvSpPr>
          <p:cNvPr id="4" name="Rectangle 3">
            <a:extLst>
              <a:ext uri="{FF2B5EF4-FFF2-40B4-BE49-F238E27FC236}">
                <a16:creationId xmlns:a16="http://schemas.microsoft.com/office/drawing/2014/main" id="{4E55B35D-8584-4958-9CA1-93F69C6D7C50}"/>
              </a:ext>
            </a:extLst>
          </p:cNvPr>
          <p:cNvSpPr>
            <a:spLocks noGrp="1"/>
          </p:cNvSpPr>
          <p:nvPr/>
        </p:nvSpPr>
        <p:spPr>
          <a:xfrm>
            <a:off x="609600" y="238125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Assigned QC persons</a:t>
            </a:r>
          </a:p>
        </p:txBody>
      </p:sp>
      <p:sp>
        <p:nvSpPr>
          <p:cNvPr id="5" name="Rectangle 4">
            <a:extLst>
              <a:ext uri="{FF2B5EF4-FFF2-40B4-BE49-F238E27FC236}">
                <a16:creationId xmlns:a16="http://schemas.microsoft.com/office/drawing/2014/main" id="{CC82F544-224B-48E9-B130-511EDD897346}"/>
              </a:ext>
            </a:extLst>
          </p:cNvPr>
          <p:cNvSpPr>
            <a:spLocks noGrp="1"/>
          </p:cNvSpPr>
          <p:nvPr/>
        </p:nvSpPr>
        <p:spPr>
          <a:xfrm>
            <a:off x="4000500" y="238125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Distributor count × assigned QC days × approved daily rate.</a:t>
            </a:r>
          </a:p>
        </p:txBody>
      </p:sp>
      <p:sp>
        <p:nvSpPr>
          <p:cNvPr id="6" name="Rectangle 5">
            <a:extLst>
              <a:ext uri="{FF2B5EF4-FFF2-40B4-BE49-F238E27FC236}">
                <a16:creationId xmlns:a16="http://schemas.microsoft.com/office/drawing/2014/main" id="{8017D0C3-0E5D-4DF9-8A07-FCDAD0909992}"/>
              </a:ext>
            </a:extLst>
          </p:cNvPr>
          <p:cNvSpPr>
            <a:spLocks noGrp="1"/>
          </p:cNvSpPr>
          <p:nvPr/>
        </p:nvSpPr>
        <p:spPr>
          <a:xfrm>
            <a:off x="609600" y="328612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Cluster supervisors</a:t>
            </a:r>
          </a:p>
        </p:txBody>
      </p:sp>
      <p:sp>
        <p:nvSpPr>
          <p:cNvPr id="7" name="Rectangle 6">
            <a:extLst>
              <a:ext uri="{FF2B5EF4-FFF2-40B4-BE49-F238E27FC236}">
                <a16:creationId xmlns:a16="http://schemas.microsoft.com/office/drawing/2014/main" id="{86FE7852-1521-44F6-A622-28E0E3569AD5}"/>
              </a:ext>
            </a:extLst>
          </p:cNvPr>
          <p:cNvSpPr>
            <a:spLocks noGrp="1"/>
          </p:cNvSpPr>
          <p:nvPr/>
        </p:nvSpPr>
        <p:spPr>
          <a:xfrm>
            <a:off x="4000500" y="328612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Sum of regional clusters × approved supervisor days and rate.</a:t>
            </a:r>
          </a:p>
        </p:txBody>
      </p:sp>
      <p:sp>
        <p:nvSpPr>
          <p:cNvPr id="8" name="Rectangle 7">
            <a:extLst>
              <a:ext uri="{FF2B5EF4-FFF2-40B4-BE49-F238E27FC236}">
                <a16:creationId xmlns:a16="http://schemas.microsoft.com/office/drawing/2014/main" id="{AD3A9655-E041-4F22-8C0F-82A6C86904C3}"/>
              </a:ext>
            </a:extLst>
          </p:cNvPr>
          <p:cNvSpPr>
            <a:spLocks noGrp="1"/>
          </p:cNvSpPr>
          <p:nvPr/>
        </p:nvSpPr>
        <p:spPr>
          <a:xfrm>
            <a:off x="609600" y="419100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Regional supervisors</a:t>
            </a:r>
          </a:p>
        </p:txBody>
      </p:sp>
      <p:sp>
        <p:nvSpPr>
          <p:cNvPr id="9" name="Rectangle 8">
            <a:extLst>
              <a:ext uri="{FF2B5EF4-FFF2-40B4-BE49-F238E27FC236}">
                <a16:creationId xmlns:a16="http://schemas.microsoft.com/office/drawing/2014/main" id="{ADAEE6DE-EC4A-4C38-85C7-ED54E920DB5B}"/>
              </a:ext>
            </a:extLst>
          </p:cNvPr>
          <p:cNvSpPr>
            <a:spLocks noGrp="1"/>
          </p:cNvSpPr>
          <p:nvPr/>
        </p:nvSpPr>
        <p:spPr>
          <a:xfrm>
            <a:off x="4000500" y="419100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16 regional roles × approved regional deployment days and rate.</a:t>
            </a:r>
          </a:p>
        </p:txBody>
      </p:sp>
      <p:sp>
        <p:nvSpPr>
          <p:cNvPr id="10" name="Rectangle 9">
            <a:extLst>
              <a:ext uri="{FF2B5EF4-FFF2-40B4-BE49-F238E27FC236}">
                <a16:creationId xmlns:a16="http://schemas.microsoft.com/office/drawing/2014/main" id="{DC88D6F1-AD11-401E-AEBE-6FFAD74810AE}"/>
              </a:ext>
            </a:extLst>
          </p:cNvPr>
          <p:cNvSpPr>
            <a:spLocks noGrp="1"/>
          </p:cNvSpPr>
          <p:nvPr/>
        </p:nvSpPr>
        <p:spPr>
          <a:xfrm>
            <a:off x="609600" y="509587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National and support team</a:t>
            </a:r>
          </a:p>
        </p:txBody>
      </p:sp>
      <p:sp>
        <p:nvSpPr>
          <p:cNvPr id="11" name="Rectangle 10">
            <a:extLst>
              <a:ext uri="{FF2B5EF4-FFF2-40B4-BE49-F238E27FC236}">
                <a16:creationId xmlns:a16="http://schemas.microsoft.com/office/drawing/2014/main" id="{A52EF47A-A63E-4242-AEDB-44CC9212E5D7}"/>
              </a:ext>
            </a:extLst>
          </p:cNvPr>
          <p:cNvSpPr>
            <a:spLocks noGrp="1"/>
          </p:cNvSpPr>
          <p:nvPr/>
        </p:nvSpPr>
        <p:spPr>
          <a:xfrm>
            <a:off x="4000500" y="509587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Operations, Quality, Data, stock handlers and counting support priced by approved role days.</a:t>
            </a:r>
          </a:p>
        </p:txBody>
      </p:sp>
    </p:spTree>
    <p:extLst>
      <p:ext uri="{BB962C8B-B14F-4D97-AF65-F5344CB8AC3E}">
        <p14:creationId xmlns:p14="http://schemas.microsoft.com/office/powerpoint/2010/main" val="19766535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A2A452E-9BA3-44B3-BA3F-6ACEF09DF483}"/>
              </a:ext>
            </a:extLst>
          </p:cNvPr>
          <p:cNvSpPr>
            <a:spLocks noGrp="1"/>
          </p:cNvSpPr>
          <p:nvPr/>
        </p:nvSpPr>
        <p:spPr>
          <a:xfrm>
            <a:off x="609600" y="247650"/>
            <a:ext cx="3810000" cy="333375"/>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935F78C9-A31F-4D69-999F-2C05C2212031}"/>
              </a:ext>
            </a:extLst>
          </p:cNvPr>
          <p:cNvSpPr>
            <a:spLocks noGrp="1"/>
          </p:cNvSpPr>
          <p:nvPr/>
        </p:nvSpPr>
        <p:spPr>
          <a:xfrm>
            <a:off x="609600" y="790575"/>
            <a:ext cx="11049000" cy="1238250"/>
          </a:xfrm>
          <a:prstGeom prst="rect">
            <a:avLst/>
          </a:prstGeom>
          <a:noFill/>
          <a:ln w="0">
            <a:noFill/>
          </a:ln>
        </p:spPr>
        <p:txBody>
          <a:bodyPr>
            <a:noAutofit/>
          </a:bodyPr>
          <a:lstStyle/>
          <a:p>
            <a:pPr>
              <a:defRPr sz="2925" b="1">
                <a:solidFill>
                  <a:srgbClr val="303030"/>
                </a:solidFill>
                <a:latin typeface="DejaVu Sans"/>
                <a:ea typeface="DejaVu Sans"/>
                <a:cs typeface="DejaVu Sans"/>
              </a:defRPr>
            </a:pPr>
            <a:r>
              <a:rPr sz="2925" b="1">
                <a:solidFill>
                  <a:srgbClr val="303030"/>
                </a:solidFill>
                <a:latin typeface="DejaVu Sans"/>
                <a:ea typeface="DejaVu Sans"/>
                <a:cs typeface="DejaVu Sans"/>
              </a:rPr>
              <a:t>Support costs and commercial controls</a:t>
            </a:r>
          </a:p>
        </p:txBody>
      </p:sp>
      <p:sp>
        <p:nvSpPr>
          <p:cNvPr id="3" name="Rectangle 2">
            <a:extLst>
              <a:ext uri="{FF2B5EF4-FFF2-40B4-BE49-F238E27FC236}">
                <a16:creationId xmlns:a16="http://schemas.microsoft.com/office/drawing/2014/main" id="{30764AC1-8497-49BE-B753-F242B598C0EE}"/>
              </a:ext>
            </a:extLst>
          </p:cNvPr>
          <p:cNvSpPr>
            <a:spLocks noGrp="1"/>
          </p:cNvSpPr>
          <p:nvPr/>
        </p:nvSpPr>
        <p:spPr>
          <a:xfrm>
            <a:off x="609600" y="209550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Deployment support</a:t>
            </a:r>
          </a:p>
        </p:txBody>
      </p:sp>
      <p:sp>
        <p:nvSpPr>
          <p:cNvPr id="4" name="Rectangle 3">
            <a:extLst>
              <a:ext uri="{FF2B5EF4-FFF2-40B4-BE49-F238E27FC236}">
                <a16:creationId xmlns:a16="http://schemas.microsoft.com/office/drawing/2014/main" id="{5F5C418C-B2D8-4FFD-BCEC-A001D392CF27}"/>
              </a:ext>
            </a:extLst>
          </p:cNvPr>
          <p:cNvSpPr>
            <a:spLocks noGrp="1"/>
          </p:cNvSpPr>
          <p:nvPr/>
        </p:nvSpPr>
        <p:spPr>
          <a:xfrm>
            <a:off x="4000500" y="209550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Transport and accommodation follow regional routes and approved actual requirements.</a:t>
            </a:r>
          </a:p>
        </p:txBody>
      </p:sp>
      <p:sp>
        <p:nvSpPr>
          <p:cNvPr id="5" name="Rectangle 4">
            <a:extLst>
              <a:ext uri="{FF2B5EF4-FFF2-40B4-BE49-F238E27FC236}">
                <a16:creationId xmlns:a16="http://schemas.microsoft.com/office/drawing/2014/main" id="{72D628BF-17EA-4DA0-9E57-DC83E2E0DC00}"/>
              </a:ext>
            </a:extLst>
          </p:cNvPr>
          <p:cNvSpPr>
            <a:spLocks noGrp="1"/>
          </p:cNvSpPr>
          <p:nvPr/>
        </p:nvSpPr>
        <p:spPr>
          <a:xfrm>
            <a:off x="609600" y="300037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Field readiness</a:t>
            </a:r>
          </a:p>
        </p:txBody>
      </p:sp>
      <p:sp>
        <p:nvSpPr>
          <p:cNvPr id="6" name="Rectangle 5">
            <a:extLst>
              <a:ext uri="{FF2B5EF4-FFF2-40B4-BE49-F238E27FC236}">
                <a16:creationId xmlns:a16="http://schemas.microsoft.com/office/drawing/2014/main" id="{42866A37-428A-480C-A036-96742342249A}"/>
              </a:ext>
            </a:extLst>
          </p:cNvPr>
          <p:cNvSpPr>
            <a:spLocks noGrp="1"/>
          </p:cNvSpPr>
          <p:nvPr/>
        </p:nvSpPr>
        <p:spPr>
          <a:xfrm>
            <a:off x="4000500" y="300037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Recce, trainer sessions, T-shirts, photo ID, PPE and equipment follow the approved roster.</a:t>
            </a:r>
          </a:p>
        </p:txBody>
      </p:sp>
      <p:sp>
        <p:nvSpPr>
          <p:cNvPr id="7" name="Rectangle 6">
            <a:extLst>
              <a:ext uri="{FF2B5EF4-FFF2-40B4-BE49-F238E27FC236}">
                <a16:creationId xmlns:a16="http://schemas.microsoft.com/office/drawing/2014/main" id="{A8CE5D2E-0B2D-4ACD-B635-0F484523B8C2}"/>
              </a:ext>
            </a:extLst>
          </p:cNvPr>
          <p:cNvSpPr>
            <a:spLocks noGrp="1"/>
          </p:cNvSpPr>
          <p:nvPr/>
        </p:nvSpPr>
        <p:spPr>
          <a:xfrm>
            <a:off x="609600" y="3905250"/>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Variable allowances</a:t>
            </a:r>
          </a:p>
        </p:txBody>
      </p:sp>
      <p:sp>
        <p:nvSpPr>
          <p:cNvPr id="8" name="Rectangle 7">
            <a:extLst>
              <a:ext uri="{FF2B5EF4-FFF2-40B4-BE49-F238E27FC236}">
                <a16:creationId xmlns:a16="http://schemas.microsoft.com/office/drawing/2014/main" id="{71919888-FB6B-4C88-929D-CE4F20A7662D}"/>
              </a:ext>
            </a:extLst>
          </p:cNvPr>
          <p:cNvSpPr>
            <a:spLocks noGrp="1"/>
          </p:cNvSpPr>
          <p:nvPr/>
        </p:nvSpPr>
        <p:spPr>
          <a:xfrm>
            <a:off x="4000500" y="3905250"/>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Meals, repacking materials and contingency follow approved quantities and written authorisation.</a:t>
            </a:r>
          </a:p>
        </p:txBody>
      </p:sp>
      <p:sp>
        <p:nvSpPr>
          <p:cNvPr id="9" name="Rectangle 8">
            <a:extLst>
              <a:ext uri="{FF2B5EF4-FFF2-40B4-BE49-F238E27FC236}">
                <a16:creationId xmlns:a16="http://schemas.microsoft.com/office/drawing/2014/main" id="{0B4EEEDE-4845-4679-BFF0-AB391F2140FA}"/>
              </a:ext>
            </a:extLst>
          </p:cNvPr>
          <p:cNvSpPr>
            <a:spLocks noGrp="1"/>
          </p:cNvSpPr>
          <p:nvPr/>
        </p:nvSpPr>
        <p:spPr>
          <a:xfrm>
            <a:off x="609600" y="4810125"/>
            <a:ext cx="3095625" cy="523875"/>
          </a:xfrm>
          <a:prstGeom prst="rect">
            <a:avLst/>
          </a:prstGeom>
          <a:noFill/>
          <a:ln w="0">
            <a:noFill/>
          </a:ln>
        </p:spPr>
        <p:txBody>
          <a:bodyPr>
            <a:noAutofit/>
          </a:bodyPr>
          <a:lstStyle/>
          <a:p>
            <a:pPr>
              <a:defRPr sz="1875" b="1">
                <a:solidFill>
                  <a:srgbClr val="FE5000"/>
                </a:solidFill>
                <a:latin typeface="DejaVu Sans"/>
                <a:ea typeface="DejaVu Sans"/>
                <a:cs typeface="DejaVu Sans"/>
              </a:defRPr>
            </a:pPr>
            <a:r>
              <a:rPr sz="1875" b="1">
                <a:solidFill>
                  <a:srgbClr val="FE5000"/>
                </a:solidFill>
                <a:latin typeface="DejaVu Sans"/>
                <a:ea typeface="DejaVu Sans"/>
                <a:cs typeface="DejaVu Sans"/>
              </a:rPr>
              <a:t>Final commercial offer</a:t>
            </a:r>
          </a:p>
        </p:txBody>
      </p:sp>
      <p:sp>
        <p:nvSpPr>
          <p:cNvPr id="10" name="Rectangle 9">
            <a:extLst>
              <a:ext uri="{FF2B5EF4-FFF2-40B4-BE49-F238E27FC236}">
                <a16:creationId xmlns:a16="http://schemas.microsoft.com/office/drawing/2014/main" id="{32D39E58-910F-4731-8395-35103281F407}"/>
              </a:ext>
            </a:extLst>
          </p:cNvPr>
          <p:cNvSpPr>
            <a:spLocks noGrp="1"/>
          </p:cNvSpPr>
          <p:nvPr/>
        </p:nvSpPr>
        <p:spPr>
          <a:xfrm>
            <a:off x="4000500" y="4810125"/>
            <a:ext cx="7477125" cy="742950"/>
          </a:xfrm>
          <a:prstGeom prst="rect">
            <a:avLst/>
          </a:prstGeom>
          <a:noFill/>
          <a:ln w="0">
            <a:noFill/>
          </a:ln>
        </p:spPr>
        <p:txBody>
          <a:bodyPr>
            <a:noAutofit/>
          </a:bodyPr>
          <a:lstStyle/>
          <a:p>
            <a:pPr>
              <a:defRPr sz="1725" b="0">
                <a:solidFill>
                  <a:srgbClr val="303030"/>
                </a:solidFill>
                <a:latin typeface="DejaVu Sans"/>
                <a:ea typeface="DejaVu Sans"/>
                <a:cs typeface="DejaVu Sans"/>
              </a:defRPr>
            </a:pPr>
            <a:r>
              <a:rPr sz="1725" b="0">
                <a:solidFill>
                  <a:srgbClr val="303030"/>
                </a:solidFill>
                <a:latin typeface="DejaVu Sans"/>
                <a:ea typeface="DejaVu Sans"/>
                <a:cs typeface="DejaVu Sans"/>
              </a:rPr>
              <a:t>Present direct costs, management fee, contingency and tax separately. Quote platform costs separately.</a:t>
            </a:r>
          </a:p>
        </p:txBody>
      </p:sp>
    </p:spTree>
    <p:extLst>
      <p:ext uri="{BB962C8B-B14F-4D97-AF65-F5344CB8AC3E}">
        <p14:creationId xmlns:p14="http://schemas.microsoft.com/office/powerpoint/2010/main" val="2586704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F4495A1-0DC9-4253-9FD7-8B9803FA355D}"/>
              </a:ext>
            </a:extLst>
          </p:cNvPr>
          <p:cNvSpPr>
            <a:spLocks noGrp="1"/>
          </p:cNvSpPr>
          <p:nvPr/>
        </p:nvSpPr>
        <p:spPr>
          <a:xfrm>
            <a:off x="609600" y="628650"/>
            <a:ext cx="10934700" cy="990600"/>
          </a:xfrm>
          <a:prstGeom prst="rect">
            <a:avLst/>
          </a:prstGeom>
          <a:noFill/>
          <a:ln w="0">
            <a:noFill/>
          </a:ln>
        </p:spPr>
        <p:txBody>
          <a:bodyPr lIns="0" tIns="0" rIns="0" bIns="0">
            <a:noAutofit/>
          </a:bodyPr>
          <a:lstStyle/>
          <a:p>
            <a:pPr>
              <a:defRPr sz="3225" b="1">
                <a:solidFill>
                  <a:srgbClr val="303030"/>
                </a:solidFill>
                <a:latin typeface="DejaVu Sans"/>
                <a:ea typeface="DejaVu Sans"/>
                <a:cs typeface="DejaVu Sans"/>
              </a:defRPr>
            </a:pPr>
            <a:r>
              <a:rPr sz="3225" b="1">
                <a:solidFill>
                  <a:srgbClr val="303030"/>
                </a:solidFill>
                <a:latin typeface="DejaVu Sans"/>
                <a:ea typeface="DejaVu Sans"/>
                <a:cs typeface="DejaVu Sans"/>
              </a:rPr>
              <a:t>Assumptions and commercial controls</a:t>
            </a:r>
          </a:p>
        </p:txBody>
      </p:sp>
      <p:sp>
        <p:nvSpPr>
          <p:cNvPr id="2" name="Rectangle 1">
            <a:extLst>
              <a:ext uri="{FF2B5EF4-FFF2-40B4-BE49-F238E27FC236}">
                <a16:creationId xmlns:a16="http://schemas.microsoft.com/office/drawing/2014/main" id="{9E8EE346-AD41-4316-9EC2-7D4E47697D94}"/>
              </a:ext>
            </a:extLst>
          </p:cNvPr>
          <p:cNvSpPr>
            <a:spLocks noGrp="1"/>
          </p:cNvSpPr>
          <p:nvPr/>
        </p:nvSpPr>
        <p:spPr>
          <a:xfrm>
            <a:off x="628650" y="285750"/>
            <a:ext cx="9525000" cy="228600"/>
          </a:xfrm>
          <a:prstGeom prst="rect">
            <a:avLst/>
          </a:prstGeom>
          <a:noFill/>
          <a:ln w="0">
            <a:noFill/>
          </a:ln>
        </p:spPr>
        <p:txBody>
          <a:bodyPr lIns="0" tIns="0" rIns="0" bIns="0">
            <a:noAutofit/>
          </a:bodyPr>
          <a:lstStyle/>
          <a:p>
            <a:pPr>
              <a:defRPr sz="1050" b="1">
                <a:solidFill>
                  <a:srgbClr val="FE5000"/>
                </a:solidFill>
                <a:latin typeface="DejaVu Sans"/>
                <a:ea typeface="DejaVu Sans"/>
                <a:cs typeface="DejaVu Sans"/>
              </a:defRPr>
            </a:pPr>
            <a:r>
              <a:rPr sz="1050" b="1">
                <a:solidFill>
                  <a:srgbClr val="FE5000"/>
                </a:solidFill>
                <a:latin typeface="DejaVu Sans"/>
                <a:ea typeface="DejaVu Sans"/>
                <a:cs typeface="DejaVu Sans"/>
              </a:rPr>
              <a:t>COST APPENDIX</a:t>
            </a:r>
          </a:p>
        </p:txBody>
      </p:sp>
      <p:sp>
        <p:nvSpPr>
          <p:cNvPr id="3" name="Rectangle 2">
            <a:extLst>
              <a:ext uri="{FF2B5EF4-FFF2-40B4-BE49-F238E27FC236}">
                <a16:creationId xmlns:a16="http://schemas.microsoft.com/office/drawing/2014/main" id="{44F6CE35-85FF-4FA0-B8F9-91BF7E2B3C31}"/>
              </a:ext>
            </a:extLst>
          </p:cNvPr>
          <p:cNvSpPr>
            <a:spLocks noGrp="1"/>
          </p:cNvSpPr>
          <p:nvPr/>
        </p:nvSpPr>
        <p:spPr>
          <a:xfrm>
            <a:off x="11068050" y="6429375"/>
            <a:ext cx="495300" cy="228600"/>
          </a:xfrm>
          <a:prstGeom prst="rect">
            <a:avLst/>
          </a:prstGeom>
          <a:noFill/>
          <a:ln w="0">
            <a:noFill/>
          </a:ln>
        </p:spPr>
        <p:txBody>
          <a:bodyPr lIns="0" tIns="0" rIns="0" bIns="0">
            <a:noAutofit/>
          </a:bodyPr>
          <a:lstStyle/>
          <a:p>
            <a:pPr>
              <a:defRPr sz="1050" b="0">
                <a:solidFill>
                  <a:srgbClr val="5E5E5E"/>
                </a:solidFill>
                <a:latin typeface="DejaVu Sans"/>
                <a:ea typeface="DejaVu Sans"/>
                <a:cs typeface="DejaVu Sans"/>
              </a:defRPr>
            </a:pPr>
            <a:r>
              <a:rPr sz="1050" b="0">
                <a:solidFill>
                  <a:srgbClr val="5E5E5E"/>
                </a:solidFill>
                <a:latin typeface="DejaVu Sans"/>
                <a:ea typeface="DejaVu Sans"/>
                <a:cs typeface="DejaVu Sans"/>
              </a:rPr>
              <a:t>50</a:t>
            </a:r>
          </a:p>
        </p:txBody>
      </p:sp>
      <p:sp>
        <p:nvSpPr>
          <p:cNvPr id="4" name="Rectangle 3">
            <a:extLst>
              <a:ext uri="{FF2B5EF4-FFF2-40B4-BE49-F238E27FC236}">
                <a16:creationId xmlns:a16="http://schemas.microsoft.com/office/drawing/2014/main" id="{9E85428E-48F5-4DBC-9C1B-2E3466CFCB68}"/>
              </a:ext>
            </a:extLst>
          </p:cNvPr>
          <p:cNvSpPr>
            <a:spLocks noGrp="1"/>
          </p:cNvSpPr>
          <p:nvPr/>
        </p:nvSpPr>
        <p:spPr>
          <a:xfrm>
            <a:off x="609600" y="1771650"/>
            <a:ext cx="108394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Deployment basis</a:t>
            </a:r>
          </a:p>
        </p:txBody>
      </p:sp>
      <p:sp>
        <p:nvSpPr>
          <p:cNvPr id="5" name="Rectangle 4">
            <a:extLst>
              <a:ext uri="{FF2B5EF4-FFF2-40B4-BE49-F238E27FC236}">
                <a16:creationId xmlns:a16="http://schemas.microsoft.com/office/drawing/2014/main" id="{327C93C6-B9AF-44AA-8D05-E6873F8A0845}"/>
              </a:ext>
            </a:extLst>
          </p:cNvPr>
          <p:cNvSpPr>
            <a:spLocks noGrp="1"/>
          </p:cNvSpPr>
          <p:nvPr/>
        </p:nvSpPr>
        <p:spPr>
          <a:xfrm>
            <a:off x="609600" y="2143125"/>
            <a:ext cx="108394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50+ distributors. Dedicated QC coverage, clusters of up to five, and one supervisor per region. Confirm days and allocations.</a:t>
            </a:r>
          </a:p>
        </p:txBody>
      </p:sp>
      <p:sp>
        <p:nvSpPr>
          <p:cNvPr id="6" name="Rectangle 5">
            <a:extLst>
              <a:ext uri="{FF2B5EF4-FFF2-40B4-BE49-F238E27FC236}">
                <a16:creationId xmlns:a16="http://schemas.microsoft.com/office/drawing/2014/main" id="{9C6C76B9-587E-4E4E-9B8F-760A51490BD3}"/>
              </a:ext>
            </a:extLst>
          </p:cNvPr>
          <p:cNvSpPr>
            <a:spLocks noGrp="1"/>
          </p:cNvSpPr>
          <p:nvPr/>
        </p:nvSpPr>
        <p:spPr>
          <a:xfrm>
            <a:off x="609600" y="2781300"/>
            <a:ext cx="108394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Conditional allowances</a:t>
            </a:r>
          </a:p>
        </p:txBody>
      </p:sp>
      <p:sp>
        <p:nvSpPr>
          <p:cNvPr id="7" name="Rectangle 6">
            <a:extLst>
              <a:ext uri="{FF2B5EF4-FFF2-40B4-BE49-F238E27FC236}">
                <a16:creationId xmlns:a16="http://schemas.microsoft.com/office/drawing/2014/main" id="{C6303046-C969-43CD-81E0-24B4609E3296}"/>
              </a:ext>
            </a:extLst>
          </p:cNvPr>
          <p:cNvSpPr>
            <a:spLocks noGrp="1"/>
          </p:cNvSpPr>
          <p:nvPr/>
        </p:nvSpPr>
        <p:spPr>
          <a:xfrm>
            <a:off x="609600" y="3152775"/>
            <a:ext cx="108394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Pay accommodation and materials against approved actuals. Release contingency only in writing.</a:t>
            </a:r>
          </a:p>
        </p:txBody>
      </p:sp>
      <p:sp>
        <p:nvSpPr>
          <p:cNvPr id="8" name="Rectangle 7">
            <a:extLst>
              <a:ext uri="{FF2B5EF4-FFF2-40B4-BE49-F238E27FC236}">
                <a16:creationId xmlns:a16="http://schemas.microsoft.com/office/drawing/2014/main" id="{EC13F338-0FA8-4427-9F8D-2D97B92938AC}"/>
              </a:ext>
            </a:extLst>
          </p:cNvPr>
          <p:cNvSpPr>
            <a:spLocks noGrp="1"/>
          </p:cNvSpPr>
          <p:nvPr/>
        </p:nvSpPr>
        <p:spPr>
          <a:xfrm>
            <a:off x="609600" y="3790950"/>
            <a:ext cx="108394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Scope boundaries</a:t>
            </a:r>
          </a:p>
        </p:txBody>
      </p:sp>
      <p:sp>
        <p:nvSpPr>
          <p:cNvPr id="9" name="Rectangle 8">
            <a:extLst>
              <a:ext uri="{FF2B5EF4-FFF2-40B4-BE49-F238E27FC236}">
                <a16:creationId xmlns:a16="http://schemas.microsoft.com/office/drawing/2014/main" id="{CEB26A90-13A3-4E46-AB29-6B1B41114758}"/>
              </a:ext>
            </a:extLst>
          </p:cNvPr>
          <p:cNvSpPr>
            <a:spLocks noGrp="1"/>
          </p:cNvSpPr>
          <p:nvPr/>
        </p:nvSpPr>
        <p:spPr>
          <a:xfrm>
            <a:off x="609600" y="4162425"/>
            <a:ext cx="108394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GBfoods provides stock access and quality authority. Disposal, testing, haulage and primary reprocessing are excluded.</a:t>
            </a:r>
          </a:p>
        </p:txBody>
      </p:sp>
      <p:sp>
        <p:nvSpPr>
          <p:cNvPr id="10" name="Rectangle 9">
            <a:extLst>
              <a:ext uri="{FF2B5EF4-FFF2-40B4-BE49-F238E27FC236}">
                <a16:creationId xmlns:a16="http://schemas.microsoft.com/office/drawing/2014/main" id="{1C75FDB1-0A76-4781-98DC-BD1C03991E0F}"/>
              </a:ext>
            </a:extLst>
          </p:cNvPr>
          <p:cNvSpPr>
            <a:spLocks noGrp="1"/>
          </p:cNvSpPr>
          <p:nvPr/>
        </p:nvSpPr>
        <p:spPr>
          <a:xfrm>
            <a:off x="609600" y="4800600"/>
            <a:ext cx="10839450" cy="342900"/>
          </a:xfrm>
          <a:prstGeom prst="rect">
            <a:avLst/>
          </a:prstGeom>
          <a:noFill/>
          <a:ln w="0">
            <a:noFill/>
          </a:ln>
        </p:spPr>
        <p:txBody>
          <a:bodyPr lIns="0" tIns="0" rIns="0" bIns="0">
            <a:noAutofit/>
          </a:bodyPr>
          <a:lstStyle/>
          <a:p>
            <a:pPr>
              <a:defRPr sz="1950" b="1">
                <a:solidFill>
                  <a:srgbClr val="303030"/>
                </a:solidFill>
                <a:latin typeface="DejaVu Sans"/>
                <a:ea typeface="DejaVu Sans"/>
                <a:cs typeface="DejaVu Sans"/>
              </a:defRPr>
            </a:pPr>
            <a:r>
              <a:rPr sz="1950" b="1">
                <a:solidFill>
                  <a:srgbClr val="303030"/>
                </a:solidFill>
                <a:latin typeface="DejaVu Sans"/>
                <a:ea typeface="DejaVu Sans"/>
                <a:cs typeface="DejaVu Sans"/>
              </a:rPr>
              <a:t>Proposed payment</a:t>
            </a:r>
          </a:p>
        </p:txBody>
      </p:sp>
      <p:sp>
        <p:nvSpPr>
          <p:cNvPr id="11" name="Rectangle 10">
            <a:extLst>
              <a:ext uri="{FF2B5EF4-FFF2-40B4-BE49-F238E27FC236}">
                <a16:creationId xmlns:a16="http://schemas.microsoft.com/office/drawing/2014/main" id="{DD0B3786-9870-4B09-806B-446BA1C431AA}"/>
              </a:ext>
            </a:extLst>
          </p:cNvPr>
          <p:cNvSpPr>
            <a:spLocks noGrp="1"/>
          </p:cNvSpPr>
          <p:nvPr/>
        </p:nvSpPr>
        <p:spPr>
          <a:xfrm>
            <a:off x="609600" y="5172075"/>
            <a:ext cx="10839450" cy="533400"/>
          </a:xfrm>
          <a:prstGeom prst="rect">
            <a:avLst/>
          </a:prstGeom>
          <a:noFill/>
          <a:ln w="0">
            <a:noFill/>
          </a:ln>
        </p:spPr>
        <p:txBody>
          <a:bodyPr lIns="0" tIns="0" rIns="0" bIns="0">
            <a:noAutofit/>
          </a:bodyPr>
          <a:lstStyle/>
          <a:p>
            <a:pPr>
              <a:defRPr sz="1725" b="0">
                <a:solidFill>
                  <a:srgbClr val="5E5E5E"/>
                </a:solidFill>
                <a:latin typeface="DejaVu Sans"/>
                <a:ea typeface="DejaVu Sans"/>
                <a:cs typeface="DejaVu Sans"/>
              </a:defRPr>
            </a:pPr>
            <a:r>
              <a:rPr sz="1725" b="0">
                <a:solidFill>
                  <a:srgbClr val="5E5E5E"/>
                </a:solidFill>
                <a:latin typeface="DejaVu Sans"/>
                <a:ea typeface="DejaVu Sans"/>
                <a:cs typeface="DejaVu Sans"/>
              </a:rPr>
              <a:t>40% on mobilisation, 40% at half the approved workload, reconciled balance at acceptance.</a:t>
            </a:r>
          </a:p>
        </p:txBody>
      </p:sp>
    </p:spTree>
    <p:extLst>
      <p:ext uri="{BB962C8B-B14F-4D97-AF65-F5344CB8AC3E}">
        <p14:creationId xmlns:p14="http://schemas.microsoft.com/office/powerpoint/2010/main" val="1587297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E50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CCCF216-52B8-4FC8-A7AF-E7683824D9FE}"/>
              </a:ext>
            </a:extLst>
          </p:cNvPr>
          <p:cNvSpPr>
            <a:spLocks noGrp="1"/>
          </p:cNvSpPr>
          <p:nvPr/>
        </p:nvSpPr>
        <p:spPr>
          <a:xfrm>
            <a:off x="609600" y="476250"/>
            <a:ext cx="10477500" cy="381000"/>
          </a:xfrm>
          <a:prstGeom prst="rect">
            <a:avLst/>
          </a:prstGeom>
          <a:noFill/>
          <a:ln w="0">
            <a:noFill/>
          </a:ln>
        </p:spPr>
        <p:txBody>
          <a:bodyPr>
            <a:noAutofit/>
          </a:bodyPr>
          <a:lstStyle/>
          <a:p>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REGIONAL APPENDIX</a:t>
            </a:r>
          </a:p>
        </p:txBody>
      </p:sp>
      <p:sp>
        <p:nvSpPr>
          <p:cNvPr id="2" name="Rectangle 1">
            <a:extLst>
              <a:ext uri="{FF2B5EF4-FFF2-40B4-BE49-F238E27FC236}">
                <a16:creationId xmlns:a16="http://schemas.microsoft.com/office/drawing/2014/main" id="{4296B6EA-EA80-4BA8-AC34-27D215C67719}"/>
              </a:ext>
            </a:extLst>
          </p:cNvPr>
          <p:cNvSpPr>
            <a:spLocks noGrp="1"/>
          </p:cNvSpPr>
          <p:nvPr/>
        </p:nvSpPr>
        <p:spPr>
          <a:xfrm>
            <a:off x="609600" y="1428750"/>
            <a:ext cx="10668000" cy="1143000"/>
          </a:xfrm>
          <a:prstGeom prst="rect">
            <a:avLst/>
          </a:prstGeom>
          <a:noFill/>
          <a:ln w="0">
            <a:noFill/>
          </a:ln>
        </p:spPr>
        <p:txBody>
          <a:bodyPr>
            <a:noAutofit/>
          </a:bodyPr>
          <a:lstStyle/>
          <a:p>
            <a:pPr>
              <a:defRPr sz="3900" b="1">
                <a:solidFill>
                  <a:srgbClr val="FFFFFF"/>
                </a:solidFill>
                <a:latin typeface="DejaVu Sans"/>
                <a:ea typeface="DejaVu Sans"/>
                <a:cs typeface="DejaVu Sans"/>
              </a:defRPr>
            </a:pPr>
            <a:r>
              <a:rPr sz="3900" b="1">
                <a:solidFill>
                  <a:srgbClr val="FFFFFF"/>
                </a:solidFill>
                <a:latin typeface="DejaVu Sans"/>
                <a:ea typeface="DejaVu Sans"/>
                <a:cs typeface="DejaVu Sans"/>
              </a:rPr>
              <a:t>Regional organisation charts</a:t>
            </a:r>
          </a:p>
        </p:txBody>
      </p:sp>
      <p:sp>
        <p:nvSpPr>
          <p:cNvPr id="3" name="Rectangle 2">
            <a:extLst>
              <a:ext uri="{FF2B5EF4-FFF2-40B4-BE49-F238E27FC236}">
                <a16:creationId xmlns:a16="http://schemas.microsoft.com/office/drawing/2014/main" id="{0D6DCE78-6558-4969-8159-588231B53FB9}"/>
              </a:ext>
            </a:extLst>
          </p:cNvPr>
          <p:cNvSpPr>
            <a:spLocks noGrp="1"/>
          </p:cNvSpPr>
          <p:nvPr/>
        </p:nvSpPr>
        <p:spPr>
          <a:xfrm>
            <a:off x="609600" y="3143250"/>
            <a:ext cx="10572750" cy="2000250"/>
          </a:xfrm>
          <a:prstGeom prst="rect">
            <a:avLst/>
          </a:prstGeom>
          <a:noFill/>
          <a:ln w="0">
            <a:noFill/>
          </a:ln>
        </p:spPr>
        <p:txBody>
          <a:bodyPr>
            <a:noAutofit/>
          </a:bodyPr>
          <a:lstStyle/>
          <a:p>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One regional supervisor</a:t>
            </a:r>
          </a:p>
          <a:p>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Clusters of up to five distributors</a:t>
            </a:r>
          </a:p>
          <a:p>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One QC person per distributor</a:t>
            </a:r>
          </a:p>
        </p:txBody>
      </p:sp>
    </p:spTree>
    <p:extLst>
      <p:ext uri="{BB962C8B-B14F-4D97-AF65-F5344CB8AC3E}">
        <p14:creationId xmlns:p14="http://schemas.microsoft.com/office/powerpoint/2010/main" val="17274998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CE8D778-4469-4994-B92C-AAB90A35A1D3}"/>
              </a:ext>
            </a:extLst>
          </p:cNvPr>
          <p:cNvSpPr>
            <a:spLocks noGrp="1"/>
          </p:cNvSpPr>
          <p:nvPr/>
        </p:nvSpPr>
        <p:spPr>
          <a:xfrm>
            <a:off x="609600" y="247650"/>
            <a:ext cx="3810000" cy="333375"/>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262A5900-436A-450C-AD6D-DE141FDC63D4}"/>
              </a:ext>
            </a:extLst>
          </p:cNvPr>
          <p:cNvSpPr>
            <a:spLocks noGrp="1"/>
          </p:cNvSpPr>
          <p:nvPr/>
        </p:nvSpPr>
        <p:spPr>
          <a:xfrm>
            <a:off x="609600" y="790575"/>
            <a:ext cx="11049000" cy="1238250"/>
          </a:xfrm>
          <a:prstGeom prst="rect">
            <a:avLst/>
          </a:prstGeom>
          <a:noFill/>
          <a:ln w="0">
            <a:noFill/>
          </a:ln>
        </p:spPr>
        <p:txBody>
          <a:bodyPr>
            <a:noAutofit/>
          </a:bodyPr>
          <a:lstStyle/>
          <a:p>
            <a:pPr>
              <a:defRPr sz="2925" b="1">
                <a:solidFill>
                  <a:srgbClr val="303030"/>
                </a:solidFill>
                <a:latin typeface="DejaVu Sans"/>
                <a:ea typeface="DejaVu Sans"/>
                <a:cs typeface="DejaVu Sans"/>
              </a:defRPr>
            </a:pPr>
            <a:r>
              <a:rPr sz="2925" b="1" dirty="0">
                <a:solidFill>
                  <a:srgbClr val="303030"/>
                </a:solidFill>
                <a:latin typeface="DejaVu Sans"/>
                <a:ea typeface="DejaVu Sans"/>
                <a:cs typeface="DejaVu Sans"/>
              </a:rPr>
              <a:t>Region</a:t>
            </a:r>
            <a:r>
              <a:rPr lang="en-US" sz="2925" b="1" dirty="0">
                <a:solidFill>
                  <a:srgbClr val="303030"/>
                </a:solidFill>
                <a:latin typeface="DejaVu Sans"/>
                <a:ea typeface="DejaVu Sans"/>
                <a:cs typeface="DejaVu Sans"/>
              </a:rPr>
              <a:t>al Breakdown</a:t>
            </a:r>
            <a:endParaRPr sz="2925" b="1" dirty="0">
              <a:solidFill>
                <a:srgbClr val="303030"/>
              </a:solidFill>
              <a:latin typeface="DejaVu Sans"/>
              <a:ea typeface="DejaVu Sans"/>
              <a:cs typeface="DejaVu Sans"/>
            </a:endParaRPr>
          </a:p>
        </p:txBody>
      </p:sp>
      <p:sp>
        <p:nvSpPr>
          <p:cNvPr id="3" name="Rectangle 2">
            <a:extLst>
              <a:ext uri="{FF2B5EF4-FFF2-40B4-BE49-F238E27FC236}">
                <a16:creationId xmlns:a16="http://schemas.microsoft.com/office/drawing/2014/main" id="{168C9C27-15B9-434C-AEA1-36A6C7B8DFDF}"/>
              </a:ext>
            </a:extLst>
          </p:cNvPr>
          <p:cNvSpPr>
            <a:spLocks noGrp="1"/>
          </p:cNvSpPr>
          <p:nvPr/>
        </p:nvSpPr>
        <p:spPr>
          <a:xfrm>
            <a:off x="609600" y="1533525"/>
            <a:ext cx="10953750" cy="571500"/>
          </a:xfrm>
          <a:prstGeom prst="rect">
            <a:avLst/>
          </a:prstGeom>
          <a:noFill/>
          <a:ln w="0">
            <a:noFill/>
          </a:ln>
        </p:spPr>
        <p:txBody>
          <a:bodyPr>
            <a:noAutofit/>
          </a:bodyPr>
          <a:lstStyle/>
          <a:p>
            <a:pPr>
              <a:defRPr sz="1575" b="0">
                <a:solidFill>
                  <a:srgbClr val="5E5E5E"/>
                </a:solidFill>
                <a:latin typeface="DejaVu Sans"/>
                <a:ea typeface="DejaVu Sans"/>
                <a:cs typeface="DejaVu Sans"/>
              </a:defRPr>
            </a:pPr>
            <a:r>
              <a:rPr sz="1575" b="0">
                <a:solidFill>
                  <a:srgbClr val="5E5E5E"/>
                </a:solidFill>
                <a:latin typeface="DejaVu Sans"/>
                <a:ea typeface="DejaVu Sans"/>
                <a:cs typeface="DejaVu Sans"/>
              </a:rPr>
              <a:t>Regional reporting structure. Distributor names and allocations follow the approved register.</a:t>
            </a:r>
          </a:p>
        </p:txBody>
      </p:sp>
      <p:sp>
        <p:nvSpPr>
          <p:cNvPr id="4" name="Rectangle 3">
            <a:extLst>
              <a:ext uri="{FF2B5EF4-FFF2-40B4-BE49-F238E27FC236}">
                <a16:creationId xmlns:a16="http://schemas.microsoft.com/office/drawing/2014/main" id="{993551F9-1376-4F36-9B37-BF6AD01B5E9B}"/>
              </a:ext>
            </a:extLst>
          </p:cNvPr>
          <p:cNvSpPr>
            <a:spLocks noGrp="1"/>
          </p:cNvSpPr>
          <p:nvPr/>
        </p:nvSpPr>
        <p:spPr>
          <a:xfrm>
            <a:off x="4000500" y="2143125"/>
            <a:ext cx="4191000" cy="514350"/>
          </a:xfrm>
          <a:prstGeom prst="rect">
            <a:avLst/>
          </a:prstGeom>
          <a:solidFill>
            <a:srgbClr val="5E5E5E"/>
          </a:solidFill>
          <a:ln w="0">
            <a:noFill/>
          </a:ln>
        </p:spPr>
        <p:txBody>
          <a:bodyPr anchor="ctr">
            <a:noAutofit/>
          </a:bodyPr>
          <a:lstStyle/>
          <a:p>
            <a:pPr algn="ct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National Operations Manager</a:t>
            </a:r>
          </a:p>
        </p:txBody>
      </p:sp>
      <p:sp>
        <p:nvSpPr>
          <p:cNvPr id="5" name="Rectangle 4">
            <a:extLst>
              <a:ext uri="{FF2B5EF4-FFF2-40B4-BE49-F238E27FC236}">
                <a16:creationId xmlns:a16="http://schemas.microsoft.com/office/drawing/2014/main" id="{A253874C-1F07-4EEE-8819-E54D78BA9B63}"/>
              </a:ext>
            </a:extLst>
          </p:cNvPr>
          <p:cNvSpPr>
            <a:spLocks noGrp="1"/>
          </p:cNvSpPr>
          <p:nvPr/>
        </p:nvSpPr>
        <p:spPr>
          <a:xfrm>
            <a:off x="4000500" y="2962275"/>
            <a:ext cx="4191000" cy="704850"/>
          </a:xfrm>
          <a:prstGeom prst="rect">
            <a:avLst/>
          </a:prstGeom>
          <a:solidFill>
            <a:srgbClr val="FE5000"/>
          </a:solidFill>
          <a:ln w="0">
            <a:noFill/>
          </a:ln>
        </p:spPr>
        <p:txBody>
          <a:bodyPr anchor="ctr">
            <a:noAutofit/>
          </a:bodyPr>
          <a:lstStyle/>
          <a:p>
            <a:pPr algn="ct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Greater Accra</a:t>
            </a:r>
          </a:p>
          <a:p>
            <a:pPr algn="ct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Regional Supervisor</a:t>
            </a:r>
          </a:p>
        </p:txBody>
      </p:sp>
      <p:sp>
        <p:nvSpPr>
          <p:cNvPr id="6" name="Straight Connector 5">
            <a:extLst>
              <a:ext uri="{FF2B5EF4-FFF2-40B4-BE49-F238E27FC236}">
                <a16:creationId xmlns:a16="http://schemas.microsoft.com/office/drawing/2014/main" id="{690D62C0-4F8D-49A0-9350-65D8D841B0E0}"/>
              </a:ext>
            </a:extLst>
          </p:cNvPr>
          <p:cNvSpPr>
            <a:spLocks noGrp="1"/>
          </p:cNvSpPr>
          <p:nvPr/>
        </p:nvSpPr>
        <p:spPr>
          <a:xfrm>
            <a:off x="6096000" y="2657475"/>
            <a:ext cx="0" cy="304800"/>
          </a:xfrm>
          <a:prstGeom prst="line">
            <a:avLst/>
          </a:prstGeom>
          <a:noFill/>
          <a:ln w="19050">
            <a:solidFill>
              <a:srgbClr val="5E5E5E"/>
            </a:solidFill>
          </a:ln>
        </p:spPr>
        <p:txBody>
          <a:bodyPr/>
          <a:lstStyle/>
          <a:p>
            <a:endParaRPr lang="en-GH"/>
          </a:p>
        </p:txBody>
      </p:sp>
      <p:sp>
        <p:nvSpPr>
          <p:cNvPr id="7" name="Rectangle 6">
            <a:extLst>
              <a:ext uri="{FF2B5EF4-FFF2-40B4-BE49-F238E27FC236}">
                <a16:creationId xmlns:a16="http://schemas.microsoft.com/office/drawing/2014/main" id="{7CA16325-D4CF-424B-B9A4-B8004FA5B898}"/>
              </a:ext>
            </a:extLst>
          </p:cNvPr>
          <p:cNvSpPr>
            <a:spLocks noGrp="1"/>
          </p:cNvSpPr>
          <p:nvPr/>
        </p:nvSpPr>
        <p:spPr>
          <a:xfrm>
            <a:off x="3905250" y="4076700"/>
            <a:ext cx="4381500" cy="571500"/>
          </a:xfrm>
          <a:prstGeom prst="rect">
            <a:avLst/>
          </a:prstGeom>
          <a:solidFill>
            <a:srgbClr val="FE5000"/>
          </a:solidFill>
          <a:ln w="0">
            <a:noFill/>
          </a:ln>
        </p:spPr>
        <p:txBody>
          <a:bodyPr anchor="ctr">
            <a:noAutofit/>
          </a:bodyPr>
          <a:lstStyle/>
          <a:p>
            <a:pPr algn="ct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Cluster Supervisor</a:t>
            </a:r>
          </a:p>
        </p:txBody>
      </p:sp>
      <p:sp>
        <p:nvSpPr>
          <p:cNvPr id="8" name="Straight Connector 7">
            <a:extLst>
              <a:ext uri="{FF2B5EF4-FFF2-40B4-BE49-F238E27FC236}">
                <a16:creationId xmlns:a16="http://schemas.microsoft.com/office/drawing/2014/main" id="{00A17B5B-7119-4A58-9855-6A8977A2F60A}"/>
              </a:ext>
            </a:extLst>
          </p:cNvPr>
          <p:cNvSpPr>
            <a:spLocks noGrp="1"/>
          </p:cNvSpPr>
          <p:nvPr/>
        </p:nvSpPr>
        <p:spPr>
          <a:xfrm>
            <a:off x="6096000" y="3667125"/>
            <a:ext cx="0" cy="409575"/>
          </a:xfrm>
          <a:prstGeom prst="line">
            <a:avLst/>
          </a:prstGeom>
          <a:noFill/>
          <a:ln w="19050">
            <a:solidFill>
              <a:srgbClr val="5E5E5E"/>
            </a:solidFill>
          </a:ln>
        </p:spPr>
        <p:txBody>
          <a:bodyPr/>
          <a:lstStyle/>
          <a:p>
            <a:endParaRPr lang="en-GH"/>
          </a:p>
        </p:txBody>
      </p:sp>
      <p:sp>
        <p:nvSpPr>
          <p:cNvPr id="9" name="Straight Connector 8">
            <a:extLst>
              <a:ext uri="{FF2B5EF4-FFF2-40B4-BE49-F238E27FC236}">
                <a16:creationId xmlns:a16="http://schemas.microsoft.com/office/drawing/2014/main" id="{7EE80FC4-9935-4D3A-B18E-2991894F7D9E}"/>
              </a:ext>
            </a:extLst>
          </p:cNvPr>
          <p:cNvSpPr>
            <a:spLocks noGrp="1"/>
          </p:cNvSpPr>
          <p:nvPr/>
        </p:nvSpPr>
        <p:spPr>
          <a:xfrm>
            <a:off x="6096000" y="4648200"/>
            <a:ext cx="0" cy="285750"/>
          </a:xfrm>
          <a:prstGeom prst="line">
            <a:avLst/>
          </a:prstGeom>
          <a:noFill/>
          <a:ln w="19050">
            <a:solidFill>
              <a:srgbClr val="5E5E5E"/>
            </a:solidFill>
          </a:ln>
        </p:spPr>
        <p:txBody>
          <a:bodyPr/>
          <a:lstStyle/>
          <a:p>
            <a:endParaRPr lang="en-GH"/>
          </a:p>
        </p:txBody>
      </p:sp>
      <p:sp>
        <p:nvSpPr>
          <p:cNvPr id="10" name="Straight Connector 9">
            <a:extLst>
              <a:ext uri="{FF2B5EF4-FFF2-40B4-BE49-F238E27FC236}">
                <a16:creationId xmlns:a16="http://schemas.microsoft.com/office/drawing/2014/main" id="{8589D47F-507F-4858-A662-1B244439D1B1}"/>
              </a:ext>
            </a:extLst>
          </p:cNvPr>
          <p:cNvSpPr>
            <a:spLocks noGrp="1"/>
          </p:cNvSpPr>
          <p:nvPr/>
        </p:nvSpPr>
        <p:spPr>
          <a:xfrm>
            <a:off x="1562100" y="4933950"/>
            <a:ext cx="9067800" cy="0"/>
          </a:xfrm>
          <a:prstGeom prst="line">
            <a:avLst/>
          </a:prstGeom>
          <a:noFill/>
          <a:ln w="19050">
            <a:solidFill>
              <a:srgbClr val="5E5E5E"/>
            </a:solidFill>
          </a:ln>
        </p:spPr>
        <p:txBody>
          <a:bodyPr/>
          <a:lstStyle/>
          <a:p>
            <a:endParaRPr lang="en-GH"/>
          </a:p>
        </p:txBody>
      </p:sp>
      <p:sp>
        <p:nvSpPr>
          <p:cNvPr id="11" name="Straight Connector 10">
            <a:extLst>
              <a:ext uri="{FF2B5EF4-FFF2-40B4-BE49-F238E27FC236}">
                <a16:creationId xmlns:a16="http://schemas.microsoft.com/office/drawing/2014/main" id="{EC0316B6-F6BF-4CC9-A3E2-21777755534C}"/>
              </a:ext>
            </a:extLst>
          </p:cNvPr>
          <p:cNvSpPr>
            <a:spLocks noGrp="1"/>
          </p:cNvSpPr>
          <p:nvPr/>
        </p:nvSpPr>
        <p:spPr>
          <a:xfrm>
            <a:off x="1562100" y="4933950"/>
            <a:ext cx="0" cy="257175"/>
          </a:xfrm>
          <a:prstGeom prst="line">
            <a:avLst/>
          </a:prstGeom>
          <a:noFill/>
          <a:ln w="19050">
            <a:solidFill>
              <a:srgbClr val="5E5E5E"/>
            </a:solidFill>
          </a:ln>
        </p:spPr>
        <p:txBody>
          <a:bodyPr/>
          <a:lstStyle/>
          <a:p>
            <a:endParaRPr lang="en-GH"/>
          </a:p>
        </p:txBody>
      </p:sp>
      <p:sp>
        <p:nvSpPr>
          <p:cNvPr id="12" name="Rectangle 11">
            <a:extLst>
              <a:ext uri="{FF2B5EF4-FFF2-40B4-BE49-F238E27FC236}">
                <a16:creationId xmlns:a16="http://schemas.microsoft.com/office/drawing/2014/main" id="{FAC2668B-3B0C-48A7-9CC7-F23D25923225}"/>
              </a:ext>
            </a:extLst>
          </p:cNvPr>
          <p:cNvSpPr>
            <a:spLocks noGrp="1"/>
          </p:cNvSpPr>
          <p:nvPr/>
        </p:nvSpPr>
        <p:spPr>
          <a:xfrm>
            <a:off x="609600" y="5191125"/>
            <a:ext cx="1905000" cy="762000"/>
          </a:xfrm>
          <a:prstGeom prst="rect">
            <a:avLst/>
          </a:prstGeom>
          <a:solidFill>
            <a:srgbClr val="F3F3F3"/>
          </a:solidFill>
          <a:ln w="0">
            <a:noFill/>
          </a:ln>
        </p:spPr>
        <p:txBody>
          <a:bodyPr anchor="ctr">
            <a:noAutofit/>
          </a:bodyPr>
          <a:lstStyle/>
          <a:p>
            <a:pPr algn="ctr">
              <a:defRPr sz="1575" b="1">
                <a:solidFill>
                  <a:srgbClr val="303030"/>
                </a:solidFill>
                <a:latin typeface="DejaVu Sans"/>
                <a:ea typeface="DejaVu Sans"/>
                <a:cs typeface="DejaVu Sans"/>
              </a:defRPr>
            </a:pPr>
            <a:r>
              <a:rPr sz="1575" b="1">
                <a:solidFill>
                  <a:srgbClr val="303030"/>
                </a:solidFill>
                <a:latin typeface="DejaVu Sans"/>
                <a:ea typeface="DejaVu Sans"/>
                <a:cs typeface="DejaVu Sans"/>
              </a:rPr>
              <a:t>Distributor 1</a:t>
            </a:r>
          </a:p>
          <a:p>
            <a:pPr algn="ctr">
              <a:defRPr sz="1575" b="1">
                <a:solidFill>
                  <a:srgbClr val="303030"/>
                </a:solidFill>
                <a:latin typeface="DejaVu Sans"/>
                <a:ea typeface="DejaVu Sans"/>
                <a:cs typeface="DejaVu Sans"/>
              </a:defRPr>
            </a:pPr>
            <a:r>
              <a:rPr sz="1575" b="1">
                <a:solidFill>
                  <a:srgbClr val="303030"/>
                </a:solidFill>
                <a:latin typeface="DejaVu Sans"/>
                <a:ea typeface="DejaVu Sans"/>
                <a:cs typeface="DejaVu Sans"/>
              </a:rPr>
              <a:t>1 QC person</a:t>
            </a:r>
          </a:p>
        </p:txBody>
      </p:sp>
      <p:sp>
        <p:nvSpPr>
          <p:cNvPr id="13" name="Straight Connector 12">
            <a:extLst>
              <a:ext uri="{FF2B5EF4-FFF2-40B4-BE49-F238E27FC236}">
                <a16:creationId xmlns:a16="http://schemas.microsoft.com/office/drawing/2014/main" id="{9FFB1498-448B-4F0E-8B9D-70BA7070769E}"/>
              </a:ext>
            </a:extLst>
          </p:cNvPr>
          <p:cNvSpPr>
            <a:spLocks noGrp="1"/>
          </p:cNvSpPr>
          <p:nvPr/>
        </p:nvSpPr>
        <p:spPr>
          <a:xfrm>
            <a:off x="3829050" y="4933950"/>
            <a:ext cx="0" cy="257175"/>
          </a:xfrm>
          <a:prstGeom prst="line">
            <a:avLst/>
          </a:prstGeom>
          <a:noFill/>
          <a:ln w="19050">
            <a:solidFill>
              <a:srgbClr val="5E5E5E"/>
            </a:solidFill>
          </a:ln>
        </p:spPr>
        <p:txBody>
          <a:bodyPr/>
          <a:lstStyle/>
          <a:p>
            <a:endParaRPr lang="en-GH"/>
          </a:p>
        </p:txBody>
      </p:sp>
      <p:sp>
        <p:nvSpPr>
          <p:cNvPr id="14" name="Rectangle 13">
            <a:extLst>
              <a:ext uri="{FF2B5EF4-FFF2-40B4-BE49-F238E27FC236}">
                <a16:creationId xmlns:a16="http://schemas.microsoft.com/office/drawing/2014/main" id="{D1C51A30-6BA0-4FB6-9400-60A71F552C95}"/>
              </a:ext>
            </a:extLst>
          </p:cNvPr>
          <p:cNvSpPr>
            <a:spLocks noGrp="1"/>
          </p:cNvSpPr>
          <p:nvPr/>
        </p:nvSpPr>
        <p:spPr>
          <a:xfrm>
            <a:off x="2876550" y="5191125"/>
            <a:ext cx="1905000" cy="762000"/>
          </a:xfrm>
          <a:prstGeom prst="rect">
            <a:avLst/>
          </a:prstGeom>
          <a:solidFill>
            <a:srgbClr val="F3F3F3"/>
          </a:solidFill>
          <a:ln w="0">
            <a:noFill/>
          </a:ln>
        </p:spPr>
        <p:txBody>
          <a:bodyPr anchor="ctr">
            <a:noAutofit/>
          </a:bodyPr>
          <a:lstStyle/>
          <a:p>
            <a:pPr algn="ctr">
              <a:defRPr sz="1575" b="1">
                <a:solidFill>
                  <a:srgbClr val="303030"/>
                </a:solidFill>
                <a:latin typeface="DejaVu Sans"/>
                <a:ea typeface="DejaVu Sans"/>
                <a:cs typeface="DejaVu Sans"/>
              </a:defRPr>
            </a:pPr>
            <a:r>
              <a:rPr sz="1575" b="1">
                <a:solidFill>
                  <a:srgbClr val="303030"/>
                </a:solidFill>
                <a:latin typeface="DejaVu Sans"/>
                <a:ea typeface="DejaVu Sans"/>
                <a:cs typeface="DejaVu Sans"/>
              </a:rPr>
              <a:t>Distributor 2</a:t>
            </a:r>
          </a:p>
          <a:p>
            <a:pPr algn="ctr">
              <a:defRPr sz="1575" b="1">
                <a:solidFill>
                  <a:srgbClr val="303030"/>
                </a:solidFill>
                <a:latin typeface="DejaVu Sans"/>
                <a:ea typeface="DejaVu Sans"/>
                <a:cs typeface="DejaVu Sans"/>
              </a:defRPr>
            </a:pPr>
            <a:r>
              <a:rPr sz="1575" b="1">
                <a:solidFill>
                  <a:srgbClr val="303030"/>
                </a:solidFill>
                <a:latin typeface="DejaVu Sans"/>
                <a:ea typeface="DejaVu Sans"/>
                <a:cs typeface="DejaVu Sans"/>
              </a:rPr>
              <a:t>1 QC person</a:t>
            </a:r>
          </a:p>
        </p:txBody>
      </p:sp>
      <p:sp>
        <p:nvSpPr>
          <p:cNvPr id="15" name="Straight Connector 14">
            <a:extLst>
              <a:ext uri="{FF2B5EF4-FFF2-40B4-BE49-F238E27FC236}">
                <a16:creationId xmlns:a16="http://schemas.microsoft.com/office/drawing/2014/main" id="{6BA42B7D-4D74-4005-84D0-A97F0D141212}"/>
              </a:ext>
            </a:extLst>
          </p:cNvPr>
          <p:cNvSpPr>
            <a:spLocks noGrp="1"/>
          </p:cNvSpPr>
          <p:nvPr/>
        </p:nvSpPr>
        <p:spPr>
          <a:xfrm>
            <a:off x="6096000" y="4933950"/>
            <a:ext cx="0" cy="257175"/>
          </a:xfrm>
          <a:prstGeom prst="line">
            <a:avLst/>
          </a:prstGeom>
          <a:noFill/>
          <a:ln w="19050">
            <a:solidFill>
              <a:srgbClr val="5E5E5E"/>
            </a:solidFill>
          </a:ln>
        </p:spPr>
        <p:txBody>
          <a:bodyPr/>
          <a:lstStyle/>
          <a:p>
            <a:endParaRPr lang="en-GH"/>
          </a:p>
        </p:txBody>
      </p:sp>
      <p:sp>
        <p:nvSpPr>
          <p:cNvPr id="16" name="Rectangle 15">
            <a:extLst>
              <a:ext uri="{FF2B5EF4-FFF2-40B4-BE49-F238E27FC236}">
                <a16:creationId xmlns:a16="http://schemas.microsoft.com/office/drawing/2014/main" id="{01EFA09C-2961-4C1A-B22D-1272EF7B05A2}"/>
              </a:ext>
            </a:extLst>
          </p:cNvPr>
          <p:cNvSpPr>
            <a:spLocks noGrp="1"/>
          </p:cNvSpPr>
          <p:nvPr/>
        </p:nvSpPr>
        <p:spPr>
          <a:xfrm>
            <a:off x="5143500" y="5191125"/>
            <a:ext cx="1905000" cy="762000"/>
          </a:xfrm>
          <a:prstGeom prst="rect">
            <a:avLst/>
          </a:prstGeom>
          <a:solidFill>
            <a:srgbClr val="F3F3F3"/>
          </a:solidFill>
          <a:ln w="0">
            <a:noFill/>
          </a:ln>
        </p:spPr>
        <p:txBody>
          <a:bodyPr anchor="ctr">
            <a:noAutofit/>
          </a:bodyPr>
          <a:lstStyle/>
          <a:p>
            <a:pPr algn="ctr">
              <a:defRPr sz="1575" b="1">
                <a:solidFill>
                  <a:srgbClr val="303030"/>
                </a:solidFill>
                <a:latin typeface="DejaVu Sans"/>
                <a:ea typeface="DejaVu Sans"/>
                <a:cs typeface="DejaVu Sans"/>
              </a:defRPr>
            </a:pPr>
            <a:r>
              <a:rPr sz="1575" b="1">
                <a:solidFill>
                  <a:srgbClr val="303030"/>
                </a:solidFill>
                <a:latin typeface="DejaVu Sans"/>
                <a:ea typeface="DejaVu Sans"/>
                <a:cs typeface="DejaVu Sans"/>
              </a:rPr>
              <a:t>Distributor 3</a:t>
            </a:r>
          </a:p>
          <a:p>
            <a:pPr algn="ctr">
              <a:defRPr sz="1575" b="1">
                <a:solidFill>
                  <a:srgbClr val="303030"/>
                </a:solidFill>
                <a:latin typeface="DejaVu Sans"/>
                <a:ea typeface="DejaVu Sans"/>
                <a:cs typeface="DejaVu Sans"/>
              </a:defRPr>
            </a:pPr>
            <a:r>
              <a:rPr sz="1575" b="1">
                <a:solidFill>
                  <a:srgbClr val="303030"/>
                </a:solidFill>
                <a:latin typeface="DejaVu Sans"/>
                <a:ea typeface="DejaVu Sans"/>
                <a:cs typeface="DejaVu Sans"/>
              </a:rPr>
              <a:t>1 QC person</a:t>
            </a:r>
          </a:p>
        </p:txBody>
      </p:sp>
      <p:sp>
        <p:nvSpPr>
          <p:cNvPr id="17" name="Straight Connector 16">
            <a:extLst>
              <a:ext uri="{FF2B5EF4-FFF2-40B4-BE49-F238E27FC236}">
                <a16:creationId xmlns:a16="http://schemas.microsoft.com/office/drawing/2014/main" id="{F688C232-93C6-4F3A-8279-8237CDBDD178}"/>
              </a:ext>
            </a:extLst>
          </p:cNvPr>
          <p:cNvSpPr>
            <a:spLocks noGrp="1"/>
          </p:cNvSpPr>
          <p:nvPr/>
        </p:nvSpPr>
        <p:spPr>
          <a:xfrm>
            <a:off x="8362950" y="4933950"/>
            <a:ext cx="0" cy="257175"/>
          </a:xfrm>
          <a:prstGeom prst="line">
            <a:avLst/>
          </a:prstGeom>
          <a:noFill/>
          <a:ln w="19050">
            <a:solidFill>
              <a:srgbClr val="5E5E5E"/>
            </a:solidFill>
          </a:ln>
        </p:spPr>
        <p:txBody>
          <a:bodyPr/>
          <a:lstStyle/>
          <a:p>
            <a:endParaRPr lang="en-GH"/>
          </a:p>
        </p:txBody>
      </p:sp>
      <p:sp>
        <p:nvSpPr>
          <p:cNvPr id="18" name="Rectangle 17">
            <a:extLst>
              <a:ext uri="{FF2B5EF4-FFF2-40B4-BE49-F238E27FC236}">
                <a16:creationId xmlns:a16="http://schemas.microsoft.com/office/drawing/2014/main" id="{26123EDF-0044-4FFE-9B00-A0DFA5BF6917}"/>
              </a:ext>
            </a:extLst>
          </p:cNvPr>
          <p:cNvSpPr>
            <a:spLocks noGrp="1"/>
          </p:cNvSpPr>
          <p:nvPr/>
        </p:nvSpPr>
        <p:spPr>
          <a:xfrm>
            <a:off x="7410450" y="5191125"/>
            <a:ext cx="1905000" cy="762000"/>
          </a:xfrm>
          <a:prstGeom prst="rect">
            <a:avLst/>
          </a:prstGeom>
          <a:solidFill>
            <a:srgbClr val="F3F3F3"/>
          </a:solidFill>
          <a:ln w="0">
            <a:noFill/>
          </a:ln>
        </p:spPr>
        <p:txBody>
          <a:bodyPr anchor="ctr">
            <a:noAutofit/>
          </a:bodyPr>
          <a:lstStyle/>
          <a:p>
            <a:pPr algn="ctr">
              <a:defRPr sz="1575" b="1">
                <a:solidFill>
                  <a:srgbClr val="303030"/>
                </a:solidFill>
                <a:latin typeface="DejaVu Sans"/>
                <a:ea typeface="DejaVu Sans"/>
                <a:cs typeface="DejaVu Sans"/>
              </a:defRPr>
            </a:pPr>
            <a:r>
              <a:rPr sz="1575" b="1">
                <a:solidFill>
                  <a:srgbClr val="303030"/>
                </a:solidFill>
                <a:latin typeface="DejaVu Sans"/>
                <a:ea typeface="DejaVu Sans"/>
                <a:cs typeface="DejaVu Sans"/>
              </a:rPr>
              <a:t>Distributor 4</a:t>
            </a:r>
          </a:p>
          <a:p>
            <a:pPr algn="ctr">
              <a:defRPr sz="1575" b="1">
                <a:solidFill>
                  <a:srgbClr val="303030"/>
                </a:solidFill>
                <a:latin typeface="DejaVu Sans"/>
                <a:ea typeface="DejaVu Sans"/>
                <a:cs typeface="DejaVu Sans"/>
              </a:defRPr>
            </a:pPr>
            <a:r>
              <a:rPr sz="1575" b="1">
                <a:solidFill>
                  <a:srgbClr val="303030"/>
                </a:solidFill>
                <a:latin typeface="DejaVu Sans"/>
                <a:ea typeface="DejaVu Sans"/>
                <a:cs typeface="DejaVu Sans"/>
              </a:rPr>
              <a:t>1 QC person</a:t>
            </a:r>
          </a:p>
        </p:txBody>
      </p:sp>
      <p:sp>
        <p:nvSpPr>
          <p:cNvPr id="19" name="Straight Connector 18">
            <a:extLst>
              <a:ext uri="{FF2B5EF4-FFF2-40B4-BE49-F238E27FC236}">
                <a16:creationId xmlns:a16="http://schemas.microsoft.com/office/drawing/2014/main" id="{9784552A-6CC1-4B05-A277-C24BB99F86CE}"/>
              </a:ext>
            </a:extLst>
          </p:cNvPr>
          <p:cNvSpPr>
            <a:spLocks noGrp="1"/>
          </p:cNvSpPr>
          <p:nvPr/>
        </p:nvSpPr>
        <p:spPr>
          <a:xfrm>
            <a:off x="10629900" y="4933950"/>
            <a:ext cx="0" cy="257175"/>
          </a:xfrm>
          <a:prstGeom prst="line">
            <a:avLst/>
          </a:prstGeom>
          <a:noFill/>
          <a:ln w="19050">
            <a:solidFill>
              <a:srgbClr val="5E5E5E"/>
            </a:solidFill>
          </a:ln>
        </p:spPr>
        <p:txBody>
          <a:bodyPr/>
          <a:lstStyle/>
          <a:p>
            <a:endParaRPr lang="en-GH"/>
          </a:p>
        </p:txBody>
      </p:sp>
      <p:sp>
        <p:nvSpPr>
          <p:cNvPr id="20" name="Rectangle 19">
            <a:extLst>
              <a:ext uri="{FF2B5EF4-FFF2-40B4-BE49-F238E27FC236}">
                <a16:creationId xmlns:a16="http://schemas.microsoft.com/office/drawing/2014/main" id="{51672272-8F0E-4D53-99F5-DA73C8EDC461}"/>
              </a:ext>
            </a:extLst>
          </p:cNvPr>
          <p:cNvSpPr>
            <a:spLocks noGrp="1"/>
          </p:cNvSpPr>
          <p:nvPr/>
        </p:nvSpPr>
        <p:spPr>
          <a:xfrm>
            <a:off x="9677400" y="5191125"/>
            <a:ext cx="1905000" cy="762000"/>
          </a:xfrm>
          <a:prstGeom prst="rect">
            <a:avLst/>
          </a:prstGeom>
          <a:solidFill>
            <a:srgbClr val="F3F3F3"/>
          </a:solidFill>
          <a:ln w="0">
            <a:noFill/>
          </a:ln>
        </p:spPr>
        <p:txBody>
          <a:bodyPr anchor="ctr">
            <a:noAutofit/>
          </a:bodyPr>
          <a:lstStyle/>
          <a:p>
            <a:pPr algn="ctr">
              <a:defRPr sz="1575" b="1">
                <a:solidFill>
                  <a:srgbClr val="303030"/>
                </a:solidFill>
                <a:latin typeface="DejaVu Sans"/>
                <a:ea typeface="DejaVu Sans"/>
                <a:cs typeface="DejaVu Sans"/>
              </a:defRPr>
            </a:pPr>
            <a:r>
              <a:rPr sz="1575" b="1">
                <a:solidFill>
                  <a:srgbClr val="303030"/>
                </a:solidFill>
                <a:latin typeface="DejaVu Sans"/>
                <a:ea typeface="DejaVu Sans"/>
                <a:cs typeface="DejaVu Sans"/>
              </a:rPr>
              <a:t>Distributor 5</a:t>
            </a:r>
          </a:p>
          <a:p>
            <a:pPr algn="ctr">
              <a:defRPr sz="1575" b="1">
                <a:solidFill>
                  <a:srgbClr val="303030"/>
                </a:solidFill>
                <a:latin typeface="DejaVu Sans"/>
                <a:ea typeface="DejaVu Sans"/>
                <a:cs typeface="DejaVu Sans"/>
              </a:defRPr>
            </a:pPr>
            <a:r>
              <a:rPr sz="1575" b="1">
                <a:solidFill>
                  <a:srgbClr val="303030"/>
                </a:solidFill>
                <a:latin typeface="DejaVu Sans"/>
                <a:ea typeface="DejaVu Sans"/>
                <a:cs typeface="DejaVu Sans"/>
              </a:rPr>
              <a:t>1 QC person</a:t>
            </a:r>
          </a:p>
        </p:txBody>
      </p:sp>
      <p:sp>
        <p:nvSpPr>
          <p:cNvPr id="21" name="Rectangle 20">
            <a:extLst>
              <a:ext uri="{FF2B5EF4-FFF2-40B4-BE49-F238E27FC236}">
                <a16:creationId xmlns:a16="http://schemas.microsoft.com/office/drawing/2014/main" id="{6B49EEB8-FC6A-49FC-9C61-65A71481D8D1}"/>
              </a:ext>
            </a:extLst>
          </p:cNvPr>
          <p:cNvSpPr>
            <a:spLocks noGrp="1"/>
          </p:cNvSpPr>
          <p:nvPr/>
        </p:nvSpPr>
        <p:spPr>
          <a:xfrm>
            <a:off x="609600" y="6200775"/>
            <a:ext cx="10953750" cy="381000"/>
          </a:xfrm>
          <a:prstGeom prst="rect">
            <a:avLst/>
          </a:prstGeom>
          <a:noFill/>
          <a:ln w="0">
            <a:noFill/>
          </a:ln>
        </p:spPr>
        <p:txBody>
          <a:bodyPr>
            <a:noAutofit/>
          </a:bodyPr>
          <a:lstStyle/>
          <a:p>
            <a:pPr>
              <a:defRPr sz="1425" b="0">
                <a:solidFill>
                  <a:srgbClr val="5E5E5E"/>
                </a:solidFill>
                <a:latin typeface="DejaVu Sans"/>
                <a:ea typeface="DejaVu Sans"/>
                <a:cs typeface="DejaVu Sans"/>
              </a:defRPr>
            </a:pPr>
            <a:r>
              <a:rPr sz="1425" b="0">
                <a:solidFill>
                  <a:srgbClr val="5E5E5E"/>
                </a:solidFill>
                <a:latin typeface="DejaVu Sans"/>
                <a:ea typeface="DejaVu Sans"/>
                <a:cs typeface="DejaVu Sans"/>
              </a:rPr>
              <a:t>Repeat this cluster for every additional group of up to 5 distributors in Greater Accra.</a:t>
            </a:r>
          </a:p>
        </p:txBody>
      </p:sp>
    </p:spTree>
    <p:extLst>
      <p:ext uri="{BB962C8B-B14F-4D97-AF65-F5344CB8AC3E}">
        <p14:creationId xmlns:p14="http://schemas.microsoft.com/office/powerpoint/2010/main" val="7844632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313226-156D-40AB-840C-D37D52875DEE}"/>
              </a:ext>
            </a:extLst>
          </p:cNvPr>
          <p:cNvSpPr>
            <a:spLocks noGrp="1"/>
          </p:cNvSpPr>
          <p:nvPr/>
        </p:nvSpPr>
        <p:spPr>
          <a:xfrm>
            <a:off x="609600" y="266700"/>
            <a:ext cx="3810000" cy="342900"/>
          </a:xfrm>
          <a:prstGeom prst="rect">
            <a:avLst/>
          </a:prstGeom>
          <a:noFill/>
          <a:ln w="0">
            <a:noFill/>
          </a:ln>
        </p:spPr>
        <p:txBody>
          <a:bodyPr>
            <a:noAutofit/>
          </a:bodyPr>
          <a:lstStyle/>
          <a:p>
            <a:pPr>
              <a:defRPr sz="1575" b="1">
                <a:solidFill>
                  <a:srgbClr val="FE5000"/>
                </a:solidFill>
                <a:latin typeface="DejaVu Sans"/>
                <a:ea typeface="DejaVu Sans"/>
                <a:cs typeface="DejaVu Sans"/>
              </a:defRPr>
            </a:pPr>
            <a:r>
              <a:rPr sz="1575" b="1">
                <a:solidFill>
                  <a:srgbClr val="FE5000"/>
                </a:solidFill>
                <a:latin typeface="DejaVu Sans"/>
                <a:ea typeface="DejaVu Sans"/>
                <a:cs typeface="DejaVu Sans"/>
              </a:rPr>
              <a:t>GBfoods</a:t>
            </a:r>
          </a:p>
        </p:txBody>
      </p:sp>
      <p:sp>
        <p:nvSpPr>
          <p:cNvPr id="2" name="Rectangle 1">
            <a:extLst>
              <a:ext uri="{FF2B5EF4-FFF2-40B4-BE49-F238E27FC236}">
                <a16:creationId xmlns:a16="http://schemas.microsoft.com/office/drawing/2014/main" id="{3097B8BD-B51C-4328-9A44-677FE006009C}"/>
              </a:ext>
            </a:extLst>
          </p:cNvPr>
          <p:cNvSpPr>
            <a:spLocks noGrp="1"/>
          </p:cNvSpPr>
          <p:nvPr/>
        </p:nvSpPr>
        <p:spPr>
          <a:xfrm>
            <a:off x="609600" y="885825"/>
            <a:ext cx="10972800" cy="990600"/>
          </a:xfrm>
          <a:prstGeom prst="rect">
            <a:avLst/>
          </a:prstGeom>
          <a:noFill/>
          <a:ln w="0">
            <a:noFill/>
          </a:ln>
        </p:spPr>
        <p:txBody>
          <a:bodyPr>
            <a:noAutofit/>
          </a:bodyPr>
          <a:lstStyle/>
          <a:p>
            <a:pPr>
              <a:defRPr sz="3000" b="1">
                <a:solidFill>
                  <a:srgbClr val="303030"/>
                </a:solidFill>
                <a:latin typeface="DejaVu Sans"/>
                <a:ea typeface="DejaVu Sans"/>
                <a:cs typeface="DejaVu Sans"/>
              </a:defRPr>
            </a:pPr>
            <a:r>
              <a:rPr sz="3000" b="1">
                <a:solidFill>
                  <a:srgbClr val="303030"/>
                </a:solidFill>
                <a:latin typeface="DejaVu Sans"/>
                <a:ea typeface="DejaVu Sans"/>
                <a:cs typeface="DejaVu Sans"/>
              </a:rPr>
              <a:t>The decisions that start mobilisation</a:t>
            </a:r>
          </a:p>
        </p:txBody>
      </p:sp>
      <p:sp>
        <p:nvSpPr>
          <p:cNvPr id="3" name="Rectangle 2">
            <a:extLst>
              <a:ext uri="{FF2B5EF4-FFF2-40B4-BE49-F238E27FC236}">
                <a16:creationId xmlns:a16="http://schemas.microsoft.com/office/drawing/2014/main" id="{9FA75107-2DE1-4727-8E6D-296539243742}"/>
              </a:ext>
            </a:extLst>
          </p:cNvPr>
          <p:cNvSpPr>
            <a:spLocks noGrp="1"/>
          </p:cNvSpPr>
          <p:nvPr/>
        </p:nvSpPr>
        <p:spPr>
          <a:xfrm>
            <a:off x="609600" y="1847850"/>
            <a:ext cx="10972800" cy="609600"/>
          </a:xfrm>
          <a:prstGeom prst="rect">
            <a:avLst/>
          </a:prstGeom>
          <a:noFill/>
          <a:ln w="0">
            <a:noFill/>
          </a:ln>
        </p:spPr>
        <p:txBody>
          <a:bodyPr>
            <a:noAutofit/>
          </a:bodyPr>
          <a:lstStyle/>
          <a:p>
            <a:pPr>
              <a:defRPr sz="1650" b="0">
                <a:solidFill>
                  <a:srgbClr val="5E5E5E"/>
                </a:solidFill>
                <a:latin typeface="DejaVu Sans"/>
                <a:ea typeface="DejaVu Sans"/>
                <a:cs typeface="DejaVu Sans"/>
              </a:defRPr>
            </a:pPr>
            <a:r>
              <a:rPr sz="1650" b="0">
                <a:solidFill>
                  <a:srgbClr val="5E5E5E"/>
                </a:solidFill>
                <a:latin typeface="DejaVu Sans"/>
                <a:ea typeface="DejaVu Sans"/>
                <a:cs typeface="DejaVu Sans"/>
              </a:rPr>
              <a:t>A joint mobilisation meeting turns the approved proposal into an agreed deployment plan.</a:t>
            </a:r>
          </a:p>
        </p:txBody>
      </p:sp>
      <p:sp>
        <p:nvSpPr>
          <p:cNvPr id="4" name="Rectangle 3">
            <a:extLst>
              <a:ext uri="{FF2B5EF4-FFF2-40B4-BE49-F238E27FC236}">
                <a16:creationId xmlns:a16="http://schemas.microsoft.com/office/drawing/2014/main" id="{2E04060E-04E4-4720-8B0C-6C0A802A85D0}"/>
              </a:ext>
            </a:extLst>
          </p:cNvPr>
          <p:cNvSpPr>
            <a:spLocks noGrp="1"/>
          </p:cNvSpPr>
          <p:nvPr/>
        </p:nvSpPr>
        <p:spPr>
          <a:xfrm>
            <a:off x="609600" y="26860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Confirm the network</a:t>
            </a:r>
          </a:p>
        </p:txBody>
      </p:sp>
      <p:sp>
        <p:nvSpPr>
          <p:cNvPr id="5" name="Rectangle 4">
            <a:extLst>
              <a:ext uri="{FF2B5EF4-FFF2-40B4-BE49-F238E27FC236}">
                <a16:creationId xmlns:a16="http://schemas.microsoft.com/office/drawing/2014/main" id="{6FC86159-E7EB-4513-88DA-FFB3BB0EB280}"/>
              </a:ext>
            </a:extLst>
          </p:cNvPr>
          <p:cNvSpPr>
            <a:spLocks noGrp="1"/>
          </p:cNvSpPr>
          <p:nvPr/>
        </p:nvSpPr>
        <p:spPr>
          <a:xfrm>
            <a:off x="4029075" y="26860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Approve distributor names, regional allocations, site contacts, access and stock scope.</a:t>
            </a:r>
          </a:p>
        </p:txBody>
      </p:sp>
      <p:sp>
        <p:nvSpPr>
          <p:cNvPr id="6" name="Rectangle 5">
            <a:extLst>
              <a:ext uri="{FF2B5EF4-FFF2-40B4-BE49-F238E27FC236}">
                <a16:creationId xmlns:a16="http://schemas.microsoft.com/office/drawing/2014/main" id="{5B55795D-3148-4759-A403-8AC030FBBC83}"/>
              </a:ext>
            </a:extLst>
          </p:cNvPr>
          <p:cNvSpPr>
            <a:spLocks noGrp="1"/>
          </p:cNvSpPr>
          <p:nvPr/>
        </p:nvSpPr>
        <p:spPr>
          <a:xfrm>
            <a:off x="609600" y="35052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Agree the standards</a:t>
            </a:r>
          </a:p>
        </p:txBody>
      </p:sp>
      <p:sp>
        <p:nvSpPr>
          <p:cNvPr id="7" name="Rectangle 6">
            <a:extLst>
              <a:ext uri="{FF2B5EF4-FFF2-40B4-BE49-F238E27FC236}">
                <a16:creationId xmlns:a16="http://schemas.microsoft.com/office/drawing/2014/main" id="{B8AA5D18-6B5B-475D-910C-0ECE6EC8A773}"/>
              </a:ext>
            </a:extLst>
          </p:cNvPr>
          <p:cNvSpPr>
            <a:spLocks noGrp="1"/>
          </p:cNvSpPr>
          <p:nvPr/>
        </p:nvSpPr>
        <p:spPr>
          <a:xfrm>
            <a:off x="4029075" y="35052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Approve defect guidance, disposition authority, recce criteria and the training assessment checklist.</a:t>
            </a:r>
          </a:p>
        </p:txBody>
      </p:sp>
      <p:sp>
        <p:nvSpPr>
          <p:cNvPr id="8" name="Rectangle 7">
            <a:extLst>
              <a:ext uri="{FF2B5EF4-FFF2-40B4-BE49-F238E27FC236}">
                <a16:creationId xmlns:a16="http://schemas.microsoft.com/office/drawing/2014/main" id="{A2026805-BD31-4423-8EE3-C7E1FB5C1E0A}"/>
              </a:ext>
            </a:extLst>
          </p:cNvPr>
          <p:cNvSpPr>
            <a:spLocks noGrp="1"/>
          </p:cNvSpPr>
          <p:nvPr/>
        </p:nvSpPr>
        <p:spPr>
          <a:xfrm>
            <a:off x="609600" y="432435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Authorise resources</a:t>
            </a:r>
          </a:p>
        </p:txBody>
      </p:sp>
      <p:sp>
        <p:nvSpPr>
          <p:cNvPr id="9" name="Rectangle 8">
            <a:extLst>
              <a:ext uri="{FF2B5EF4-FFF2-40B4-BE49-F238E27FC236}">
                <a16:creationId xmlns:a16="http://schemas.microsoft.com/office/drawing/2014/main" id="{605D9CA4-305A-47AF-A724-456111141B2A}"/>
              </a:ext>
            </a:extLst>
          </p:cNvPr>
          <p:cNvSpPr>
            <a:spLocks noGrp="1"/>
          </p:cNvSpPr>
          <p:nvPr/>
        </p:nvSpPr>
        <p:spPr>
          <a:xfrm>
            <a:off x="4029075" y="432435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Confirm personnel, T-shirt and ID artwork, PPE, platform scope and the final commercial offer.</a:t>
            </a:r>
          </a:p>
        </p:txBody>
      </p:sp>
      <p:sp>
        <p:nvSpPr>
          <p:cNvPr id="10" name="Rectangle 9">
            <a:extLst>
              <a:ext uri="{FF2B5EF4-FFF2-40B4-BE49-F238E27FC236}">
                <a16:creationId xmlns:a16="http://schemas.microsoft.com/office/drawing/2014/main" id="{E126AC2A-882A-4740-BDEA-1BD9CC8916E5}"/>
              </a:ext>
            </a:extLst>
          </p:cNvPr>
          <p:cNvSpPr>
            <a:spLocks noGrp="1"/>
          </p:cNvSpPr>
          <p:nvPr/>
        </p:nvSpPr>
        <p:spPr>
          <a:xfrm>
            <a:off x="609600" y="5143500"/>
            <a:ext cx="3143250" cy="628650"/>
          </a:xfrm>
          <a:prstGeom prst="rect">
            <a:avLst/>
          </a:prstGeom>
          <a:noFill/>
          <a:ln w="0">
            <a:noFill/>
          </a:ln>
        </p:spPr>
        <p:txBody>
          <a:bodyPr>
            <a:noAutofit/>
          </a:bodyPr>
          <a:lstStyle/>
          <a:p>
            <a:pPr>
              <a:defRPr sz="1950" b="1">
                <a:solidFill>
                  <a:srgbClr val="FE5000"/>
                </a:solidFill>
                <a:latin typeface="DejaVu Sans"/>
                <a:ea typeface="DejaVu Sans"/>
                <a:cs typeface="DejaVu Sans"/>
              </a:defRPr>
            </a:pPr>
            <a:r>
              <a:rPr sz="1950" b="1">
                <a:solidFill>
                  <a:srgbClr val="FE5000"/>
                </a:solidFill>
                <a:latin typeface="DejaVu Sans"/>
                <a:ea typeface="DejaVu Sans"/>
                <a:cs typeface="DejaVu Sans"/>
              </a:rPr>
              <a:t>Release the pilot</a:t>
            </a:r>
          </a:p>
        </p:txBody>
      </p:sp>
      <p:sp>
        <p:nvSpPr>
          <p:cNvPr id="11" name="Rectangle 10">
            <a:extLst>
              <a:ext uri="{FF2B5EF4-FFF2-40B4-BE49-F238E27FC236}">
                <a16:creationId xmlns:a16="http://schemas.microsoft.com/office/drawing/2014/main" id="{C77C3500-839B-4E39-9467-A5E78B6474BC}"/>
              </a:ext>
            </a:extLst>
          </p:cNvPr>
          <p:cNvSpPr>
            <a:spLocks noGrp="1"/>
          </p:cNvSpPr>
          <p:nvPr/>
        </p:nvSpPr>
        <p:spPr>
          <a:xfrm>
            <a:off x="4029075" y="5143500"/>
            <a:ext cx="7505700" cy="723900"/>
          </a:xfrm>
          <a:prstGeom prst="rect">
            <a:avLst/>
          </a:prstGeom>
          <a:noFill/>
          <a:ln w="0">
            <a:noFill/>
          </a:ln>
        </p:spPr>
        <p:txBody>
          <a:bodyPr>
            <a:noAutofit/>
          </a:bodyPr>
          <a:lstStyle/>
          <a:p>
            <a:pPr>
              <a:defRPr sz="1800" b="0">
                <a:solidFill>
                  <a:srgbClr val="303030"/>
                </a:solidFill>
                <a:latin typeface="DejaVu Sans"/>
                <a:ea typeface="DejaVu Sans"/>
                <a:cs typeface="DejaVu Sans"/>
              </a:defRPr>
            </a:pPr>
            <a:r>
              <a:rPr sz="1800" b="0">
                <a:solidFill>
                  <a:srgbClr val="303030"/>
                </a:solidFill>
                <a:latin typeface="DejaVu Sans"/>
                <a:ea typeface="DejaVu Sans"/>
                <a:cs typeface="DejaVu Sans"/>
              </a:rPr>
              <a:t>Accept depot readiness, trained rosters and platform testing. Agree pilot dates and the rollout approval gate.</a:t>
            </a:r>
          </a:p>
        </p:txBody>
      </p:sp>
    </p:spTree>
    <p:extLst>
      <p:ext uri="{BB962C8B-B14F-4D97-AF65-F5344CB8AC3E}">
        <p14:creationId xmlns:p14="http://schemas.microsoft.com/office/powerpoint/2010/main" val="21263273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E5000"/>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2BD7D-E3D1-445A-8F90-CE57174DF07A}"/>
              </a:ext>
            </a:extLst>
          </p:cNvPr>
          <p:cNvSpPr>
            <a:spLocks noGrp="1"/>
          </p:cNvSpPr>
          <p:nvPr/>
        </p:nvSpPr>
        <p:spPr>
          <a:xfrm>
            <a:off x="609600" y="457200"/>
            <a:ext cx="7620000" cy="476250"/>
          </a:xfrm>
          <a:prstGeom prst="rect">
            <a:avLst/>
          </a:prstGeom>
          <a:noFill/>
          <a:ln w="0">
            <a:noFill/>
          </a:ln>
        </p:spPr>
        <p:txBody>
          <a:bodyPr>
            <a:noAutofit/>
          </a:bodyPr>
          <a:lstStyle/>
          <a:p>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GBfoods</a:t>
            </a:r>
          </a:p>
        </p:txBody>
      </p:sp>
      <p:sp>
        <p:nvSpPr>
          <p:cNvPr id="2" name="Rectangle 1">
            <a:extLst>
              <a:ext uri="{FF2B5EF4-FFF2-40B4-BE49-F238E27FC236}">
                <a16:creationId xmlns:a16="http://schemas.microsoft.com/office/drawing/2014/main" id="{AC3F9D54-B10D-4E77-8B79-764A6E8F01E3}"/>
              </a:ext>
            </a:extLst>
          </p:cNvPr>
          <p:cNvSpPr>
            <a:spLocks noGrp="1"/>
          </p:cNvSpPr>
          <p:nvPr/>
        </p:nvSpPr>
        <p:spPr>
          <a:xfrm>
            <a:off x="609600" y="1933575"/>
            <a:ext cx="10906125" cy="1771650"/>
          </a:xfrm>
          <a:prstGeom prst="rect">
            <a:avLst/>
          </a:prstGeom>
          <a:noFill/>
          <a:ln w="0">
            <a:noFill/>
          </a:ln>
        </p:spPr>
        <p:txBody>
          <a:bodyPr>
            <a:noAutofit/>
          </a:bodyPr>
          <a:lstStyle/>
          <a:p>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Every distributor covered.</a:t>
            </a:r>
          </a:p>
          <a:p>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Every stock decision recorded.</a:t>
            </a:r>
          </a:p>
        </p:txBody>
      </p:sp>
      <p:sp>
        <p:nvSpPr>
          <p:cNvPr id="3" name="Rectangle 2">
            <a:extLst>
              <a:ext uri="{FF2B5EF4-FFF2-40B4-BE49-F238E27FC236}">
                <a16:creationId xmlns:a16="http://schemas.microsoft.com/office/drawing/2014/main" id="{E941586D-CDFE-4FE2-986C-5BBA83EF5BBB}"/>
              </a:ext>
            </a:extLst>
          </p:cNvPr>
          <p:cNvSpPr>
            <a:spLocks noGrp="1"/>
          </p:cNvSpPr>
          <p:nvPr/>
        </p:nvSpPr>
        <p:spPr>
          <a:xfrm>
            <a:off x="609600" y="4114800"/>
            <a:ext cx="10477500" cy="1047750"/>
          </a:xfrm>
          <a:prstGeom prst="rect">
            <a:avLst/>
          </a:prstGeom>
          <a:noFill/>
          <a:ln w="0">
            <a:noFill/>
          </a:ln>
        </p:spPr>
        <p:txBody>
          <a:bodyPr>
            <a:noAutofit/>
          </a:bodyPr>
          <a:lstStyle/>
          <a:p>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A trained team. Clear supervision.</a:t>
            </a:r>
          </a:p>
          <a:p>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A verified handover.</a:t>
            </a:r>
          </a:p>
        </p:txBody>
      </p:sp>
      <p:sp>
        <p:nvSpPr>
          <p:cNvPr id="4" name="Rectangle 3">
            <a:extLst>
              <a:ext uri="{FF2B5EF4-FFF2-40B4-BE49-F238E27FC236}">
                <a16:creationId xmlns:a16="http://schemas.microsoft.com/office/drawing/2014/main" id="{737EB34B-CED9-4F93-B9DD-83F72284C5F5}"/>
              </a:ext>
            </a:extLst>
          </p:cNvPr>
          <p:cNvSpPr>
            <a:spLocks noGrp="1"/>
          </p:cNvSpPr>
          <p:nvPr/>
        </p:nvSpPr>
        <p:spPr>
          <a:xfrm>
            <a:off x="609600" y="5762625"/>
            <a:ext cx="5715000" cy="457200"/>
          </a:xfrm>
          <a:prstGeom prst="rect">
            <a:avLst/>
          </a:prstGeom>
          <a:noFill/>
          <a:ln w="0">
            <a:noFill/>
          </a:ln>
        </p:spPr>
        <p:txBody>
          <a:bodyPr>
            <a:noAutofit/>
          </a:bodyPr>
          <a:lstStyle/>
          <a:p>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Thank you</a:t>
            </a:r>
          </a:p>
        </p:txBody>
      </p:sp>
      <p:sp>
        <p:nvSpPr>
          <p:cNvPr id="5" name="Rectangle 4">
            <a:extLst>
              <a:ext uri="{FF2B5EF4-FFF2-40B4-BE49-F238E27FC236}">
                <a16:creationId xmlns:a16="http://schemas.microsoft.com/office/drawing/2014/main" id="{078AA137-28D9-4C84-9155-2F8EDA5C93DA}"/>
              </a:ext>
            </a:extLst>
          </p:cNvPr>
          <p:cNvSpPr>
            <a:spLocks noGrp="1"/>
          </p:cNvSpPr>
          <p:nvPr/>
        </p:nvSpPr>
        <p:spPr>
          <a:xfrm>
            <a:off x="9086850" y="6029325"/>
            <a:ext cx="2571750" cy="333375"/>
          </a:xfrm>
          <a:prstGeom prst="rect">
            <a:avLst/>
          </a:prstGeom>
          <a:noFill/>
          <a:ln w="0">
            <a:noFill/>
          </a:ln>
        </p:spPr>
        <p:txBody>
          <a:bodyPr>
            <a:noAutofit/>
          </a:bodyPr>
          <a:lstStyle/>
          <a:p>
            <a:pP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BTL AFRICA</a:t>
            </a:r>
          </a:p>
        </p:txBody>
      </p:sp>
    </p:spTree>
    <p:extLst>
      <p:ext uri="{BB962C8B-B14F-4D97-AF65-F5344CB8AC3E}">
        <p14:creationId xmlns:p14="http://schemas.microsoft.com/office/powerpoint/2010/main" val="155457587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6402</Words>
  <Application>Microsoft Office PowerPoint</Application>
  <DocSecurity>0</DocSecurity>
  <PresentationFormat>Widescreen</PresentationFormat>
  <Paragraphs>770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Gabriel Yankson</cp:lastModifiedBy>
  <cp:revision>2</cp:revision>
  <dcterms:created xsi:type="dcterms:W3CDTF">2026-09-28T17:52:31Z</dcterms:created>
  <dcterms:modified xsi:type="dcterms:W3CDTF">2026-10-06T12:55:42Z</dcterms:modified>
</cp:coreProperties>
</file>